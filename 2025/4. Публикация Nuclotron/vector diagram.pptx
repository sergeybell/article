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8" autoAdjust="0"/>
    <p:restoredTop sz="94660"/>
  </p:normalViewPr>
  <p:slideViewPr>
    <p:cSldViewPr snapToGrid="0">
      <p:cViewPr>
        <p:scale>
          <a:sx n="116" d="100"/>
          <a:sy n="116" d="100"/>
        </p:scale>
        <p:origin x="360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44ADF6-0E53-4AD1-A640-4880E659F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F65B99-CF75-4AFC-9585-7C1D933FE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B9A81D-C39E-4376-B396-0553F049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44FA9-5D69-46DD-BB4A-8A959C93BCF9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5975BB-32AB-4A15-9C63-AD638C46A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842A78-9CCD-4D6D-A93F-7F22B2139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E50-E92F-4186-8932-9130B4DF64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636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E09B91-FC30-4B60-A680-FB9F614F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59B22E-47FA-41D5-A3CB-F8E26B336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6121F0-8F03-4CFA-8273-E58717A1C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44FA9-5D69-46DD-BB4A-8A959C93BCF9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14F4DE-B972-47A8-9A1A-4E20CABB0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39215B-BE91-48FA-B878-B9F424BF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E50-E92F-4186-8932-9130B4DF64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314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4EDDA-9ECA-422C-A5A0-F84C99FB8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9AA06E-57B4-4797-88B9-03EF27CF1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5B05AB-8575-4AFC-9A6D-70640F4E8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44FA9-5D69-46DD-BB4A-8A959C93BCF9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B6DADB-53AB-4826-A0B6-CFE5B5EF6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132687-79EE-4315-BE7C-5B356423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E50-E92F-4186-8932-9130B4DF64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101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80F02-3D5A-410E-B6B1-357F46AA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7C103-EFB1-4EF0-913B-2379979D66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70A3F00-D90A-4BD3-95EE-A429CA603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8E643B-7895-4A7B-820B-724DEBD6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44FA9-5D69-46DD-BB4A-8A959C93BCF9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A6D3F1-5645-45DA-BC76-25E950167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2A8B5C-40C5-4D51-8EA2-77B2C7DD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E50-E92F-4186-8932-9130B4DF64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763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3D77F-865C-4EFC-B7C4-5F9CE083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630A1F-4D13-4EEA-8EF5-2DFBED56D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46BFE9-E7BE-4D36-AC95-1F2608D5E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A7BC841-F7CB-46D6-86FD-5D02010C6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7F2C4F0-9A51-4DA2-AEB9-5665124B2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4864722-5CA0-426A-BC2E-1DD91DF6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44FA9-5D69-46DD-BB4A-8A959C93BCF9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DF06CBF-1BA9-483B-947A-2333CADB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7F616D-7C20-4A92-857A-984BBC603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E50-E92F-4186-8932-9130B4DF64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0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8A8AA2-FC24-4DE7-94D7-BB74CD59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4FB7F1A-868D-46C2-81E6-48FAF643B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44FA9-5D69-46DD-BB4A-8A959C93BCF9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5FA967B-F8C3-44AA-B8B4-060539F8F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CD6A1C7-FA7E-427A-81E4-D7AE03CF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E50-E92F-4186-8932-9130B4DF64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03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883C453-89BC-4F6C-82D1-EC5FD09F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44FA9-5D69-46DD-BB4A-8A959C93BCF9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411A00B-C4A5-4D41-904C-CE9A7A28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B2A43C-0B7B-46EA-92D5-78F8A5749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E50-E92F-4186-8932-9130B4DF64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45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2CD6E4-19DC-4591-B63D-AD99BDDE0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DAB181-135A-47DD-801B-5EC3BF226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3AEAFB-691F-4DBA-85FB-2781A509E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A6AF7F-5137-4EC6-B83D-DA463D5B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44FA9-5D69-46DD-BB4A-8A959C93BCF9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DCE1CB-F386-4FF0-8468-088B58AA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8B6420-A064-42D2-AD8C-63D4A48E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E50-E92F-4186-8932-9130B4DF64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639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9C9201-B563-4A63-8DB7-AE29B9744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77BB2B7-B76F-4B1B-996F-631E9CB557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2CA05B-8554-4719-A1DB-5A2FAC03E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930789-4D8E-4EB2-A557-242CEF789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44FA9-5D69-46DD-BB4A-8A959C93BCF9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02D198-3E03-40A0-9CC8-B6FEC2410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783AF6-2DC2-46DC-85A7-FBCBC93B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E50-E92F-4186-8932-9130B4DF64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45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BDC5F2-D2C7-4147-8191-A66F0174F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C1811E-1014-498F-A744-DEDB5169F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84D3E7-EAF3-4478-B406-1EF6E371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44FA9-5D69-46DD-BB4A-8A959C93BCF9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8FE4CD-9E87-40E4-8543-F59896EB8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1DF92D-5017-4F35-942E-4B8BC285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E50-E92F-4186-8932-9130B4DF64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488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9A21985-4B11-4A72-A3A6-02F0248D5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AEA370-A5A2-4AD0-A94C-D9F2B16E9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5CB135-DE9A-4A25-AD10-3C85309A1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44FA9-5D69-46DD-BB4A-8A959C93BCF9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8F1849-FE69-4E4F-AA62-A320211AB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3722D2-4C4B-4027-A8BD-82648E398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EFE50-E92F-4186-8932-9130B4DF64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8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263592-2A26-4011-AD32-87E631EE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7A1EC6-7BBA-4BF1-92CC-67C736BC5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88FE85-D825-4A2B-8E59-807CFE983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44FA9-5D69-46DD-BB4A-8A959C93BCF9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8A7187-7175-43B0-896A-B4D7DF53B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31FE18-EA68-42AD-98EC-2EF4866CD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EFE50-E92F-4186-8932-9130B4DF64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926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5.png"/><Relationship Id="rId18" Type="http://schemas.openxmlformats.org/officeDocument/2006/relationships/image" Target="../media/image28.png"/><Relationship Id="rId3" Type="http://schemas.openxmlformats.org/officeDocument/2006/relationships/image" Target="../media/image3.png"/><Relationship Id="rId21" Type="http://schemas.openxmlformats.org/officeDocument/2006/relationships/image" Target="../media/image29.png"/><Relationship Id="rId7" Type="http://schemas.openxmlformats.org/officeDocument/2006/relationships/image" Target="../media/image23.png"/><Relationship Id="rId12" Type="http://schemas.openxmlformats.org/officeDocument/2006/relationships/image" Target="../media/image12.png"/><Relationship Id="rId17" Type="http://schemas.openxmlformats.org/officeDocument/2006/relationships/image" Target="../media/image27.png"/><Relationship Id="rId2" Type="http://schemas.openxmlformats.org/officeDocument/2006/relationships/image" Target="../media/image2.png"/><Relationship Id="rId16" Type="http://schemas.openxmlformats.org/officeDocument/2006/relationships/image" Target="../media/image2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3.png"/><Relationship Id="rId1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17" Type="http://schemas.openxmlformats.org/officeDocument/2006/relationships/image" Target="../media/image34.png"/><Relationship Id="rId2" Type="http://schemas.openxmlformats.org/officeDocument/2006/relationships/image" Target="../media/image2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32.png"/><Relationship Id="rId5" Type="http://schemas.openxmlformats.org/officeDocument/2006/relationships/image" Target="../media/image8.png"/><Relationship Id="rId15" Type="http://schemas.openxmlformats.org/officeDocument/2006/relationships/image" Target="../media/image19.png"/><Relationship Id="rId10" Type="http://schemas.openxmlformats.org/officeDocument/2006/relationships/image" Target="../media/image31.png"/><Relationship Id="rId19" Type="http://schemas.openxmlformats.org/officeDocument/2006/relationships/image" Target="../media/image36.png"/><Relationship Id="rId4" Type="http://schemas.openxmlformats.org/officeDocument/2006/relationships/image" Target="../media/image4.png"/><Relationship Id="rId9" Type="http://schemas.openxmlformats.org/officeDocument/2006/relationships/image" Target="../media/image30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F3CD0A-7A90-4407-B675-8A34009E5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208" y="402788"/>
            <a:ext cx="8835584" cy="605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61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Овал 136">
            <a:extLst>
              <a:ext uri="{FF2B5EF4-FFF2-40B4-BE49-F238E27FC236}">
                <a16:creationId xmlns:a16="http://schemas.microsoft.com/office/drawing/2014/main" id="{C44DB5ED-797E-CBD8-0120-92930BBE8E1F}"/>
              </a:ext>
            </a:extLst>
          </p:cNvPr>
          <p:cNvSpPr/>
          <p:nvPr/>
        </p:nvSpPr>
        <p:spPr>
          <a:xfrm>
            <a:off x="9491170" y="3588219"/>
            <a:ext cx="756315" cy="476528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39" name="Стрелка влево 138">
            <a:extLst>
              <a:ext uri="{FF2B5EF4-FFF2-40B4-BE49-F238E27FC236}">
                <a16:creationId xmlns:a16="http://schemas.microsoft.com/office/drawing/2014/main" id="{3DB23D82-F76E-A109-6134-FA0358BC1C2C}"/>
              </a:ext>
            </a:extLst>
          </p:cNvPr>
          <p:cNvSpPr/>
          <p:nvPr/>
        </p:nvSpPr>
        <p:spPr>
          <a:xfrm>
            <a:off x="9787032" y="3970344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1" name="Овал 110">
            <a:extLst>
              <a:ext uri="{FF2B5EF4-FFF2-40B4-BE49-F238E27FC236}">
                <a16:creationId xmlns:a16="http://schemas.microsoft.com/office/drawing/2014/main" id="{44DF3FE7-1BA0-7FC3-7FD9-779100D5C321}"/>
              </a:ext>
            </a:extLst>
          </p:cNvPr>
          <p:cNvSpPr/>
          <p:nvPr/>
        </p:nvSpPr>
        <p:spPr>
          <a:xfrm>
            <a:off x="9496297" y="1457362"/>
            <a:ext cx="756315" cy="476528"/>
          </a:xfrm>
          <a:prstGeom prst="ellips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75" name="Овал 74">
            <a:extLst>
              <a:ext uri="{FF2B5EF4-FFF2-40B4-BE49-F238E27FC236}">
                <a16:creationId xmlns:a16="http://schemas.microsoft.com/office/drawing/2014/main" id="{04841FF1-0D28-4367-FAD2-C1E002EDDBB9}"/>
              </a:ext>
            </a:extLst>
          </p:cNvPr>
          <p:cNvSpPr/>
          <p:nvPr/>
        </p:nvSpPr>
        <p:spPr>
          <a:xfrm>
            <a:off x="4856016" y="998874"/>
            <a:ext cx="756315" cy="476528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4" name="Дуга 3">
            <a:extLst>
              <a:ext uri="{FF2B5EF4-FFF2-40B4-BE49-F238E27FC236}">
                <a16:creationId xmlns:a16="http://schemas.microsoft.com/office/drawing/2014/main" id="{E0C99048-B24C-080F-E6DE-909F414C59C8}"/>
              </a:ext>
            </a:extLst>
          </p:cNvPr>
          <p:cNvSpPr/>
          <p:nvPr/>
        </p:nvSpPr>
        <p:spPr>
          <a:xfrm>
            <a:off x="4105098" y="2081515"/>
            <a:ext cx="5730949" cy="3242931"/>
          </a:xfrm>
          <a:prstGeom prst="arc">
            <a:avLst>
              <a:gd name="adj1" fmla="val 8502905"/>
              <a:gd name="adj2" fmla="val 19835417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280F3B0-0AB8-6DFB-7965-16B7792F34CF}"/>
              </a:ext>
            </a:extLst>
          </p:cNvPr>
          <p:cNvCxnSpPr>
            <a:cxnSpLocks/>
          </p:cNvCxnSpPr>
          <p:nvPr/>
        </p:nvCxnSpPr>
        <p:spPr>
          <a:xfrm flipH="1" flipV="1">
            <a:off x="5234175" y="4663708"/>
            <a:ext cx="520995" cy="3296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042D8D46-FBDA-6584-9232-F55EEAD60093}"/>
              </a:ext>
            </a:extLst>
          </p:cNvPr>
          <p:cNvCxnSpPr>
            <a:cxnSpLocks/>
          </p:cNvCxnSpPr>
          <p:nvPr/>
        </p:nvCxnSpPr>
        <p:spPr>
          <a:xfrm flipH="1" flipV="1">
            <a:off x="5074517" y="4663708"/>
            <a:ext cx="520995" cy="3296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вал 8">
            <a:extLst>
              <a:ext uri="{FF2B5EF4-FFF2-40B4-BE49-F238E27FC236}">
                <a16:creationId xmlns:a16="http://schemas.microsoft.com/office/drawing/2014/main" id="{D55146F4-0F7A-C64E-1B7E-872D5A08F211}"/>
              </a:ext>
            </a:extLst>
          </p:cNvPr>
          <p:cNvSpPr/>
          <p:nvPr/>
        </p:nvSpPr>
        <p:spPr>
          <a:xfrm>
            <a:off x="5170380" y="2354780"/>
            <a:ext cx="12759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77BC37-2316-3086-E82C-C2EE1AE55F3C}"/>
              </a:ext>
            </a:extLst>
          </p:cNvPr>
          <p:cNvSpPr txBox="1"/>
          <p:nvPr/>
        </p:nvSpPr>
        <p:spPr>
          <a:xfrm>
            <a:off x="3795939" y="2742218"/>
            <a:ext cx="469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arc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342691-6C1E-0229-343F-03D64DFC6908}"/>
              </a:ext>
            </a:extLst>
          </p:cNvPr>
          <p:cNvSpPr txBox="1"/>
          <p:nvPr/>
        </p:nvSpPr>
        <p:spPr>
          <a:xfrm>
            <a:off x="98726" y="685097"/>
            <a:ext cx="82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Orbital</a:t>
            </a:r>
            <a:endParaRPr lang="ru-RU" u="sn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1F2E67-8CEC-4D58-D09F-FC8C9311C63A}"/>
              </a:ext>
            </a:extLst>
          </p:cNvPr>
          <p:cNvSpPr txBox="1"/>
          <p:nvPr/>
        </p:nvSpPr>
        <p:spPr>
          <a:xfrm>
            <a:off x="116289" y="2157726"/>
            <a:ext cx="1984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Spin MDM rotation</a:t>
            </a:r>
            <a:endParaRPr lang="ru-RU" u="s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9F356F-5D7C-B760-DF13-583FFB4EB0BF}"/>
              </a:ext>
            </a:extLst>
          </p:cNvPr>
          <p:cNvSpPr txBox="1"/>
          <p:nvPr/>
        </p:nvSpPr>
        <p:spPr>
          <a:xfrm>
            <a:off x="68855" y="3967233"/>
            <a:ext cx="136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Relative spin</a:t>
            </a:r>
            <a:endParaRPr lang="ru-RU" u="sng" dirty="0"/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E330137F-DB05-B69B-1F93-D3446E03E1DE}"/>
              </a:ext>
            </a:extLst>
          </p:cNvPr>
          <p:cNvCxnSpPr>
            <a:cxnSpLocks/>
          </p:cNvCxnSpPr>
          <p:nvPr/>
        </p:nvCxnSpPr>
        <p:spPr>
          <a:xfrm>
            <a:off x="8920168" y="2510195"/>
            <a:ext cx="1615010" cy="936907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CB85CF97-865A-F3A7-6F53-E94AD1757FD6}"/>
              </a:ext>
            </a:extLst>
          </p:cNvPr>
          <p:cNvCxnSpPr>
            <a:cxnSpLocks/>
          </p:cNvCxnSpPr>
          <p:nvPr/>
        </p:nvCxnSpPr>
        <p:spPr>
          <a:xfrm>
            <a:off x="8851249" y="2367936"/>
            <a:ext cx="562668" cy="3256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EF2B3E9A-76AF-47AC-E418-49330F662313}"/>
              </a:ext>
            </a:extLst>
          </p:cNvPr>
          <p:cNvCxnSpPr>
            <a:cxnSpLocks/>
          </p:cNvCxnSpPr>
          <p:nvPr/>
        </p:nvCxnSpPr>
        <p:spPr>
          <a:xfrm>
            <a:off x="8864510" y="2367936"/>
            <a:ext cx="631787" cy="1143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0C118E9-D973-9DFC-232E-DB0779598C8B}"/>
                  </a:ext>
                </a:extLst>
              </p:cNvPr>
              <p:cNvSpPr txBox="1"/>
              <p:nvPr/>
            </p:nvSpPr>
            <p:spPr>
              <a:xfrm>
                <a:off x="4660744" y="1663306"/>
                <a:ext cx="637226" cy="4029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arc</m:t>
                          </m:r>
                        </m:sub>
                      </m:sSub>
                    </m:oMath>
                  </m:oMathPara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0C118E9-D973-9DFC-232E-DB0779598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744" y="1663306"/>
                <a:ext cx="637226" cy="4029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DB03F96B-5B4F-1C53-E1BC-E033A8CC8D28}"/>
              </a:ext>
            </a:extLst>
          </p:cNvPr>
          <p:cNvCxnSpPr>
            <a:cxnSpLocks/>
          </p:cNvCxnSpPr>
          <p:nvPr/>
        </p:nvCxnSpPr>
        <p:spPr>
          <a:xfrm flipV="1">
            <a:off x="5297970" y="2119705"/>
            <a:ext cx="475266" cy="2641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2774B656-1053-9E7C-A047-CA05E904F5D9}"/>
              </a:ext>
            </a:extLst>
          </p:cNvPr>
          <p:cNvCxnSpPr>
            <a:cxnSpLocks/>
          </p:cNvCxnSpPr>
          <p:nvPr/>
        </p:nvCxnSpPr>
        <p:spPr>
          <a:xfrm>
            <a:off x="5297970" y="2462264"/>
            <a:ext cx="799607" cy="4723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B8FA156-B95B-D061-86A5-AFBEC31A32CD}"/>
                  </a:ext>
                </a:extLst>
              </p:cNvPr>
              <p:cNvSpPr txBox="1"/>
              <p:nvPr/>
            </p:nvSpPr>
            <p:spPr>
              <a:xfrm>
                <a:off x="5454171" y="1811592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B8FA156-B95B-D061-86A5-AFBEC31A3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171" y="1811592"/>
                <a:ext cx="368626" cy="369332"/>
              </a:xfrm>
              <a:prstGeom prst="rect">
                <a:avLst/>
              </a:prstGeom>
              <a:blipFill>
                <a:blip r:embed="rId3"/>
                <a:stretch>
                  <a:fillRect t="-10000"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9F3E5AC-A70D-2A6E-480A-E1EACA63AF62}"/>
                  </a:ext>
                </a:extLst>
              </p:cNvPr>
              <p:cNvSpPr txBox="1"/>
              <p:nvPr/>
            </p:nvSpPr>
            <p:spPr>
              <a:xfrm>
                <a:off x="5773236" y="126785"/>
                <a:ext cx="2177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u="sng" dirty="0"/>
                  <a:t>Deuteron case</a:t>
                </a:r>
                <a:r>
                  <a:rPr lang="en-US" u="sng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9F3E5AC-A70D-2A6E-480A-E1EACA63A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236" y="126785"/>
                <a:ext cx="2177584" cy="369332"/>
              </a:xfrm>
              <a:prstGeom prst="rect">
                <a:avLst/>
              </a:prstGeom>
              <a:blipFill>
                <a:blip r:embed="rId4"/>
                <a:stretch>
                  <a:fillRect l="-2326" t="-10345" b="-310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0D5126DB-C678-1210-0782-C65933ED0E65}"/>
              </a:ext>
            </a:extLst>
          </p:cNvPr>
          <p:cNvSpPr txBox="1"/>
          <p:nvPr/>
        </p:nvSpPr>
        <p:spPr>
          <a:xfrm>
            <a:off x="98726" y="261449"/>
            <a:ext cx="1905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 equations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8CA3B8F-5FCD-24B4-D50F-E74CFD0E728E}"/>
                  </a:ext>
                </a:extLst>
              </p:cNvPr>
              <p:cNvSpPr txBox="1"/>
              <p:nvPr/>
            </p:nvSpPr>
            <p:spPr>
              <a:xfrm>
                <a:off x="98726" y="1595146"/>
                <a:ext cx="1368769" cy="495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ru-RU" sz="1400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  <m:sSub>
                        <m:sSub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ru-RU" sz="1400" i="0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8CA3B8F-5FCD-24B4-D50F-E74CFD0E7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6" y="1595146"/>
                <a:ext cx="1368769" cy="4950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8675570-9101-FD7E-A506-058506C917F7}"/>
                  </a:ext>
                </a:extLst>
              </p:cNvPr>
              <p:cNvSpPr txBox="1"/>
              <p:nvPr/>
            </p:nvSpPr>
            <p:spPr>
              <a:xfrm>
                <a:off x="98727" y="1160601"/>
                <a:ext cx="1129618" cy="356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ru-RU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140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ru-RU" sz="1400" i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ru-RU" sz="1400" i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ru-RU" sz="140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8675570-9101-FD7E-A506-058506C91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7" y="1160601"/>
                <a:ext cx="1129618" cy="356893"/>
              </a:xfrm>
              <a:prstGeom prst="rect">
                <a:avLst/>
              </a:prstGeom>
              <a:blipFill>
                <a:blip r:embed="rId6"/>
                <a:stretch>
                  <a:fillRect t="-3448" b="-68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DF9AE6C-AA4F-3B76-7AE5-9F8F253EDB5F}"/>
                  </a:ext>
                </a:extLst>
              </p:cNvPr>
              <p:cNvSpPr txBox="1"/>
              <p:nvPr/>
            </p:nvSpPr>
            <p:spPr>
              <a:xfrm>
                <a:off x="98726" y="4430298"/>
                <a:ext cx="2702410" cy="495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  <m:sub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ru-RU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0" smtClean="0">
                              <a:latin typeface="Cambria Math" panose="02040503050406030204" pitchFamily="18" charset="0"/>
                            </a:rPr>
                            <m:t>MDM</m:t>
                          </m:r>
                        </m:sub>
                        <m:sup>
                          <m:sSub>
                            <m:sSub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1400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sz="1400" i="1"/>
                          </m:ctrlPr>
                        </m:fPr>
                        <m:num>
                          <m:r>
                            <a:rPr lang="en-US" sz="1400" i="1"/>
                            <m:t>𝑞</m:t>
                          </m:r>
                        </m:num>
                        <m:den>
                          <m:r>
                            <a:rPr lang="en-US" sz="1400" i="1"/>
                            <m:t>𝑚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  <m:sSub>
                        <m:sSubPr>
                          <m:ctrlPr>
                            <a:rPr lang="ru-RU" sz="1400" i="1"/>
                          </m:ctrlPr>
                        </m:sSub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400" i="1"/>
                            <m:t>𝐺</m:t>
                          </m:r>
                          <m:acc>
                            <m:accPr>
                              <m:chr m:val="⃗"/>
                              <m:ctrlPr>
                                <a:rPr lang="ru-RU" sz="1400" i="1"/>
                              </m:ctrlPr>
                            </m:accPr>
                            <m:e>
                              <m:r>
                                <a:rPr lang="en-US" sz="1400" i="1"/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1400" i="1"/>
                            <m:t>⊥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DF9AE6C-AA4F-3B76-7AE5-9F8F253ED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6" y="4430298"/>
                <a:ext cx="2702410" cy="4950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8084E06-5B07-919C-E253-CEE5FCC703F4}"/>
                  </a:ext>
                </a:extLst>
              </p:cNvPr>
              <p:cNvSpPr txBox="1"/>
              <p:nvPr/>
            </p:nvSpPr>
            <p:spPr>
              <a:xfrm>
                <a:off x="5177182" y="4291022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8084E06-5B07-919C-E253-CEE5FCC70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182" y="4291022"/>
                <a:ext cx="368626" cy="369332"/>
              </a:xfrm>
              <a:prstGeom prst="rect">
                <a:avLst/>
              </a:prstGeom>
              <a:blipFill>
                <a:blip r:embed="rId8"/>
                <a:stretch>
                  <a:fillRect t="-10000"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3D68931-C8C1-4DC1-0E98-8B43749411DF}"/>
                  </a:ext>
                </a:extLst>
              </p:cNvPr>
              <p:cNvSpPr txBox="1"/>
              <p:nvPr/>
            </p:nvSpPr>
            <p:spPr>
              <a:xfrm>
                <a:off x="5050820" y="4339532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3D68931-C8C1-4DC1-0E98-8B4374941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820" y="4339532"/>
                <a:ext cx="274434" cy="369332"/>
              </a:xfrm>
              <a:prstGeom prst="rect">
                <a:avLst/>
              </a:prstGeom>
              <a:blipFill>
                <a:blip r:embed="rId9"/>
                <a:stretch>
                  <a:fillRect t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A18A811-CA72-31DD-E173-0552B4C2B99F}"/>
                  </a:ext>
                </a:extLst>
              </p:cNvPr>
              <p:cNvSpPr txBox="1"/>
              <p:nvPr/>
            </p:nvSpPr>
            <p:spPr>
              <a:xfrm>
                <a:off x="9320089" y="2465389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A18A811-CA72-31DD-E173-0552B4C2B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0089" y="2465389"/>
                <a:ext cx="368626" cy="369332"/>
              </a:xfrm>
              <a:prstGeom prst="rect">
                <a:avLst/>
              </a:prstGeom>
              <a:blipFill>
                <a:blip r:embed="rId10"/>
                <a:stretch>
                  <a:fillRect t="-9677" b="-6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4A6C8DE-4BEC-AFC3-46B8-D1D4C8A19CBA}"/>
                  </a:ext>
                </a:extLst>
              </p:cNvPr>
              <p:cNvSpPr txBox="1"/>
              <p:nvPr/>
            </p:nvSpPr>
            <p:spPr>
              <a:xfrm>
                <a:off x="9362538" y="2134070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4A6C8DE-4BEC-AFC3-46B8-D1D4C8A19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538" y="2134070"/>
                <a:ext cx="274434" cy="369332"/>
              </a:xfrm>
              <a:prstGeom prst="rect">
                <a:avLst/>
              </a:prstGeom>
              <a:blipFill>
                <a:blip r:embed="rId11"/>
                <a:stretch>
                  <a:fillRect t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Прямая со стрелкой 70">
            <a:extLst>
              <a:ext uri="{FF2B5EF4-FFF2-40B4-BE49-F238E27FC236}">
                <a16:creationId xmlns:a16="http://schemas.microsoft.com/office/drawing/2014/main" id="{EA7524DF-8F44-3DCC-7F74-A02B837E09E3}"/>
              </a:ext>
            </a:extLst>
          </p:cNvPr>
          <p:cNvCxnSpPr>
            <a:cxnSpLocks/>
          </p:cNvCxnSpPr>
          <p:nvPr/>
        </p:nvCxnSpPr>
        <p:spPr>
          <a:xfrm flipV="1">
            <a:off x="5234174" y="1185734"/>
            <a:ext cx="0" cy="11690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>
            <a:extLst>
              <a:ext uri="{FF2B5EF4-FFF2-40B4-BE49-F238E27FC236}">
                <a16:creationId xmlns:a16="http://schemas.microsoft.com/office/drawing/2014/main" id="{2FC69F91-5A92-DFA7-6574-A86954D8F024}"/>
              </a:ext>
            </a:extLst>
          </p:cNvPr>
          <p:cNvCxnSpPr>
            <a:cxnSpLocks/>
          </p:cNvCxnSpPr>
          <p:nvPr/>
        </p:nvCxnSpPr>
        <p:spPr>
          <a:xfrm>
            <a:off x="5234174" y="2510195"/>
            <a:ext cx="1" cy="7151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E5680DC-C7AE-24C7-137D-B2650CAAFA5C}"/>
                  </a:ext>
                </a:extLst>
              </p:cNvPr>
              <p:cNvSpPr txBox="1"/>
              <p:nvPr/>
            </p:nvSpPr>
            <p:spPr>
              <a:xfrm>
                <a:off x="5227409" y="2792797"/>
                <a:ext cx="350355" cy="432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a:rPr lang="ru-R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ru-R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</m:oMath>
                  </m:oMathPara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E5680DC-C7AE-24C7-137D-B2650CAA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409" y="2792797"/>
                <a:ext cx="350355" cy="432554"/>
              </a:xfrm>
              <a:prstGeom prst="rect">
                <a:avLst/>
              </a:prstGeom>
              <a:blipFill>
                <a:blip r:embed="rId12"/>
                <a:stretch>
                  <a:fillRect r="-17241" b="-2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93128B1-FB06-2C7F-9124-589AACF5A227}"/>
                  </a:ext>
                </a:extLst>
              </p:cNvPr>
              <p:cNvSpPr txBox="1"/>
              <p:nvPr/>
            </p:nvSpPr>
            <p:spPr>
              <a:xfrm>
                <a:off x="5050820" y="581449"/>
                <a:ext cx="4227420" cy="409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ru-RU" sz="1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ru-RU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1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ru-RU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ru-RU" sz="1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en-US" sz="1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  <m:sSub>
                      <m:sSub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𝐺</m:t>
                        </m:r>
                        <m:acc>
                          <m:accPr>
                            <m:chr m:val="⃗"/>
                            <m:ctrlPr>
                              <a:rPr lang="ru-RU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  <m:sSub>
                      <m:sSub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40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d>
                        <m:acc>
                          <m:accPr>
                            <m:chr m:val="⃗"/>
                            <m:ctrlPr>
                              <a:rPr lang="ru-RU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  <m:sSub>
                      <m:sSub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40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d>
                        <m:acc>
                          <m:accPr>
                            <m:chr m:val="⃗"/>
                            <m:ctrlPr>
                              <a:rPr lang="ru-RU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endParaRPr lang="ru-RU" sz="140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93128B1-FB06-2C7F-9124-589AACF5A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820" y="581449"/>
                <a:ext cx="4227420" cy="40972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1EF1ECA1-9422-A84D-9166-B25B433D798A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234175" y="1714603"/>
            <a:ext cx="0" cy="6401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Стрелка влево 91">
            <a:extLst>
              <a:ext uri="{FF2B5EF4-FFF2-40B4-BE49-F238E27FC236}">
                <a16:creationId xmlns:a16="http://schemas.microsoft.com/office/drawing/2014/main" id="{3B6178BE-8BF8-DAE4-87D9-3F951DAEEE7A}"/>
              </a:ext>
            </a:extLst>
          </p:cNvPr>
          <p:cNvSpPr/>
          <p:nvPr/>
        </p:nvSpPr>
        <p:spPr>
          <a:xfrm rot="10800000">
            <a:off x="5151879" y="1383474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Стрелка влево 92">
            <a:extLst>
              <a:ext uri="{FF2B5EF4-FFF2-40B4-BE49-F238E27FC236}">
                <a16:creationId xmlns:a16="http://schemas.microsoft.com/office/drawing/2014/main" id="{F35FB927-98A4-F4A9-F03E-73338C9C7508}"/>
              </a:ext>
            </a:extLst>
          </p:cNvPr>
          <p:cNvSpPr/>
          <p:nvPr/>
        </p:nvSpPr>
        <p:spPr>
          <a:xfrm>
            <a:off x="5151879" y="918649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EC55BAD-6D69-5E20-96CC-6B809FA58337}"/>
                  </a:ext>
                </a:extLst>
              </p:cNvPr>
              <p:cNvSpPr txBox="1"/>
              <p:nvPr/>
            </p:nvSpPr>
            <p:spPr>
              <a:xfrm>
                <a:off x="98726" y="2626168"/>
                <a:ext cx="2168042" cy="552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ru-RU" sz="1400" i="0"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ru-RU" sz="14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sz="1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1400" i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𝑀𝐷𝑀</m:t>
                              </m:r>
                            </m:sub>
                          </m:sSub>
                          <m:r>
                            <a:rPr lang="ru-RU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1400" i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𝐸𝐷𝑀</m:t>
                              </m:r>
                            </m:sub>
                          </m:sSub>
                        </m:e>
                      </m:d>
                      <m:r>
                        <a:rPr lang="ru-RU" sz="1400" i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ru-RU" sz="140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EC55BAD-6D69-5E20-96CC-6B809FA58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6" y="2626168"/>
                <a:ext cx="2168042" cy="552844"/>
              </a:xfrm>
              <a:prstGeom prst="rect">
                <a:avLst/>
              </a:prstGeom>
              <a:blipFill>
                <a:blip r:embed="rId14"/>
                <a:stretch>
                  <a:fillRect t="-4444" b="-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E1C3E5E-DC79-2C42-E539-BF784F8C76CA}"/>
                  </a:ext>
                </a:extLst>
              </p:cNvPr>
              <p:cNvSpPr txBox="1"/>
              <p:nvPr/>
            </p:nvSpPr>
            <p:spPr>
              <a:xfrm>
                <a:off x="102080" y="3216536"/>
                <a:ext cx="3994535" cy="6510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ru-RU" sz="1400" i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ru-RU" sz="1400" i="0">
                              <a:latin typeface="Cambria Math" panose="02040503050406030204" pitchFamily="18" charset="0"/>
                            </a:rPr>
                            <m:t>MDM</m:t>
                          </m:r>
                        </m:sub>
                      </m:sSub>
                      <m:r>
                        <a:rPr lang="ru-RU" sz="1400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b>
                            <m:sSub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  <m:r>
                            <a:rPr lang="ru-RU" sz="1400" i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num>
                                <m:den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ru-RU" sz="1400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  <m:f>
                            <m:f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E1C3E5E-DC79-2C42-E539-BF784F8C7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0" y="3216536"/>
                <a:ext cx="3994535" cy="651076"/>
              </a:xfrm>
              <a:prstGeom prst="rect">
                <a:avLst/>
              </a:prstGeom>
              <a:blipFill>
                <a:blip r:embed="rId15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Прямая со стрелкой 99">
            <a:extLst>
              <a:ext uri="{FF2B5EF4-FFF2-40B4-BE49-F238E27FC236}">
                <a16:creationId xmlns:a16="http://schemas.microsoft.com/office/drawing/2014/main" id="{D2435B49-9BE2-F513-4B52-C5763FC6E262}"/>
              </a:ext>
            </a:extLst>
          </p:cNvPr>
          <p:cNvCxnSpPr>
            <a:cxnSpLocks/>
          </p:cNvCxnSpPr>
          <p:nvPr/>
        </p:nvCxnSpPr>
        <p:spPr>
          <a:xfrm flipV="1">
            <a:off x="9859199" y="2600855"/>
            <a:ext cx="675979" cy="47664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 стрелкой 102">
            <a:extLst>
              <a:ext uri="{FF2B5EF4-FFF2-40B4-BE49-F238E27FC236}">
                <a16:creationId xmlns:a16="http://schemas.microsoft.com/office/drawing/2014/main" id="{BC86000B-5495-E3FC-C0EC-1F954D1A73ED}"/>
              </a:ext>
            </a:extLst>
          </p:cNvPr>
          <p:cNvCxnSpPr>
            <a:cxnSpLocks/>
          </p:cNvCxnSpPr>
          <p:nvPr/>
        </p:nvCxnSpPr>
        <p:spPr>
          <a:xfrm flipV="1">
            <a:off x="9878979" y="1663306"/>
            <a:ext cx="3778" cy="1401758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BAE92E2F-9430-4368-8EAC-7C94F8766AD3}"/>
                  </a:ext>
                </a:extLst>
              </p:cNvPr>
              <p:cNvSpPr txBox="1"/>
              <p:nvPr/>
            </p:nvSpPr>
            <p:spPr>
              <a:xfrm>
                <a:off x="10557844" y="2260798"/>
                <a:ext cx="336331" cy="402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sz="18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1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BAE92E2F-9430-4368-8EAC-7C94F8766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7844" y="2260798"/>
                <a:ext cx="336331" cy="4029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51ADFB1-AD21-E027-71E6-B0168F4783CD}"/>
                  </a:ext>
                </a:extLst>
              </p:cNvPr>
              <p:cNvSpPr txBox="1"/>
              <p:nvPr/>
            </p:nvSpPr>
            <p:spPr>
              <a:xfrm>
                <a:off x="9569470" y="927294"/>
                <a:ext cx="2622530" cy="485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ru-RU" sz="14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ru-RU" sz="1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40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MDM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</m:oMath>
                </a14:m>
                <a:r>
                  <a:rPr lang="en-US" sz="1400" dirty="0"/>
                  <a:t>=</a:t>
                </a:r>
                <a:r>
                  <a:rPr lang="ru-RU" sz="1400" dirty="0"/>
                  <a:t> </a:t>
                </a:r>
                <a14:m>
                  <m:oMath xmlns:m="http://schemas.openxmlformats.org/officeDocument/2006/math">
                    <m:r>
                      <a:rPr lang="ru-RU" sz="14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r>
                  <a:rPr lang="ru-RU" sz="1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40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ru-RU" sz="1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ru-RU" sz="1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sz="1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num>
                              <m:den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ru-RU" sz="140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den>
                            </m:f>
                          </m:e>
                        </m:d>
                        <m:f>
                          <m:fPr>
                            <m:ctrlPr>
                              <a:rPr lang="ru-RU" sz="1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ru-RU" sz="1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  <m:r>
                              <a:rPr lang="ru-RU" sz="1400">
                                <a:latin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ru-RU" sz="1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num>
                          <m:den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endParaRPr lang="ru-RU" sz="1400" dirty="0"/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51ADFB1-AD21-E027-71E6-B0168F478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470" y="927294"/>
                <a:ext cx="2622530" cy="48558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Стрелка влево 111">
            <a:extLst>
              <a:ext uri="{FF2B5EF4-FFF2-40B4-BE49-F238E27FC236}">
                <a16:creationId xmlns:a16="http://schemas.microsoft.com/office/drawing/2014/main" id="{AD19E8C2-9CC6-9288-B8FD-DE993B712B3E}"/>
              </a:ext>
            </a:extLst>
          </p:cNvPr>
          <p:cNvSpPr/>
          <p:nvPr/>
        </p:nvSpPr>
        <p:spPr>
          <a:xfrm>
            <a:off x="9792159" y="1380460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Стрелка влево 112">
            <a:extLst>
              <a:ext uri="{FF2B5EF4-FFF2-40B4-BE49-F238E27FC236}">
                <a16:creationId xmlns:a16="http://schemas.microsoft.com/office/drawing/2014/main" id="{82411927-416F-22EC-D984-DA1A73588175}"/>
              </a:ext>
            </a:extLst>
          </p:cNvPr>
          <p:cNvSpPr/>
          <p:nvPr/>
        </p:nvSpPr>
        <p:spPr>
          <a:xfrm rot="10800000">
            <a:off x="9792159" y="1839487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4" name="Прямая со стрелкой 113">
            <a:extLst>
              <a:ext uri="{FF2B5EF4-FFF2-40B4-BE49-F238E27FC236}">
                <a16:creationId xmlns:a16="http://schemas.microsoft.com/office/drawing/2014/main" id="{4B9555FA-0995-FEAC-7D8A-01CDF1AF7061}"/>
              </a:ext>
            </a:extLst>
          </p:cNvPr>
          <p:cNvCxnSpPr>
            <a:cxnSpLocks/>
          </p:cNvCxnSpPr>
          <p:nvPr/>
        </p:nvCxnSpPr>
        <p:spPr>
          <a:xfrm flipV="1">
            <a:off x="9878979" y="2447289"/>
            <a:ext cx="0" cy="6401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FC6057E-E686-9509-54E8-A68A982274CF}"/>
                  </a:ext>
                </a:extLst>
              </p:cNvPr>
              <p:cNvSpPr txBox="1"/>
              <p:nvPr/>
            </p:nvSpPr>
            <p:spPr>
              <a:xfrm>
                <a:off x="9826937" y="2197924"/>
                <a:ext cx="661236" cy="402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WF</m:t>
                          </m:r>
                        </m:sub>
                      </m:sSub>
                    </m:oMath>
                  </m:oMathPara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FC6057E-E686-9509-54E8-A68A98227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937" y="2197924"/>
                <a:ext cx="661236" cy="40293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Прямая со стрелкой 116">
            <a:extLst>
              <a:ext uri="{FF2B5EF4-FFF2-40B4-BE49-F238E27FC236}">
                <a16:creationId xmlns:a16="http://schemas.microsoft.com/office/drawing/2014/main" id="{80E23332-E713-E7A6-223A-361997CDB899}"/>
              </a:ext>
            </a:extLst>
          </p:cNvPr>
          <p:cNvCxnSpPr>
            <a:cxnSpLocks/>
          </p:cNvCxnSpPr>
          <p:nvPr/>
        </p:nvCxnSpPr>
        <p:spPr>
          <a:xfrm>
            <a:off x="10526573" y="3345348"/>
            <a:ext cx="526494" cy="3281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 стрелкой 122">
            <a:extLst>
              <a:ext uri="{FF2B5EF4-FFF2-40B4-BE49-F238E27FC236}">
                <a16:creationId xmlns:a16="http://schemas.microsoft.com/office/drawing/2014/main" id="{B28BFEE3-8753-C157-8BCB-9818ADB05172}"/>
              </a:ext>
            </a:extLst>
          </p:cNvPr>
          <p:cNvCxnSpPr>
            <a:cxnSpLocks/>
          </p:cNvCxnSpPr>
          <p:nvPr/>
        </p:nvCxnSpPr>
        <p:spPr>
          <a:xfrm>
            <a:off x="10553324" y="3248228"/>
            <a:ext cx="530460" cy="3315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78E40581-3E62-A881-0271-1B79267047BD}"/>
                  </a:ext>
                </a:extLst>
              </p:cNvPr>
              <p:cNvSpPr txBox="1"/>
              <p:nvPr/>
            </p:nvSpPr>
            <p:spPr>
              <a:xfrm>
                <a:off x="10658924" y="3541607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78E40581-3E62-A881-0271-1B792670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8924" y="3541607"/>
                <a:ext cx="368626" cy="369332"/>
              </a:xfrm>
              <a:prstGeom prst="rect">
                <a:avLst/>
              </a:prstGeom>
              <a:blipFill>
                <a:blip r:embed="rId19"/>
                <a:stretch>
                  <a:fillRect t="-9677" b="-6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F2FC3379-A7BF-F63B-E211-C77D486ACD75}"/>
                  </a:ext>
                </a:extLst>
              </p:cNvPr>
              <p:cNvSpPr txBox="1"/>
              <p:nvPr/>
            </p:nvSpPr>
            <p:spPr>
              <a:xfrm>
                <a:off x="11027550" y="3304188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F2FC3379-A7BF-F63B-E211-C77D486AC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7550" y="3304188"/>
                <a:ext cx="274434" cy="369332"/>
              </a:xfrm>
              <a:prstGeom prst="rect">
                <a:avLst/>
              </a:prstGeom>
              <a:blipFill>
                <a:blip r:embed="rId20"/>
                <a:stretch>
                  <a:fillRect t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4664160-FA4C-D2BC-953C-AF53D20E68C3}"/>
                  </a:ext>
                </a:extLst>
              </p:cNvPr>
              <p:cNvSpPr txBox="1"/>
              <p:nvPr/>
            </p:nvSpPr>
            <p:spPr>
              <a:xfrm>
                <a:off x="9688715" y="4132243"/>
                <a:ext cx="2638697" cy="404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ru-RU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ru-RU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40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MDM</m:t>
                        </m:r>
                      </m:sub>
                      <m:sup>
                        <m:sSub>
                          <m:sSubPr>
                            <m:ctrlPr>
                              <a:rPr lang="ru-RU" sz="1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ru-RU" sz="14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US" sz="1400" dirty="0"/>
                  <a:t>=</a:t>
                </a:r>
                <a:r>
                  <a:rPr lang="ru-RU" sz="1400" dirty="0"/>
                  <a:t> </a:t>
                </a:r>
                <a14:m>
                  <m:oMath xmlns:m="http://schemas.openxmlformats.org/officeDocument/2006/math">
                    <m:r>
                      <a:rPr lang="ru-RU" sz="14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r>
                  <a:rPr lang="ru-RU" sz="1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ru-RU" sz="140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sSub>
                      <m:sSubPr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ru-RU" sz="1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  <m:sub>
                        <m:r>
                          <a:rPr lang="ru-RU" sz="140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endParaRPr lang="ru-RU" sz="1400" dirty="0"/>
              </a:p>
            </p:txBody>
          </p:sp>
        </mc:Choice>
        <mc:Fallback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4664160-FA4C-D2BC-953C-AF53D20E6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8715" y="4132243"/>
                <a:ext cx="2638697" cy="4048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Прямая со стрелкой 130">
            <a:extLst>
              <a:ext uri="{FF2B5EF4-FFF2-40B4-BE49-F238E27FC236}">
                <a16:creationId xmlns:a16="http://schemas.microsoft.com/office/drawing/2014/main" id="{EB69204F-0E18-7C5B-0E6D-F627F440936C}"/>
              </a:ext>
            </a:extLst>
          </p:cNvPr>
          <p:cNvCxnSpPr>
            <a:cxnSpLocks/>
          </p:cNvCxnSpPr>
          <p:nvPr/>
        </p:nvCxnSpPr>
        <p:spPr>
          <a:xfrm>
            <a:off x="9878979" y="3054902"/>
            <a:ext cx="1889" cy="8560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Овал 133">
            <a:extLst>
              <a:ext uri="{FF2B5EF4-FFF2-40B4-BE49-F238E27FC236}">
                <a16:creationId xmlns:a16="http://schemas.microsoft.com/office/drawing/2014/main" id="{6C9DDA04-83F5-CF91-629C-810C5E8628B4}"/>
              </a:ext>
            </a:extLst>
          </p:cNvPr>
          <p:cNvSpPr/>
          <p:nvPr/>
        </p:nvSpPr>
        <p:spPr>
          <a:xfrm>
            <a:off x="9816456" y="2995336"/>
            <a:ext cx="12759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8" name="Стрелка влево 137">
            <a:extLst>
              <a:ext uri="{FF2B5EF4-FFF2-40B4-BE49-F238E27FC236}">
                <a16:creationId xmlns:a16="http://schemas.microsoft.com/office/drawing/2014/main" id="{54C41BBC-A114-ADA5-0B11-62692CFFF38F}"/>
              </a:ext>
            </a:extLst>
          </p:cNvPr>
          <p:cNvSpPr/>
          <p:nvPr/>
        </p:nvSpPr>
        <p:spPr>
          <a:xfrm rot="10800000">
            <a:off x="9787032" y="3511317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306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Овал 110">
            <a:extLst>
              <a:ext uri="{FF2B5EF4-FFF2-40B4-BE49-F238E27FC236}">
                <a16:creationId xmlns:a16="http://schemas.microsoft.com/office/drawing/2014/main" id="{44DF3FE7-1BA0-7FC3-7FD9-779100D5C321}"/>
              </a:ext>
            </a:extLst>
          </p:cNvPr>
          <p:cNvSpPr/>
          <p:nvPr/>
        </p:nvSpPr>
        <p:spPr>
          <a:xfrm>
            <a:off x="9496297" y="1457362"/>
            <a:ext cx="756315" cy="476528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cxnSp>
        <p:nvCxnSpPr>
          <p:cNvPr id="131" name="Прямая со стрелкой 130">
            <a:extLst>
              <a:ext uri="{FF2B5EF4-FFF2-40B4-BE49-F238E27FC236}">
                <a16:creationId xmlns:a16="http://schemas.microsoft.com/office/drawing/2014/main" id="{EB69204F-0E18-7C5B-0E6D-F627F440936C}"/>
              </a:ext>
            </a:extLst>
          </p:cNvPr>
          <p:cNvCxnSpPr>
            <a:cxnSpLocks/>
          </p:cNvCxnSpPr>
          <p:nvPr/>
        </p:nvCxnSpPr>
        <p:spPr>
          <a:xfrm flipV="1">
            <a:off x="9878979" y="1682234"/>
            <a:ext cx="0" cy="13726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Овал 136">
            <a:extLst>
              <a:ext uri="{FF2B5EF4-FFF2-40B4-BE49-F238E27FC236}">
                <a16:creationId xmlns:a16="http://schemas.microsoft.com/office/drawing/2014/main" id="{C44DB5ED-797E-CBD8-0120-92930BBE8E1F}"/>
              </a:ext>
            </a:extLst>
          </p:cNvPr>
          <p:cNvSpPr/>
          <p:nvPr/>
        </p:nvSpPr>
        <p:spPr>
          <a:xfrm>
            <a:off x="9491170" y="3949887"/>
            <a:ext cx="756315" cy="476528"/>
          </a:xfrm>
          <a:prstGeom prst="ellips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39" name="Стрелка влево 138">
            <a:extLst>
              <a:ext uri="{FF2B5EF4-FFF2-40B4-BE49-F238E27FC236}">
                <a16:creationId xmlns:a16="http://schemas.microsoft.com/office/drawing/2014/main" id="{3DB23D82-F76E-A109-6134-FA0358BC1C2C}"/>
              </a:ext>
            </a:extLst>
          </p:cNvPr>
          <p:cNvSpPr/>
          <p:nvPr/>
        </p:nvSpPr>
        <p:spPr>
          <a:xfrm>
            <a:off x="9787032" y="4332012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Овал 74">
            <a:extLst>
              <a:ext uri="{FF2B5EF4-FFF2-40B4-BE49-F238E27FC236}">
                <a16:creationId xmlns:a16="http://schemas.microsoft.com/office/drawing/2014/main" id="{04841FF1-0D28-4367-FAD2-C1E002EDDBB9}"/>
              </a:ext>
            </a:extLst>
          </p:cNvPr>
          <p:cNvSpPr/>
          <p:nvPr/>
        </p:nvSpPr>
        <p:spPr>
          <a:xfrm>
            <a:off x="4856016" y="3348507"/>
            <a:ext cx="756315" cy="476528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4" name="Дуга 3">
            <a:extLst>
              <a:ext uri="{FF2B5EF4-FFF2-40B4-BE49-F238E27FC236}">
                <a16:creationId xmlns:a16="http://schemas.microsoft.com/office/drawing/2014/main" id="{E0C99048-B24C-080F-E6DE-909F414C59C8}"/>
              </a:ext>
            </a:extLst>
          </p:cNvPr>
          <p:cNvSpPr/>
          <p:nvPr/>
        </p:nvSpPr>
        <p:spPr>
          <a:xfrm>
            <a:off x="4105098" y="2081515"/>
            <a:ext cx="5730949" cy="3242931"/>
          </a:xfrm>
          <a:prstGeom prst="arc">
            <a:avLst>
              <a:gd name="adj1" fmla="val 8502905"/>
              <a:gd name="adj2" fmla="val 19835417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280F3B0-0AB8-6DFB-7965-16B7792F34CF}"/>
              </a:ext>
            </a:extLst>
          </p:cNvPr>
          <p:cNvCxnSpPr>
            <a:cxnSpLocks/>
          </p:cNvCxnSpPr>
          <p:nvPr/>
        </p:nvCxnSpPr>
        <p:spPr>
          <a:xfrm flipH="1" flipV="1">
            <a:off x="5234175" y="4663708"/>
            <a:ext cx="520995" cy="3296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042D8D46-FBDA-6584-9232-F55EEAD60093}"/>
              </a:ext>
            </a:extLst>
          </p:cNvPr>
          <p:cNvCxnSpPr>
            <a:cxnSpLocks/>
          </p:cNvCxnSpPr>
          <p:nvPr/>
        </p:nvCxnSpPr>
        <p:spPr>
          <a:xfrm flipH="1" flipV="1">
            <a:off x="5074517" y="4663708"/>
            <a:ext cx="520995" cy="3296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вал 8">
            <a:extLst>
              <a:ext uri="{FF2B5EF4-FFF2-40B4-BE49-F238E27FC236}">
                <a16:creationId xmlns:a16="http://schemas.microsoft.com/office/drawing/2014/main" id="{D55146F4-0F7A-C64E-1B7E-872D5A08F211}"/>
              </a:ext>
            </a:extLst>
          </p:cNvPr>
          <p:cNvSpPr/>
          <p:nvPr/>
        </p:nvSpPr>
        <p:spPr>
          <a:xfrm>
            <a:off x="5170380" y="2354780"/>
            <a:ext cx="12759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77BC37-2316-3086-E82C-C2EE1AE55F3C}"/>
              </a:ext>
            </a:extLst>
          </p:cNvPr>
          <p:cNvSpPr txBox="1"/>
          <p:nvPr/>
        </p:nvSpPr>
        <p:spPr>
          <a:xfrm>
            <a:off x="3795939" y="2742218"/>
            <a:ext cx="469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arc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342691-6C1E-0229-343F-03D64DFC6908}"/>
              </a:ext>
            </a:extLst>
          </p:cNvPr>
          <p:cNvSpPr txBox="1"/>
          <p:nvPr/>
        </p:nvSpPr>
        <p:spPr>
          <a:xfrm>
            <a:off x="98726" y="685097"/>
            <a:ext cx="82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Orbital</a:t>
            </a:r>
            <a:endParaRPr lang="ru-RU" u="sn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1F2E67-8CEC-4D58-D09F-FC8C9311C63A}"/>
              </a:ext>
            </a:extLst>
          </p:cNvPr>
          <p:cNvSpPr txBox="1"/>
          <p:nvPr/>
        </p:nvSpPr>
        <p:spPr>
          <a:xfrm>
            <a:off x="116289" y="2157726"/>
            <a:ext cx="1984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Spin MDM rotation</a:t>
            </a:r>
            <a:endParaRPr lang="ru-RU" u="s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9F356F-5D7C-B760-DF13-583FFB4EB0BF}"/>
              </a:ext>
            </a:extLst>
          </p:cNvPr>
          <p:cNvSpPr txBox="1"/>
          <p:nvPr/>
        </p:nvSpPr>
        <p:spPr>
          <a:xfrm>
            <a:off x="68855" y="3967233"/>
            <a:ext cx="136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Relative spin</a:t>
            </a:r>
            <a:endParaRPr lang="ru-RU" u="sng" dirty="0"/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E330137F-DB05-B69B-1F93-D3446E03E1DE}"/>
              </a:ext>
            </a:extLst>
          </p:cNvPr>
          <p:cNvCxnSpPr>
            <a:cxnSpLocks/>
          </p:cNvCxnSpPr>
          <p:nvPr/>
        </p:nvCxnSpPr>
        <p:spPr>
          <a:xfrm>
            <a:off x="8920168" y="2510195"/>
            <a:ext cx="1615010" cy="936907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CB85CF97-865A-F3A7-6F53-E94AD1757FD6}"/>
              </a:ext>
            </a:extLst>
          </p:cNvPr>
          <p:cNvCxnSpPr>
            <a:cxnSpLocks/>
          </p:cNvCxnSpPr>
          <p:nvPr/>
        </p:nvCxnSpPr>
        <p:spPr>
          <a:xfrm>
            <a:off x="8851249" y="2367936"/>
            <a:ext cx="562668" cy="3256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EF2B3E9A-76AF-47AC-E418-49330F662313}"/>
              </a:ext>
            </a:extLst>
          </p:cNvPr>
          <p:cNvCxnSpPr>
            <a:cxnSpLocks/>
          </p:cNvCxnSpPr>
          <p:nvPr/>
        </p:nvCxnSpPr>
        <p:spPr>
          <a:xfrm>
            <a:off x="8864510" y="2367936"/>
            <a:ext cx="177893" cy="5436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0C118E9-D973-9DFC-232E-DB0779598C8B}"/>
                  </a:ext>
                </a:extLst>
              </p:cNvPr>
              <p:cNvSpPr txBox="1"/>
              <p:nvPr/>
            </p:nvSpPr>
            <p:spPr>
              <a:xfrm>
                <a:off x="4660744" y="1663306"/>
                <a:ext cx="637226" cy="4029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arc</m:t>
                          </m:r>
                        </m:sub>
                      </m:sSub>
                    </m:oMath>
                  </m:oMathPara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0C118E9-D973-9DFC-232E-DB0779598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744" y="1663306"/>
                <a:ext cx="637226" cy="4029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DB03F96B-5B4F-1C53-E1BC-E033A8CC8D28}"/>
              </a:ext>
            </a:extLst>
          </p:cNvPr>
          <p:cNvCxnSpPr>
            <a:cxnSpLocks/>
          </p:cNvCxnSpPr>
          <p:nvPr/>
        </p:nvCxnSpPr>
        <p:spPr>
          <a:xfrm flipV="1">
            <a:off x="5297970" y="2119705"/>
            <a:ext cx="475266" cy="2641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2774B656-1053-9E7C-A047-CA05E904F5D9}"/>
              </a:ext>
            </a:extLst>
          </p:cNvPr>
          <p:cNvCxnSpPr>
            <a:cxnSpLocks/>
          </p:cNvCxnSpPr>
          <p:nvPr/>
        </p:nvCxnSpPr>
        <p:spPr>
          <a:xfrm>
            <a:off x="5297970" y="2462264"/>
            <a:ext cx="799607" cy="4723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B8FA156-B95B-D061-86A5-AFBEC31A32CD}"/>
                  </a:ext>
                </a:extLst>
              </p:cNvPr>
              <p:cNvSpPr txBox="1"/>
              <p:nvPr/>
            </p:nvSpPr>
            <p:spPr>
              <a:xfrm>
                <a:off x="5454171" y="1811592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B8FA156-B95B-D061-86A5-AFBEC31A3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171" y="1811592"/>
                <a:ext cx="368626" cy="369332"/>
              </a:xfrm>
              <a:prstGeom prst="rect">
                <a:avLst/>
              </a:prstGeom>
              <a:blipFill>
                <a:blip r:embed="rId3"/>
                <a:stretch>
                  <a:fillRect t="-10000"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9F3E5AC-A70D-2A6E-480A-E1EACA63AF62}"/>
                  </a:ext>
                </a:extLst>
              </p:cNvPr>
              <p:cNvSpPr txBox="1"/>
              <p:nvPr/>
            </p:nvSpPr>
            <p:spPr>
              <a:xfrm>
                <a:off x="5773236" y="126785"/>
                <a:ext cx="19420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u="sng" dirty="0"/>
                  <a:t>Proton case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9F3E5AC-A70D-2A6E-480A-E1EACA63A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236" y="126785"/>
                <a:ext cx="1942070" cy="369332"/>
              </a:xfrm>
              <a:prstGeom prst="rect">
                <a:avLst/>
              </a:prstGeom>
              <a:blipFill>
                <a:blip r:embed="rId4"/>
                <a:stretch>
                  <a:fillRect l="-2597" t="-10345" b="-310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0D5126DB-C678-1210-0782-C65933ED0E65}"/>
              </a:ext>
            </a:extLst>
          </p:cNvPr>
          <p:cNvSpPr txBox="1"/>
          <p:nvPr/>
        </p:nvSpPr>
        <p:spPr>
          <a:xfrm>
            <a:off x="98726" y="261449"/>
            <a:ext cx="1905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 equations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8CA3B8F-5FCD-24B4-D50F-E74CFD0E728E}"/>
                  </a:ext>
                </a:extLst>
              </p:cNvPr>
              <p:cNvSpPr txBox="1"/>
              <p:nvPr/>
            </p:nvSpPr>
            <p:spPr>
              <a:xfrm>
                <a:off x="98726" y="1595146"/>
                <a:ext cx="1368769" cy="495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ru-RU" sz="1400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  <m:sSub>
                        <m:sSub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ru-RU" sz="1400" i="0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8CA3B8F-5FCD-24B4-D50F-E74CFD0E7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6" y="1595146"/>
                <a:ext cx="1368769" cy="4950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8675570-9101-FD7E-A506-058506C917F7}"/>
                  </a:ext>
                </a:extLst>
              </p:cNvPr>
              <p:cNvSpPr txBox="1"/>
              <p:nvPr/>
            </p:nvSpPr>
            <p:spPr>
              <a:xfrm>
                <a:off x="98727" y="1160601"/>
                <a:ext cx="1129618" cy="356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r>
                        <a:rPr lang="ru-RU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140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ru-RU" sz="1400" i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ru-RU" sz="1400" i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ru-RU" sz="140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8675570-9101-FD7E-A506-058506C91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7" y="1160601"/>
                <a:ext cx="1129618" cy="356893"/>
              </a:xfrm>
              <a:prstGeom prst="rect">
                <a:avLst/>
              </a:prstGeom>
              <a:blipFill>
                <a:blip r:embed="rId6"/>
                <a:stretch>
                  <a:fillRect t="-3448" b="-68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DF9AE6C-AA4F-3B76-7AE5-9F8F253EDB5F}"/>
                  </a:ext>
                </a:extLst>
              </p:cNvPr>
              <p:cNvSpPr txBox="1"/>
              <p:nvPr/>
            </p:nvSpPr>
            <p:spPr>
              <a:xfrm>
                <a:off x="98726" y="4430298"/>
                <a:ext cx="2702410" cy="495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  <m:sub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ru-RU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0" smtClean="0">
                              <a:latin typeface="Cambria Math" panose="02040503050406030204" pitchFamily="18" charset="0"/>
                            </a:rPr>
                            <m:t>MDM</m:t>
                          </m:r>
                        </m:sub>
                        <m:sup>
                          <m:sSub>
                            <m:sSub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ru-RU" sz="1400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  <m:sSub>
                        <m:sSub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𝐺</m:t>
                          </m:r>
                          <m:acc>
                            <m:accPr>
                              <m:chr m:val="⃗"/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DF9AE6C-AA4F-3B76-7AE5-9F8F253ED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6" y="4430298"/>
                <a:ext cx="2702410" cy="4950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8084E06-5B07-919C-E253-CEE5FCC703F4}"/>
                  </a:ext>
                </a:extLst>
              </p:cNvPr>
              <p:cNvSpPr txBox="1"/>
              <p:nvPr/>
            </p:nvSpPr>
            <p:spPr>
              <a:xfrm>
                <a:off x="5177182" y="4291022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8084E06-5B07-919C-E253-CEE5FCC70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182" y="4291022"/>
                <a:ext cx="368626" cy="369332"/>
              </a:xfrm>
              <a:prstGeom prst="rect">
                <a:avLst/>
              </a:prstGeom>
              <a:blipFill>
                <a:blip r:embed="rId8"/>
                <a:stretch>
                  <a:fillRect t="-10000"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3D68931-C8C1-4DC1-0E98-8B43749411DF}"/>
                  </a:ext>
                </a:extLst>
              </p:cNvPr>
              <p:cNvSpPr txBox="1"/>
              <p:nvPr/>
            </p:nvSpPr>
            <p:spPr>
              <a:xfrm>
                <a:off x="5050820" y="4339532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3D68931-C8C1-4DC1-0E98-8B4374941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820" y="4339532"/>
                <a:ext cx="274434" cy="369332"/>
              </a:xfrm>
              <a:prstGeom prst="rect">
                <a:avLst/>
              </a:prstGeom>
              <a:blipFill>
                <a:blip r:embed="rId9"/>
                <a:stretch>
                  <a:fillRect t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A18A811-CA72-31DD-E173-0552B4C2B99F}"/>
                  </a:ext>
                </a:extLst>
              </p:cNvPr>
              <p:cNvSpPr txBox="1"/>
              <p:nvPr/>
            </p:nvSpPr>
            <p:spPr>
              <a:xfrm>
                <a:off x="9320089" y="2465389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A18A811-CA72-31DD-E173-0552B4C2B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0089" y="2465389"/>
                <a:ext cx="368626" cy="369332"/>
              </a:xfrm>
              <a:prstGeom prst="rect">
                <a:avLst/>
              </a:prstGeom>
              <a:blipFill>
                <a:blip r:embed="rId10"/>
                <a:stretch>
                  <a:fillRect t="-9677" b="-6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4A6C8DE-4BEC-AFC3-46B8-D1D4C8A19CBA}"/>
                  </a:ext>
                </a:extLst>
              </p:cNvPr>
              <p:cNvSpPr txBox="1"/>
              <p:nvPr/>
            </p:nvSpPr>
            <p:spPr>
              <a:xfrm>
                <a:off x="8734728" y="2686367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4A6C8DE-4BEC-AFC3-46B8-D1D4C8A19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4728" y="2686367"/>
                <a:ext cx="274434" cy="369332"/>
              </a:xfrm>
              <a:prstGeom prst="rect">
                <a:avLst/>
              </a:prstGeom>
              <a:blipFill>
                <a:blip r:embed="rId11"/>
                <a:stretch>
                  <a:fillRect t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Прямая со стрелкой 70">
            <a:extLst>
              <a:ext uri="{FF2B5EF4-FFF2-40B4-BE49-F238E27FC236}">
                <a16:creationId xmlns:a16="http://schemas.microsoft.com/office/drawing/2014/main" id="{EA7524DF-8F44-3DCC-7F74-A02B837E09E3}"/>
              </a:ext>
            </a:extLst>
          </p:cNvPr>
          <p:cNvCxnSpPr>
            <a:cxnSpLocks/>
            <a:stCxn id="9" idx="4"/>
          </p:cNvCxnSpPr>
          <p:nvPr/>
        </p:nvCxnSpPr>
        <p:spPr>
          <a:xfrm flipH="1">
            <a:off x="5234174" y="2498320"/>
            <a:ext cx="1" cy="1175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>
            <a:extLst>
              <a:ext uri="{FF2B5EF4-FFF2-40B4-BE49-F238E27FC236}">
                <a16:creationId xmlns:a16="http://schemas.microsoft.com/office/drawing/2014/main" id="{2FC69F91-5A92-DFA7-6574-A86954D8F024}"/>
              </a:ext>
            </a:extLst>
          </p:cNvPr>
          <p:cNvCxnSpPr>
            <a:cxnSpLocks/>
          </p:cNvCxnSpPr>
          <p:nvPr/>
        </p:nvCxnSpPr>
        <p:spPr>
          <a:xfrm>
            <a:off x="5234174" y="2510195"/>
            <a:ext cx="1" cy="71515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E5680DC-C7AE-24C7-137D-B2650CAAFA5C}"/>
                  </a:ext>
                </a:extLst>
              </p:cNvPr>
              <p:cNvSpPr txBox="1"/>
              <p:nvPr/>
            </p:nvSpPr>
            <p:spPr>
              <a:xfrm>
                <a:off x="5227409" y="2792797"/>
                <a:ext cx="350355" cy="432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a:rPr lang="ru-R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ru-RU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</m:oMath>
                  </m:oMathPara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E5680DC-C7AE-24C7-137D-B2650CAA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409" y="2792797"/>
                <a:ext cx="350355" cy="432554"/>
              </a:xfrm>
              <a:prstGeom prst="rect">
                <a:avLst/>
              </a:prstGeom>
              <a:blipFill>
                <a:blip r:embed="rId12"/>
                <a:stretch>
                  <a:fillRect r="-17241" b="-2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93128B1-FB06-2C7F-9124-589AACF5A227}"/>
                  </a:ext>
                </a:extLst>
              </p:cNvPr>
              <p:cNvSpPr txBox="1"/>
              <p:nvPr/>
            </p:nvSpPr>
            <p:spPr>
              <a:xfrm>
                <a:off x="5015801" y="3810525"/>
                <a:ext cx="4363097" cy="495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  <m:sub>
                          <m:r>
                            <a:rPr lang="ru-RU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ru-RU" sz="1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en-US" sz="1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  <m:sSub>
                        <m:sSub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𝐺</m:t>
                          </m:r>
                          <m:acc>
                            <m:accPr>
                              <m:chr m:val="⃗"/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  <m:sSub>
                        <m:sSub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e>
                          </m:d>
                          <m:acc>
                            <m:accPr>
                              <m:chr m:val="⃗"/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  <m:sSub>
                        <m:sSub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e>
                          </m:d>
                          <m:acc>
                            <m:accPr>
                              <m:chr m:val="⃗"/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93128B1-FB06-2C7F-9124-589AACF5A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801" y="3810525"/>
                <a:ext cx="4363097" cy="49500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1EF1ECA1-9422-A84D-9166-B25B433D798A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234175" y="1714603"/>
            <a:ext cx="0" cy="6401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Стрелка влево 91">
            <a:extLst>
              <a:ext uri="{FF2B5EF4-FFF2-40B4-BE49-F238E27FC236}">
                <a16:creationId xmlns:a16="http://schemas.microsoft.com/office/drawing/2014/main" id="{3B6178BE-8BF8-DAE4-87D9-3F951DAEEE7A}"/>
              </a:ext>
            </a:extLst>
          </p:cNvPr>
          <p:cNvSpPr/>
          <p:nvPr/>
        </p:nvSpPr>
        <p:spPr>
          <a:xfrm>
            <a:off x="5151879" y="3733107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Стрелка влево 92">
            <a:extLst>
              <a:ext uri="{FF2B5EF4-FFF2-40B4-BE49-F238E27FC236}">
                <a16:creationId xmlns:a16="http://schemas.microsoft.com/office/drawing/2014/main" id="{F35FB927-98A4-F4A9-F03E-73338C9C7508}"/>
              </a:ext>
            </a:extLst>
          </p:cNvPr>
          <p:cNvSpPr/>
          <p:nvPr/>
        </p:nvSpPr>
        <p:spPr>
          <a:xfrm rot="10800000">
            <a:off x="5151879" y="3268282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EC55BAD-6D69-5E20-96CC-6B809FA58337}"/>
                  </a:ext>
                </a:extLst>
              </p:cNvPr>
              <p:cNvSpPr txBox="1"/>
              <p:nvPr/>
            </p:nvSpPr>
            <p:spPr>
              <a:xfrm>
                <a:off x="98726" y="2626168"/>
                <a:ext cx="2168042" cy="552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ru-RU" sz="1400" i="0"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ru-RU" sz="14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sz="1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1400" i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𝑀𝐷𝑀</m:t>
                              </m:r>
                            </m:sub>
                          </m:sSub>
                          <m:r>
                            <a:rPr lang="ru-RU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sz="1400" i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𝐸𝐷𝑀</m:t>
                              </m:r>
                            </m:sub>
                          </m:sSub>
                        </m:e>
                      </m:d>
                      <m:r>
                        <a:rPr lang="ru-RU" sz="1400" i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ru-RU" sz="140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EC55BAD-6D69-5E20-96CC-6B809FA58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6" y="2626168"/>
                <a:ext cx="2168042" cy="552844"/>
              </a:xfrm>
              <a:prstGeom prst="rect">
                <a:avLst/>
              </a:prstGeom>
              <a:blipFill>
                <a:blip r:embed="rId14"/>
                <a:stretch>
                  <a:fillRect t="-4444" b="-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E1C3E5E-DC79-2C42-E539-BF784F8C76CA}"/>
                  </a:ext>
                </a:extLst>
              </p:cNvPr>
              <p:cNvSpPr txBox="1"/>
              <p:nvPr/>
            </p:nvSpPr>
            <p:spPr>
              <a:xfrm>
                <a:off x="102080" y="3216536"/>
                <a:ext cx="3994535" cy="6510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ru-RU" sz="1400" i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ru-RU" sz="1400" i="0">
                              <a:latin typeface="Cambria Math" panose="02040503050406030204" pitchFamily="18" charset="0"/>
                            </a:rPr>
                            <m:t>MDM</m:t>
                          </m:r>
                        </m:sub>
                      </m:sSub>
                      <m:r>
                        <a:rPr lang="ru-RU" sz="1400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b>
                            <m:sSub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  <m:r>
                            <a:rPr lang="ru-RU" sz="1400" i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num>
                                <m:den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ru-RU" sz="1400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  <m:f>
                            <m:f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E1C3E5E-DC79-2C42-E539-BF784F8C7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80" y="3216536"/>
                <a:ext cx="3994535" cy="651076"/>
              </a:xfrm>
              <a:prstGeom prst="rect">
                <a:avLst/>
              </a:prstGeom>
              <a:blipFill>
                <a:blip r:embed="rId15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Прямая со стрелкой 99">
            <a:extLst>
              <a:ext uri="{FF2B5EF4-FFF2-40B4-BE49-F238E27FC236}">
                <a16:creationId xmlns:a16="http://schemas.microsoft.com/office/drawing/2014/main" id="{D2435B49-9BE2-F513-4B52-C5763FC6E262}"/>
              </a:ext>
            </a:extLst>
          </p:cNvPr>
          <p:cNvCxnSpPr>
            <a:cxnSpLocks/>
          </p:cNvCxnSpPr>
          <p:nvPr/>
        </p:nvCxnSpPr>
        <p:spPr>
          <a:xfrm flipH="1">
            <a:off x="9172185" y="3077496"/>
            <a:ext cx="687014" cy="425166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 стрелкой 102">
            <a:extLst>
              <a:ext uri="{FF2B5EF4-FFF2-40B4-BE49-F238E27FC236}">
                <a16:creationId xmlns:a16="http://schemas.microsoft.com/office/drawing/2014/main" id="{BC86000B-5495-E3FC-C0EC-1F954D1A73ED}"/>
              </a:ext>
            </a:extLst>
          </p:cNvPr>
          <p:cNvCxnSpPr>
            <a:cxnSpLocks/>
          </p:cNvCxnSpPr>
          <p:nvPr/>
        </p:nvCxnSpPr>
        <p:spPr>
          <a:xfrm>
            <a:off x="9878979" y="3065064"/>
            <a:ext cx="0" cy="117284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BAE92E2F-9430-4368-8EAC-7C94F8766AD3}"/>
                  </a:ext>
                </a:extLst>
              </p:cNvPr>
              <p:cNvSpPr txBox="1"/>
              <p:nvPr/>
            </p:nvSpPr>
            <p:spPr>
              <a:xfrm>
                <a:off x="8951220" y="3168989"/>
                <a:ext cx="336331" cy="402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sz="18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1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BAE92E2F-9430-4368-8EAC-7C94F8766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220" y="3168989"/>
                <a:ext cx="336331" cy="4029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51ADFB1-AD21-E027-71E6-B0168F4783CD}"/>
                  </a:ext>
                </a:extLst>
              </p:cNvPr>
              <p:cNvSpPr txBox="1"/>
              <p:nvPr/>
            </p:nvSpPr>
            <p:spPr>
              <a:xfrm>
                <a:off x="9531972" y="4381225"/>
                <a:ext cx="2622530" cy="485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ru-RU" sz="14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ru-RU" sz="1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40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MDM</m:t>
                        </m:r>
                      </m:sub>
                      <m:sup>
                        <m:r>
                          <a:rPr lang="en-US" sz="1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</m:oMath>
                </a14:m>
                <a:r>
                  <a:rPr lang="en-US" sz="1400" dirty="0"/>
                  <a:t>=</a:t>
                </a:r>
                <a:r>
                  <a:rPr lang="ru-RU" sz="1400" dirty="0"/>
                  <a:t> </a:t>
                </a:r>
                <a14:m>
                  <m:oMath xmlns:m="http://schemas.openxmlformats.org/officeDocument/2006/math">
                    <m:r>
                      <a:rPr lang="ru-RU" sz="14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r>
                  <a:rPr lang="ru-RU" sz="1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40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ru-RU" sz="1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ru-RU" sz="1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sz="1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num>
                              <m:den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ru-RU" sz="140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den>
                            </m:f>
                          </m:e>
                        </m:d>
                        <m:f>
                          <m:fPr>
                            <m:ctrlPr>
                              <a:rPr lang="ru-RU" sz="1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ru-RU" sz="1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  <m:r>
                              <a:rPr lang="ru-RU" sz="1400">
                                <a:latin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ru-RU" sz="1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num>
                          <m:den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endParaRPr lang="ru-RU" sz="1400" dirty="0"/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51ADFB1-AD21-E027-71E6-B0168F478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972" y="4381225"/>
                <a:ext cx="2622530" cy="48558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Стрелка влево 111">
            <a:extLst>
              <a:ext uri="{FF2B5EF4-FFF2-40B4-BE49-F238E27FC236}">
                <a16:creationId xmlns:a16="http://schemas.microsoft.com/office/drawing/2014/main" id="{AD19E8C2-9CC6-9288-B8FD-DE993B712B3E}"/>
              </a:ext>
            </a:extLst>
          </p:cNvPr>
          <p:cNvSpPr/>
          <p:nvPr/>
        </p:nvSpPr>
        <p:spPr>
          <a:xfrm>
            <a:off x="9792159" y="1380460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Стрелка влево 112">
            <a:extLst>
              <a:ext uri="{FF2B5EF4-FFF2-40B4-BE49-F238E27FC236}">
                <a16:creationId xmlns:a16="http://schemas.microsoft.com/office/drawing/2014/main" id="{82411927-416F-22EC-D984-DA1A73588175}"/>
              </a:ext>
            </a:extLst>
          </p:cNvPr>
          <p:cNvSpPr/>
          <p:nvPr/>
        </p:nvSpPr>
        <p:spPr>
          <a:xfrm rot="10800000">
            <a:off x="9792159" y="1839487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4" name="Прямая со стрелкой 113">
            <a:extLst>
              <a:ext uri="{FF2B5EF4-FFF2-40B4-BE49-F238E27FC236}">
                <a16:creationId xmlns:a16="http://schemas.microsoft.com/office/drawing/2014/main" id="{4B9555FA-0995-FEAC-7D8A-01CDF1AF7061}"/>
              </a:ext>
            </a:extLst>
          </p:cNvPr>
          <p:cNvCxnSpPr>
            <a:cxnSpLocks/>
          </p:cNvCxnSpPr>
          <p:nvPr/>
        </p:nvCxnSpPr>
        <p:spPr>
          <a:xfrm>
            <a:off x="9878979" y="3087466"/>
            <a:ext cx="0" cy="3490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FC6057E-E686-9509-54E8-A68A982274CF}"/>
                  </a:ext>
                </a:extLst>
              </p:cNvPr>
              <p:cNvSpPr txBox="1"/>
              <p:nvPr/>
            </p:nvSpPr>
            <p:spPr>
              <a:xfrm>
                <a:off x="9799162" y="3187487"/>
                <a:ext cx="661236" cy="402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WF</m:t>
                          </m:r>
                        </m:sub>
                      </m:sSub>
                    </m:oMath>
                  </m:oMathPara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FC6057E-E686-9509-54E8-A68A98227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9162" y="3187487"/>
                <a:ext cx="661236" cy="40293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Прямая со стрелкой 116">
            <a:extLst>
              <a:ext uri="{FF2B5EF4-FFF2-40B4-BE49-F238E27FC236}">
                <a16:creationId xmlns:a16="http://schemas.microsoft.com/office/drawing/2014/main" id="{80E23332-E713-E7A6-223A-361997CDB899}"/>
              </a:ext>
            </a:extLst>
          </p:cNvPr>
          <p:cNvCxnSpPr>
            <a:cxnSpLocks/>
          </p:cNvCxnSpPr>
          <p:nvPr/>
        </p:nvCxnSpPr>
        <p:spPr>
          <a:xfrm>
            <a:off x="10526573" y="3345348"/>
            <a:ext cx="526494" cy="3281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 стрелкой 122">
            <a:extLst>
              <a:ext uri="{FF2B5EF4-FFF2-40B4-BE49-F238E27FC236}">
                <a16:creationId xmlns:a16="http://schemas.microsoft.com/office/drawing/2014/main" id="{B28BFEE3-8753-C157-8BCB-9818ADB05172}"/>
              </a:ext>
            </a:extLst>
          </p:cNvPr>
          <p:cNvCxnSpPr>
            <a:cxnSpLocks/>
          </p:cNvCxnSpPr>
          <p:nvPr/>
        </p:nvCxnSpPr>
        <p:spPr>
          <a:xfrm>
            <a:off x="10553324" y="3248228"/>
            <a:ext cx="530460" cy="3315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78E40581-3E62-A881-0271-1B79267047BD}"/>
                  </a:ext>
                </a:extLst>
              </p:cNvPr>
              <p:cNvSpPr txBox="1"/>
              <p:nvPr/>
            </p:nvSpPr>
            <p:spPr>
              <a:xfrm>
                <a:off x="10658924" y="3541607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78E40581-3E62-A881-0271-1B7926704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8924" y="3541607"/>
                <a:ext cx="368626" cy="369332"/>
              </a:xfrm>
              <a:prstGeom prst="rect">
                <a:avLst/>
              </a:prstGeom>
              <a:blipFill>
                <a:blip r:embed="rId19"/>
                <a:stretch>
                  <a:fillRect t="-9677" b="-6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F2FC3379-A7BF-F63B-E211-C77D486ACD75}"/>
                  </a:ext>
                </a:extLst>
              </p:cNvPr>
              <p:cNvSpPr txBox="1"/>
              <p:nvPr/>
            </p:nvSpPr>
            <p:spPr>
              <a:xfrm>
                <a:off x="11027550" y="3304188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F2FC3379-A7BF-F63B-E211-C77D486AC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7550" y="3304188"/>
                <a:ext cx="274434" cy="369332"/>
              </a:xfrm>
              <a:prstGeom prst="rect">
                <a:avLst/>
              </a:prstGeom>
              <a:blipFill>
                <a:blip r:embed="rId20"/>
                <a:stretch>
                  <a:fillRect t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4664160-FA4C-D2BC-953C-AF53D20E68C3}"/>
                  </a:ext>
                </a:extLst>
              </p:cNvPr>
              <p:cNvSpPr txBox="1"/>
              <p:nvPr/>
            </p:nvSpPr>
            <p:spPr>
              <a:xfrm>
                <a:off x="9553303" y="989636"/>
                <a:ext cx="2638697" cy="404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ru-RU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ru-RU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40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MDM</m:t>
                        </m:r>
                      </m:sub>
                      <m:sup>
                        <m:sSub>
                          <m:sSubPr>
                            <m:ctrlPr>
                              <a:rPr lang="ru-RU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ru-RU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sup>
                    </m:sSubSup>
                  </m:oMath>
                </a14:m>
                <a:r>
                  <a:rPr lang="en-US" sz="1400" dirty="0"/>
                  <a:t>=</a:t>
                </a:r>
                <a:r>
                  <a:rPr lang="ru-RU" sz="1400" dirty="0"/>
                  <a:t> </a:t>
                </a:r>
                <a14:m>
                  <m:oMath xmlns:m="http://schemas.openxmlformats.org/officeDocument/2006/math">
                    <m:r>
                      <a:rPr lang="ru-RU" sz="14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r>
                  <a:rPr lang="ru-RU" sz="1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ru-RU" sz="140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sSub>
                      <m:sSubPr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ru-RU" sz="1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  <m:sub>
                        <m:r>
                          <a:rPr lang="ru-RU" sz="140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endParaRPr lang="ru-RU" sz="1400" dirty="0"/>
              </a:p>
            </p:txBody>
          </p:sp>
        </mc:Choice>
        <mc:Fallback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54664160-FA4C-D2BC-953C-AF53D20E6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303" y="989636"/>
                <a:ext cx="2638697" cy="404854"/>
              </a:xfrm>
              <a:prstGeom prst="rect">
                <a:avLst/>
              </a:prstGeom>
              <a:blipFill>
                <a:blip r:embed="rId21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Овал 133">
            <a:extLst>
              <a:ext uri="{FF2B5EF4-FFF2-40B4-BE49-F238E27FC236}">
                <a16:creationId xmlns:a16="http://schemas.microsoft.com/office/drawing/2014/main" id="{6C9DDA04-83F5-CF91-629C-810C5E8628B4}"/>
              </a:ext>
            </a:extLst>
          </p:cNvPr>
          <p:cNvSpPr/>
          <p:nvPr/>
        </p:nvSpPr>
        <p:spPr>
          <a:xfrm>
            <a:off x="9816456" y="2995336"/>
            <a:ext cx="12759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8" name="Стрелка влево 137">
            <a:extLst>
              <a:ext uri="{FF2B5EF4-FFF2-40B4-BE49-F238E27FC236}">
                <a16:creationId xmlns:a16="http://schemas.microsoft.com/office/drawing/2014/main" id="{54C41BBC-A114-ADA5-0B11-62692CFFF38F}"/>
              </a:ext>
            </a:extLst>
          </p:cNvPr>
          <p:cNvSpPr/>
          <p:nvPr/>
        </p:nvSpPr>
        <p:spPr>
          <a:xfrm rot="10800000">
            <a:off x="9787032" y="3872985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649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FD23A9E0-63D9-2A25-F5AF-5CE56F9EE04F}"/>
              </a:ext>
            </a:extLst>
          </p:cNvPr>
          <p:cNvSpPr/>
          <p:nvPr/>
        </p:nvSpPr>
        <p:spPr>
          <a:xfrm>
            <a:off x="9500821" y="1479765"/>
            <a:ext cx="756315" cy="476528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E941F09A-2EA7-F9A2-A8D7-27B3B39A7692}"/>
              </a:ext>
            </a:extLst>
          </p:cNvPr>
          <p:cNvSpPr/>
          <p:nvPr/>
        </p:nvSpPr>
        <p:spPr>
          <a:xfrm>
            <a:off x="9496297" y="3728547"/>
            <a:ext cx="756315" cy="476528"/>
          </a:xfrm>
          <a:prstGeom prst="ellips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5F00C90-2E61-163F-F327-6A29D4EA353B}"/>
              </a:ext>
            </a:extLst>
          </p:cNvPr>
          <p:cNvSpPr/>
          <p:nvPr/>
        </p:nvSpPr>
        <p:spPr>
          <a:xfrm>
            <a:off x="4856016" y="2925888"/>
            <a:ext cx="756315" cy="476528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6" name="Дуга 5">
            <a:extLst>
              <a:ext uri="{FF2B5EF4-FFF2-40B4-BE49-F238E27FC236}">
                <a16:creationId xmlns:a16="http://schemas.microsoft.com/office/drawing/2014/main" id="{2A6DD916-6646-62D0-27AD-3FA1C8AAAE09}"/>
              </a:ext>
            </a:extLst>
          </p:cNvPr>
          <p:cNvSpPr/>
          <p:nvPr/>
        </p:nvSpPr>
        <p:spPr>
          <a:xfrm>
            <a:off x="4105098" y="2081515"/>
            <a:ext cx="5730949" cy="3242931"/>
          </a:xfrm>
          <a:prstGeom prst="arc">
            <a:avLst>
              <a:gd name="adj1" fmla="val 8502905"/>
              <a:gd name="adj2" fmla="val 19835417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35FD931A-65A9-99CA-BB7B-29CC548F59EC}"/>
              </a:ext>
            </a:extLst>
          </p:cNvPr>
          <p:cNvCxnSpPr>
            <a:cxnSpLocks/>
          </p:cNvCxnSpPr>
          <p:nvPr/>
        </p:nvCxnSpPr>
        <p:spPr>
          <a:xfrm flipH="1" flipV="1">
            <a:off x="5234175" y="4663708"/>
            <a:ext cx="520995" cy="3296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779476DE-3689-10D6-3204-E1E6785F8F51}"/>
              </a:ext>
            </a:extLst>
          </p:cNvPr>
          <p:cNvCxnSpPr>
            <a:cxnSpLocks/>
          </p:cNvCxnSpPr>
          <p:nvPr/>
        </p:nvCxnSpPr>
        <p:spPr>
          <a:xfrm flipH="1" flipV="1">
            <a:off x="5074517" y="4663708"/>
            <a:ext cx="520995" cy="32960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вал 8">
            <a:extLst>
              <a:ext uri="{FF2B5EF4-FFF2-40B4-BE49-F238E27FC236}">
                <a16:creationId xmlns:a16="http://schemas.microsoft.com/office/drawing/2014/main" id="{E58D84DC-EE83-CF63-DAC5-C182D756AB41}"/>
              </a:ext>
            </a:extLst>
          </p:cNvPr>
          <p:cNvSpPr/>
          <p:nvPr/>
        </p:nvSpPr>
        <p:spPr>
          <a:xfrm>
            <a:off x="5170380" y="2354780"/>
            <a:ext cx="12759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E6AED3-CB8E-7CB4-4B3D-9B2E2D636AB1}"/>
              </a:ext>
            </a:extLst>
          </p:cNvPr>
          <p:cNvSpPr txBox="1"/>
          <p:nvPr/>
        </p:nvSpPr>
        <p:spPr>
          <a:xfrm>
            <a:off x="3795939" y="2742218"/>
            <a:ext cx="469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arc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59ABF9-8882-28E0-9AF4-047DB45D7618}"/>
              </a:ext>
            </a:extLst>
          </p:cNvPr>
          <p:cNvSpPr txBox="1"/>
          <p:nvPr/>
        </p:nvSpPr>
        <p:spPr>
          <a:xfrm>
            <a:off x="116289" y="2157726"/>
            <a:ext cx="1984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Spin MDM rotation</a:t>
            </a:r>
            <a:endParaRPr lang="ru-RU" u="sn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017568-03BC-E0ED-B07D-34A4D114DFB7}"/>
              </a:ext>
            </a:extLst>
          </p:cNvPr>
          <p:cNvSpPr txBox="1"/>
          <p:nvPr/>
        </p:nvSpPr>
        <p:spPr>
          <a:xfrm>
            <a:off x="68855" y="3967233"/>
            <a:ext cx="136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Relative spin</a:t>
            </a:r>
            <a:endParaRPr lang="ru-RU" u="sng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4C423E81-A3F4-3EE6-B7B4-3FA40FBD45ED}"/>
              </a:ext>
            </a:extLst>
          </p:cNvPr>
          <p:cNvCxnSpPr>
            <a:cxnSpLocks/>
          </p:cNvCxnSpPr>
          <p:nvPr/>
        </p:nvCxnSpPr>
        <p:spPr>
          <a:xfrm>
            <a:off x="8920168" y="2510195"/>
            <a:ext cx="1615010" cy="936907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C274A54B-FD56-DD67-CC36-C26A697818FC}"/>
              </a:ext>
            </a:extLst>
          </p:cNvPr>
          <p:cNvCxnSpPr>
            <a:cxnSpLocks/>
          </p:cNvCxnSpPr>
          <p:nvPr/>
        </p:nvCxnSpPr>
        <p:spPr>
          <a:xfrm>
            <a:off x="8851249" y="2367936"/>
            <a:ext cx="562668" cy="3256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D69A263-0D09-F353-7202-ADBE289086AD}"/>
              </a:ext>
            </a:extLst>
          </p:cNvPr>
          <p:cNvCxnSpPr>
            <a:cxnSpLocks/>
          </p:cNvCxnSpPr>
          <p:nvPr/>
        </p:nvCxnSpPr>
        <p:spPr>
          <a:xfrm>
            <a:off x="8864510" y="2367936"/>
            <a:ext cx="631787" cy="1143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3D2CC5-7C9D-AC14-E055-9C811B35C9BE}"/>
                  </a:ext>
                </a:extLst>
              </p:cNvPr>
              <p:cNvSpPr txBox="1"/>
              <p:nvPr/>
            </p:nvSpPr>
            <p:spPr>
              <a:xfrm>
                <a:off x="4660744" y="1663306"/>
                <a:ext cx="637226" cy="4029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arc</m:t>
                          </m:r>
                        </m:sub>
                      </m:sSub>
                    </m:oMath>
                  </m:oMathPara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3D2CC5-7C9D-AC14-E055-9C811B35C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744" y="1663306"/>
                <a:ext cx="637226" cy="4029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0F8CBE86-EFFD-2D75-B6FC-38EC724057DB}"/>
              </a:ext>
            </a:extLst>
          </p:cNvPr>
          <p:cNvCxnSpPr>
            <a:cxnSpLocks/>
          </p:cNvCxnSpPr>
          <p:nvPr/>
        </p:nvCxnSpPr>
        <p:spPr>
          <a:xfrm flipV="1">
            <a:off x="5297970" y="2119705"/>
            <a:ext cx="475266" cy="2641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C08FCEFB-23C3-0BAE-47A5-3DF02D9E5B0E}"/>
              </a:ext>
            </a:extLst>
          </p:cNvPr>
          <p:cNvCxnSpPr>
            <a:cxnSpLocks/>
          </p:cNvCxnSpPr>
          <p:nvPr/>
        </p:nvCxnSpPr>
        <p:spPr>
          <a:xfrm>
            <a:off x="5297970" y="2462264"/>
            <a:ext cx="799607" cy="4723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144FE5-AC11-5DDA-E0BB-128C690DA37C}"/>
                  </a:ext>
                </a:extLst>
              </p:cNvPr>
              <p:cNvSpPr txBox="1"/>
              <p:nvPr/>
            </p:nvSpPr>
            <p:spPr>
              <a:xfrm>
                <a:off x="5454171" y="1811592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144FE5-AC11-5DDA-E0BB-128C690DA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171" y="1811592"/>
                <a:ext cx="368626" cy="369332"/>
              </a:xfrm>
              <a:prstGeom prst="rect">
                <a:avLst/>
              </a:prstGeom>
              <a:blipFill>
                <a:blip r:embed="rId3"/>
                <a:stretch>
                  <a:fillRect t="-10000"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D586AC-5276-B8FE-E292-78228AA455D0}"/>
                  </a:ext>
                </a:extLst>
              </p:cNvPr>
              <p:cNvSpPr txBox="1"/>
              <p:nvPr/>
            </p:nvSpPr>
            <p:spPr>
              <a:xfrm>
                <a:off x="5773236" y="126785"/>
                <a:ext cx="2177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u="sng" dirty="0"/>
                  <a:t>Deuteron case</a:t>
                </a:r>
                <a:r>
                  <a:rPr lang="en-US" u="sng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6D586AC-5276-B8FE-E292-78228AA45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236" y="126785"/>
                <a:ext cx="2177584" cy="369332"/>
              </a:xfrm>
              <a:prstGeom prst="rect">
                <a:avLst/>
              </a:prstGeom>
              <a:blipFill>
                <a:blip r:embed="rId4"/>
                <a:stretch>
                  <a:fillRect l="-2326" t="-10345" b="-310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2CAB4097-EE83-5B08-9FCC-F2BD7574F01E}"/>
              </a:ext>
            </a:extLst>
          </p:cNvPr>
          <p:cNvSpPr txBox="1"/>
          <p:nvPr/>
        </p:nvSpPr>
        <p:spPr>
          <a:xfrm>
            <a:off x="193504" y="212117"/>
            <a:ext cx="1905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 equations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D6DB3FC-11D9-B79B-11DB-5720A8F6C11E}"/>
                  </a:ext>
                </a:extLst>
              </p:cNvPr>
              <p:cNvSpPr txBox="1"/>
              <p:nvPr/>
            </p:nvSpPr>
            <p:spPr>
              <a:xfrm>
                <a:off x="5177182" y="4291022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D6DB3FC-11D9-B79B-11DB-5720A8F6C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182" y="4291022"/>
                <a:ext cx="368626" cy="369332"/>
              </a:xfrm>
              <a:prstGeom prst="rect">
                <a:avLst/>
              </a:prstGeom>
              <a:blipFill>
                <a:blip r:embed="rId5"/>
                <a:stretch>
                  <a:fillRect t="-10000"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F13872-6144-4B79-DA91-2888200E491D}"/>
                  </a:ext>
                </a:extLst>
              </p:cNvPr>
              <p:cNvSpPr txBox="1"/>
              <p:nvPr/>
            </p:nvSpPr>
            <p:spPr>
              <a:xfrm>
                <a:off x="5050820" y="4339532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F13872-6144-4B79-DA91-2888200E4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820" y="4339532"/>
                <a:ext cx="274434" cy="369332"/>
              </a:xfrm>
              <a:prstGeom prst="rect">
                <a:avLst/>
              </a:prstGeom>
              <a:blipFill>
                <a:blip r:embed="rId6"/>
                <a:stretch>
                  <a:fillRect t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8D5B90-1D72-EA17-4EE5-F653690731BB}"/>
                  </a:ext>
                </a:extLst>
              </p:cNvPr>
              <p:cNvSpPr txBox="1"/>
              <p:nvPr/>
            </p:nvSpPr>
            <p:spPr>
              <a:xfrm>
                <a:off x="9320089" y="2465389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48D5B90-1D72-EA17-4EE5-F65369073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0089" y="2465389"/>
                <a:ext cx="368626" cy="369332"/>
              </a:xfrm>
              <a:prstGeom prst="rect">
                <a:avLst/>
              </a:prstGeom>
              <a:blipFill>
                <a:blip r:embed="rId7"/>
                <a:stretch>
                  <a:fillRect t="-9677" b="-6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2151C61-F720-C6A8-DE14-0B244590F95A}"/>
                  </a:ext>
                </a:extLst>
              </p:cNvPr>
              <p:cNvSpPr txBox="1"/>
              <p:nvPr/>
            </p:nvSpPr>
            <p:spPr>
              <a:xfrm>
                <a:off x="9362538" y="2134070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2151C61-F720-C6A8-DE14-0B244590F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2538" y="2134070"/>
                <a:ext cx="274434" cy="369332"/>
              </a:xfrm>
              <a:prstGeom prst="rect">
                <a:avLst/>
              </a:prstGeom>
              <a:blipFill>
                <a:blip r:embed="rId8"/>
                <a:stretch>
                  <a:fillRect t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2B272B47-D321-58CE-CDBE-19E4A4EDE06A}"/>
              </a:ext>
            </a:extLst>
          </p:cNvPr>
          <p:cNvCxnSpPr>
            <a:cxnSpLocks/>
          </p:cNvCxnSpPr>
          <p:nvPr/>
        </p:nvCxnSpPr>
        <p:spPr>
          <a:xfrm>
            <a:off x="5234174" y="2354780"/>
            <a:ext cx="0" cy="8934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790D717-85C0-7782-4625-C7D635A1FB9E}"/>
                  </a:ext>
                </a:extLst>
              </p:cNvPr>
              <p:cNvSpPr txBox="1"/>
              <p:nvPr/>
            </p:nvSpPr>
            <p:spPr>
              <a:xfrm>
                <a:off x="5015151" y="3455015"/>
                <a:ext cx="3190037" cy="495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ru-RU" sz="14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MDM</m:t>
                          </m:r>
                        </m:sub>
                      </m:sSub>
                      <m:r>
                        <a:rPr lang="ru-RU" sz="1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  <m:sSub>
                        <m:sSub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𝐺</m:t>
                          </m:r>
                          <m:acc>
                            <m:accPr>
                              <m:chr m:val="⃗"/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  <m:sSub>
                        <m:sSub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</m:e>
                          </m:d>
                          <m:acc>
                            <m:accPr>
                              <m:chr m:val="⃗"/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790D717-85C0-7782-4625-C7D635A1F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151" y="3455015"/>
                <a:ext cx="3190037" cy="4950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8AE994EC-462C-0DA4-DC99-ABC2AA6B8D5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234175" y="1714603"/>
            <a:ext cx="0" cy="6401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Стрелка влево 34">
            <a:extLst>
              <a:ext uri="{FF2B5EF4-FFF2-40B4-BE49-F238E27FC236}">
                <a16:creationId xmlns:a16="http://schemas.microsoft.com/office/drawing/2014/main" id="{0DF3C327-5877-9FF5-FD76-225888948764}"/>
              </a:ext>
            </a:extLst>
          </p:cNvPr>
          <p:cNvSpPr/>
          <p:nvPr/>
        </p:nvSpPr>
        <p:spPr>
          <a:xfrm rot="10800000">
            <a:off x="5151879" y="3310488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Стрелка влево 35">
            <a:extLst>
              <a:ext uri="{FF2B5EF4-FFF2-40B4-BE49-F238E27FC236}">
                <a16:creationId xmlns:a16="http://schemas.microsoft.com/office/drawing/2014/main" id="{619893EA-8F4F-14BA-F3EC-B53D0028FB92}"/>
              </a:ext>
            </a:extLst>
          </p:cNvPr>
          <p:cNvSpPr/>
          <p:nvPr/>
        </p:nvSpPr>
        <p:spPr>
          <a:xfrm>
            <a:off x="5151879" y="2845663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701317B-9620-D105-8492-22E9D8DD9DB6}"/>
                  </a:ext>
                </a:extLst>
              </p:cNvPr>
              <p:cNvSpPr txBox="1"/>
              <p:nvPr/>
            </p:nvSpPr>
            <p:spPr>
              <a:xfrm>
                <a:off x="-198729" y="2626168"/>
                <a:ext cx="2168042" cy="552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ru-RU" sz="1400" i="0"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ru-RU" sz="14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sz="1400" i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ru-RU" sz="140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MDM</m:t>
                          </m:r>
                        </m:sub>
                      </m:sSub>
                      <m:r>
                        <a:rPr lang="ru-RU" sz="140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701317B-9620-D105-8492-22E9D8DD9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8729" y="2626168"/>
                <a:ext cx="2168042" cy="552844"/>
              </a:xfrm>
              <a:prstGeom prst="rect">
                <a:avLst/>
              </a:prstGeom>
              <a:blipFill>
                <a:blip r:embed="rId10"/>
                <a:stretch>
                  <a:fillRect t="-4444" b="-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1D26E2C-826B-5F85-A2AA-774D7FF2E5F6}"/>
                  </a:ext>
                </a:extLst>
              </p:cNvPr>
              <p:cNvSpPr txBox="1"/>
              <p:nvPr/>
            </p:nvSpPr>
            <p:spPr>
              <a:xfrm>
                <a:off x="-54530" y="3225351"/>
                <a:ext cx="3994535" cy="6510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ru-RU" sz="1400" i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MDM</m:t>
                          </m:r>
                        </m:sub>
                      </m:sSub>
                      <m:r>
                        <a:rPr lang="ru-RU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b>
                            <m:sSub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  <m:r>
                            <a:rPr lang="ru-RU" sz="1400" i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num>
                                <m:den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ru-RU" sz="1400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  <m:f>
                            <m:f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1D26E2C-826B-5F85-A2AA-774D7FF2E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4530" y="3225351"/>
                <a:ext cx="3994535" cy="651076"/>
              </a:xfrm>
              <a:prstGeom prst="rect">
                <a:avLst/>
              </a:prstGeom>
              <a:blipFill>
                <a:blip r:embed="rId11"/>
                <a:stretch>
                  <a:fillRect t="-18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FF16DA50-CAB6-7679-0551-E0628A27924C}"/>
              </a:ext>
            </a:extLst>
          </p:cNvPr>
          <p:cNvCxnSpPr>
            <a:cxnSpLocks/>
          </p:cNvCxnSpPr>
          <p:nvPr/>
        </p:nvCxnSpPr>
        <p:spPr>
          <a:xfrm flipV="1">
            <a:off x="9859199" y="2600855"/>
            <a:ext cx="675979" cy="47664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C17D4FD4-F3DD-04C2-07EE-89E22FFDA375}"/>
              </a:ext>
            </a:extLst>
          </p:cNvPr>
          <p:cNvCxnSpPr>
            <a:cxnSpLocks/>
          </p:cNvCxnSpPr>
          <p:nvPr/>
        </p:nvCxnSpPr>
        <p:spPr>
          <a:xfrm>
            <a:off x="9878979" y="3065064"/>
            <a:ext cx="3778" cy="99954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96A2C1-E858-F49A-CB8A-02ADA662A844}"/>
                  </a:ext>
                </a:extLst>
              </p:cNvPr>
              <p:cNvSpPr txBox="1"/>
              <p:nvPr/>
            </p:nvSpPr>
            <p:spPr>
              <a:xfrm>
                <a:off x="10557844" y="2260798"/>
                <a:ext cx="336331" cy="402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sz="18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1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96A2C1-E858-F49A-CB8A-02ADA662A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7844" y="2260798"/>
                <a:ext cx="336331" cy="4029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0BDFA30-7D32-405E-D43B-986924D40F34}"/>
                  </a:ext>
                </a:extLst>
              </p:cNvPr>
              <p:cNvSpPr txBox="1"/>
              <p:nvPr/>
            </p:nvSpPr>
            <p:spPr>
              <a:xfrm>
                <a:off x="9636972" y="4256485"/>
                <a:ext cx="2622530" cy="485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ru-RU" sz="14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ru-RU" sz="14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40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MDM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wf</m:t>
                        </m:r>
                      </m:sup>
                    </m:sSubSup>
                  </m:oMath>
                </a14:m>
                <a:r>
                  <a:rPr lang="en-US" sz="1400" dirty="0"/>
                  <a:t>=</a:t>
                </a:r>
                <a:r>
                  <a:rPr lang="ru-RU" sz="1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r>
                  <a:rPr lang="ru-RU" sz="1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40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ru-RU" sz="1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ru-RU" sz="1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sz="1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num>
                              <m:den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ru-RU" sz="140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den>
                            </m:f>
                          </m:e>
                        </m:d>
                        <m:f>
                          <m:fPr>
                            <m:ctrlPr>
                              <a:rPr lang="ru-RU" sz="1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ru-RU" sz="1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  <m:r>
                              <a:rPr lang="ru-RU" sz="1400">
                                <a:latin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ru-RU" sz="14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14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num>
                          <m:den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endParaRPr lang="ru-RU" sz="14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0BDFA30-7D32-405E-D43B-986924D40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6972" y="4256485"/>
                <a:ext cx="2622530" cy="48558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Стрелка влево 42">
            <a:extLst>
              <a:ext uri="{FF2B5EF4-FFF2-40B4-BE49-F238E27FC236}">
                <a16:creationId xmlns:a16="http://schemas.microsoft.com/office/drawing/2014/main" id="{90DC7F08-79DC-E113-3F9C-1D06F31327B3}"/>
              </a:ext>
            </a:extLst>
          </p:cNvPr>
          <p:cNvSpPr/>
          <p:nvPr/>
        </p:nvSpPr>
        <p:spPr>
          <a:xfrm>
            <a:off x="9792159" y="3651645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Стрелка влево 43">
            <a:extLst>
              <a:ext uri="{FF2B5EF4-FFF2-40B4-BE49-F238E27FC236}">
                <a16:creationId xmlns:a16="http://schemas.microsoft.com/office/drawing/2014/main" id="{CA3FE6C4-2CA9-59EA-0238-4A9AB4301637}"/>
              </a:ext>
            </a:extLst>
          </p:cNvPr>
          <p:cNvSpPr/>
          <p:nvPr/>
        </p:nvSpPr>
        <p:spPr>
          <a:xfrm rot="10800000">
            <a:off x="9792159" y="4110672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9F99193C-D853-FC5C-A261-124749532F1A}"/>
              </a:ext>
            </a:extLst>
          </p:cNvPr>
          <p:cNvCxnSpPr>
            <a:cxnSpLocks/>
          </p:cNvCxnSpPr>
          <p:nvPr/>
        </p:nvCxnSpPr>
        <p:spPr>
          <a:xfrm flipV="1">
            <a:off x="9878979" y="2447289"/>
            <a:ext cx="0" cy="6401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F5D6777-7266-B386-42D3-24992BA8B954}"/>
                  </a:ext>
                </a:extLst>
              </p:cNvPr>
              <p:cNvSpPr txBox="1"/>
              <p:nvPr/>
            </p:nvSpPr>
            <p:spPr>
              <a:xfrm>
                <a:off x="9826937" y="2197924"/>
                <a:ext cx="661236" cy="4029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WF</m:t>
                          </m:r>
                        </m:sub>
                      </m:sSub>
                    </m:oMath>
                  </m:oMathPara>
                </a14:m>
                <a:endParaRPr lang="ru-R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F5D6777-7266-B386-42D3-24992BA8B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937" y="2197924"/>
                <a:ext cx="661236" cy="4029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07CE098C-0402-EE04-A29E-032D1C68EC62}"/>
              </a:ext>
            </a:extLst>
          </p:cNvPr>
          <p:cNvCxnSpPr>
            <a:cxnSpLocks/>
          </p:cNvCxnSpPr>
          <p:nvPr/>
        </p:nvCxnSpPr>
        <p:spPr>
          <a:xfrm>
            <a:off x="10526573" y="3345348"/>
            <a:ext cx="526494" cy="3281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FAE52F73-2522-2BB5-3178-B368156F284F}"/>
              </a:ext>
            </a:extLst>
          </p:cNvPr>
          <p:cNvCxnSpPr>
            <a:cxnSpLocks/>
          </p:cNvCxnSpPr>
          <p:nvPr/>
        </p:nvCxnSpPr>
        <p:spPr>
          <a:xfrm>
            <a:off x="10553324" y="3248228"/>
            <a:ext cx="530460" cy="3315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4171A1A-C03D-B7B8-CEBA-68D322C96275}"/>
                  </a:ext>
                </a:extLst>
              </p:cNvPr>
              <p:cNvSpPr txBox="1"/>
              <p:nvPr/>
            </p:nvSpPr>
            <p:spPr>
              <a:xfrm>
                <a:off x="10658924" y="3541607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4171A1A-C03D-B7B8-CEBA-68D322C96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8924" y="3541607"/>
                <a:ext cx="368626" cy="369332"/>
              </a:xfrm>
              <a:prstGeom prst="rect">
                <a:avLst/>
              </a:prstGeom>
              <a:blipFill>
                <a:blip r:embed="rId15"/>
                <a:stretch>
                  <a:fillRect t="-9677" b="-6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40943C0-EB21-6AD2-9F38-F440F9EA8370}"/>
                  </a:ext>
                </a:extLst>
              </p:cNvPr>
              <p:cNvSpPr txBox="1"/>
              <p:nvPr/>
            </p:nvSpPr>
            <p:spPr>
              <a:xfrm>
                <a:off x="11027550" y="3304188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40943C0-EB21-6AD2-9F38-F440F9EA8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7550" y="3304188"/>
                <a:ext cx="274434" cy="369332"/>
              </a:xfrm>
              <a:prstGeom prst="rect">
                <a:avLst/>
              </a:prstGeom>
              <a:blipFill>
                <a:blip r:embed="rId16"/>
                <a:stretch>
                  <a:fillRect t="-1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F611E72-5B44-FA90-988E-5DF0706C82AF}"/>
                  </a:ext>
                </a:extLst>
              </p:cNvPr>
              <p:cNvSpPr txBox="1"/>
              <p:nvPr/>
            </p:nvSpPr>
            <p:spPr>
              <a:xfrm>
                <a:off x="9688715" y="1049227"/>
                <a:ext cx="2638697" cy="404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Sup>
                      <m:sSubSupPr>
                        <m:ctrlPr>
                          <a:rPr lang="ru-RU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ru-RU" sz="1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40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MDM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wf</m:t>
                        </m:r>
                      </m:sup>
                    </m:sSubSup>
                  </m:oMath>
                </a14:m>
                <a:r>
                  <a:rPr lang="en-US" sz="1400" dirty="0"/>
                  <a:t>=</a:t>
                </a:r>
                <a:r>
                  <a:rPr lang="ru-RU" sz="1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r>
                  <a:rPr lang="ru-RU" sz="1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ru-RU" sz="14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ru-RU" sz="140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sSub>
                      <m:sSubPr>
                        <m:ctrlPr>
                          <a:rPr lang="ru-RU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ru-RU" sz="1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1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  <m:sub>
                        <m:r>
                          <a:rPr lang="ru-RU" sz="140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endParaRPr lang="ru-RU" sz="1400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F611E72-5B44-FA90-988E-5DF0706C8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8715" y="1049227"/>
                <a:ext cx="2638697" cy="404854"/>
              </a:xfrm>
              <a:prstGeom prst="rect">
                <a:avLst/>
              </a:prstGeom>
              <a:blipFill>
                <a:blip r:embed="rId1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8567C6DA-06D5-26BF-B421-279FE1AE989B}"/>
              </a:ext>
            </a:extLst>
          </p:cNvPr>
          <p:cNvCxnSpPr>
            <a:cxnSpLocks/>
          </p:cNvCxnSpPr>
          <p:nvPr/>
        </p:nvCxnSpPr>
        <p:spPr>
          <a:xfrm flipV="1">
            <a:off x="9878979" y="1674795"/>
            <a:ext cx="2834" cy="13801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Овал 52">
            <a:extLst>
              <a:ext uri="{FF2B5EF4-FFF2-40B4-BE49-F238E27FC236}">
                <a16:creationId xmlns:a16="http://schemas.microsoft.com/office/drawing/2014/main" id="{CB02143F-9FEB-BD8E-A75B-48E0A66DB929}"/>
              </a:ext>
            </a:extLst>
          </p:cNvPr>
          <p:cNvSpPr/>
          <p:nvPr/>
        </p:nvSpPr>
        <p:spPr>
          <a:xfrm>
            <a:off x="9816456" y="2995336"/>
            <a:ext cx="12759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" name="Стрелка влево 53">
            <a:extLst>
              <a:ext uri="{FF2B5EF4-FFF2-40B4-BE49-F238E27FC236}">
                <a16:creationId xmlns:a16="http://schemas.microsoft.com/office/drawing/2014/main" id="{118DDDFF-E7E3-1547-77AB-CEDFE4B0AB3E}"/>
              </a:ext>
            </a:extLst>
          </p:cNvPr>
          <p:cNvSpPr/>
          <p:nvPr/>
        </p:nvSpPr>
        <p:spPr>
          <a:xfrm rot="10800000">
            <a:off x="9796683" y="1402863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B0DEB7D-CA06-D996-82AA-93DADE343910}"/>
                  </a:ext>
                </a:extLst>
              </p:cNvPr>
              <p:cNvSpPr txBox="1"/>
              <p:nvPr/>
            </p:nvSpPr>
            <p:spPr>
              <a:xfrm>
                <a:off x="126915" y="4383278"/>
                <a:ext cx="1627690" cy="4950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40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ru-RU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ru-RU" sz="14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MDM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arc</m:t>
                          </m:r>
                        </m:sup>
                      </m:sSubSup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  <m:sSub>
                        <m:sSub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𝐺</m:t>
                          </m:r>
                          <m:acc>
                            <m:accPr>
                              <m:chr m:val="⃗"/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</m:oMath>
                  </m:oMathPara>
                </a14:m>
                <a:endParaRPr lang="ru-RU" sz="14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B0DEB7D-CA06-D996-82AA-93DADE343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15" y="4383278"/>
                <a:ext cx="1627690" cy="49500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3728E20-43D2-7E13-CBBF-66D70C5E715E}"/>
                  </a:ext>
                </a:extLst>
              </p:cNvPr>
              <p:cNvSpPr txBox="1"/>
              <p:nvPr/>
            </p:nvSpPr>
            <p:spPr>
              <a:xfrm>
                <a:off x="5555663" y="2422030"/>
                <a:ext cx="1385408" cy="40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ru-RU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arc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3728E20-43D2-7E13-CBBF-66D70C5E7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663" y="2422030"/>
                <a:ext cx="1385408" cy="402931"/>
              </a:xfrm>
              <a:prstGeom prst="rect">
                <a:avLst/>
              </a:prstGeom>
              <a:blipFill>
                <a:blip r:embed="rId1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Стрелка влево 2">
            <a:extLst>
              <a:ext uri="{FF2B5EF4-FFF2-40B4-BE49-F238E27FC236}">
                <a16:creationId xmlns:a16="http://schemas.microsoft.com/office/drawing/2014/main" id="{9F9D55C5-39C8-611C-6A95-71AA61C99CA8}"/>
              </a:ext>
            </a:extLst>
          </p:cNvPr>
          <p:cNvSpPr/>
          <p:nvPr/>
        </p:nvSpPr>
        <p:spPr>
          <a:xfrm>
            <a:off x="9796683" y="1861890"/>
            <a:ext cx="164587" cy="168215"/>
          </a:xfrm>
          <a:prstGeom prst="leftArrow">
            <a:avLst>
              <a:gd name="adj1" fmla="val 37504"/>
              <a:gd name="adj2" fmla="val 5319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F7DF77-B0B7-AEC2-7B6E-1265D7B5C6A9}"/>
              </a:ext>
            </a:extLst>
          </p:cNvPr>
          <p:cNvSpPr txBox="1"/>
          <p:nvPr/>
        </p:nvSpPr>
        <p:spPr>
          <a:xfrm>
            <a:off x="7953561" y="133578"/>
            <a:ext cx="1366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Senichev ed.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8998570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2547</TotalTime>
  <Words>216</Words>
  <Application>Microsoft Macintosh PowerPoint</Application>
  <PresentationFormat>Широкоэкранный</PresentationFormat>
  <Paragraphs>73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Microsoft Office User</cp:lastModifiedBy>
  <cp:revision>10</cp:revision>
  <dcterms:created xsi:type="dcterms:W3CDTF">2025-08-04T14:36:26Z</dcterms:created>
  <dcterms:modified xsi:type="dcterms:W3CDTF">2025-08-06T09:40:06Z</dcterms:modified>
</cp:coreProperties>
</file>