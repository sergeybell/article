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84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4" r:id="rId9"/>
    <p:sldId id="270" r:id="rId10"/>
    <p:sldId id="265" r:id="rId11"/>
    <p:sldId id="263" r:id="rId12"/>
    <p:sldId id="276" r:id="rId13"/>
    <p:sldId id="273" r:id="rId14"/>
    <p:sldId id="266" r:id="rId15"/>
    <p:sldId id="267" r:id="rId16"/>
    <p:sldId id="268" r:id="rId17"/>
    <p:sldId id="269" r:id="rId18"/>
    <p:sldId id="272" r:id="rId19"/>
    <p:sldId id="275" r:id="rId20"/>
  </p:sldIdLst>
  <p:sldSz cx="12192000" cy="6858000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ергей Колокольчиков" initials="СК" lastIdx="3" clrIdx="0">
    <p:extLst>
      <p:ext uri="{19B8F6BF-5375-455C-9EA6-DF929625EA0E}">
        <p15:presenceInfo xmlns:p15="http://schemas.microsoft.com/office/powerpoint/2012/main" userId="d225e6775837ca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9D"/>
    <a:srgbClr val="5B9BD5"/>
    <a:srgbClr val="7FA9F4"/>
    <a:srgbClr val="105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71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2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75CED-1294-450C-A6E9-3A796CB5AA61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3EF29-A9E2-44A1-8851-EEFF71AAE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415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A29E7-2C29-4C8A-B870-CE22F8D43F98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3551D-45F3-4F62-BF57-9F5E8AEDF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5625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000" y="1632155"/>
            <a:ext cx="11700000" cy="203512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000" y="3759354"/>
            <a:ext cx="11700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47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31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00" y="1494503"/>
            <a:ext cx="11700000" cy="282062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000" y="4581831"/>
            <a:ext cx="11700000" cy="150781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30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999" y="2477729"/>
            <a:ext cx="5525536" cy="369923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6671" y="2477729"/>
            <a:ext cx="5889329" cy="369923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90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40261"/>
            <a:ext cx="10515600" cy="100243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42370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3409643"/>
            <a:ext cx="5157787" cy="27846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42370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409643"/>
            <a:ext cx="5183188" cy="27846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48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18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76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00" y="1425676"/>
            <a:ext cx="4660297" cy="117249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5677"/>
            <a:ext cx="6762812" cy="443537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000" y="2746184"/>
            <a:ext cx="4660297" cy="3122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94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55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6000" y="1438064"/>
            <a:ext cx="11700000" cy="932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000" y="2605548"/>
            <a:ext cx="11700000" cy="3559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9B0B03-675D-4F6C-A4AC-DA865D8138B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63" y="360001"/>
            <a:ext cx="91278" cy="627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0" y="360822"/>
            <a:ext cx="11700000" cy="88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4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Relationship Id="rId9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4C50BE5-8301-417A-A9BD-8494DAF6C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000" y="1242011"/>
            <a:ext cx="11700000" cy="2002416"/>
          </a:xfrm>
        </p:spPr>
        <p:txBody>
          <a:bodyPr>
            <a:noAutofit/>
          </a:bodyPr>
          <a:lstStyle/>
          <a:p>
            <a:r>
              <a:rPr lang="ru-RU" sz="3600" b="1" i="0" u="none" strike="noStrike" baseline="0" dirty="0">
                <a:latin typeface="Calibri Bold" panose="020F0702030404030204" pitchFamily="34" charset="0"/>
                <a:cs typeface="Calibri Bold" panose="020F0702030404030204" pitchFamily="34" charset="0"/>
              </a:rPr>
              <a:t>Разработка принципиальной структуры накопительного кольца для исследования электрического дипольного момента легких ядер</a:t>
            </a:r>
            <a:endParaRPr lang="ru-RU" sz="3600" b="1" dirty="0"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15D1C7F3-356E-4173-A3EE-5A2E33439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00" y="3759354"/>
            <a:ext cx="11700000" cy="2824326"/>
          </a:xfrm>
        </p:spPr>
        <p:txBody>
          <a:bodyPr>
            <a:normAutofit/>
          </a:bodyPr>
          <a:lstStyle/>
          <a:p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Паламарчук П. И.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1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 Колокольчиков С.Д.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,3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 Аксентьев А.Е.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1,2,3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 </a:t>
            </a:r>
            <a:endParaRPr lang="en-US" sz="1800" i="1" dirty="0">
              <a:latin typeface="Calibri-Bold"/>
              <a:cs typeface="Calibri Bold" panose="020F0702030404030204" pitchFamily="34" charset="0"/>
            </a:endParaRPr>
          </a:p>
          <a:p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Мельников А.А.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,3,4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</a:t>
            </a:r>
            <a:r>
              <a:rPr lang="en-US" sz="1800" i="1" dirty="0">
                <a:latin typeface="Calibri-Bold"/>
                <a:cs typeface="Calibri Bold" panose="020F0702030404030204" pitchFamily="34" charset="0"/>
              </a:rPr>
              <a:t> 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Сеничев Ю.В.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,3</a:t>
            </a:r>
            <a:endParaRPr lang="en-US" sz="1800" i="1" baseline="30000" dirty="0">
              <a:latin typeface="Calibri-Bold"/>
              <a:cs typeface="Calibri Bold" panose="020F0702030404030204" pitchFamily="34" charset="0"/>
            </a:endParaRPr>
          </a:p>
          <a:p>
            <a:endParaRPr lang="en-US" sz="1800" i="1" dirty="0">
              <a:latin typeface="Calibri-Bold"/>
              <a:cs typeface="Calibri Bold" panose="020F0702030404030204" pitchFamily="34" charset="0"/>
            </a:endParaRP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1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Институт Ядерных Исследований РАН, Москва, Россия</a:t>
            </a: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Московский Инженерно‐Физический Институт, Москва, Россия</a:t>
            </a: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3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Московский Физико‐Технический Институт, Долгопрудный, Россия</a:t>
            </a: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4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Институт Теоретической Физики им. Л.Д. Ландау, Черноголовка, Россия</a:t>
            </a:r>
            <a:endParaRPr lang="en-US" sz="1800" i="1" dirty="0">
              <a:latin typeface="Calibri-Bold"/>
              <a:cs typeface="Calibri Bold" panose="020F0702030404030204" pitchFamily="34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F76E7FA-B0E8-4495-BB9F-03BB4B0FD7AE}"/>
              </a:ext>
            </a:extLst>
          </p:cNvPr>
          <p:cNvCxnSpPr>
            <a:cxnSpLocks/>
          </p:cNvCxnSpPr>
          <p:nvPr/>
        </p:nvCxnSpPr>
        <p:spPr>
          <a:xfrm>
            <a:off x="246000" y="3490219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82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61DBA64-7491-452E-9FA7-30F4BADBB543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DF876-32AD-4B3E-AB51-AAD8AE93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65DC36-8428-4B7F-BD62-39FA92E8E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486202"/>
            <a:ext cx="11700001" cy="3559278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ru-RU" dirty="0">
                <a:latin typeface="+mn-lt"/>
              </a:rPr>
              <a:t>Особенности структуры с замороженным спином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протона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дейтрона</a:t>
            </a:r>
          </a:p>
          <a:p>
            <a:pPr>
              <a:lnSpc>
                <a:spcPct val="130000"/>
              </a:lnSpc>
            </a:pPr>
            <a:r>
              <a:rPr lang="ru-RU" dirty="0">
                <a:latin typeface="+mn-lt"/>
              </a:rPr>
              <a:t>Особенности структуры с квази-замороженным спином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протона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дейтрона</a:t>
            </a:r>
          </a:p>
          <a:p>
            <a:pPr>
              <a:lnSpc>
                <a:spcPct val="130000"/>
              </a:lnSpc>
            </a:pPr>
            <a:r>
              <a:rPr lang="ru-RU" dirty="0">
                <a:latin typeface="+mn-lt"/>
              </a:rPr>
              <a:t>Заключение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70014-1386-4667-89CF-A90ED3A1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50F978-4876-4F8E-8471-74C6FA34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F58A00-902E-487A-A243-F7587FAEF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2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6FF750C-1130-45AF-8D43-B8D4EE3778BB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72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9C66E65-5AD5-4411-B969-3FEEAFFF77CD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EDF324-0A19-4039-B4C2-4BD9AA888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4654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Метод замороженного спина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8116AE-4459-4CF9-8F16-3B6BEBF45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795999"/>
            <a:ext cx="5250099" cy="2744176"/>
          </a:xfrm>
        </p:spPr>
        <p:txBody>
          <a:bodyPr/>
          <a:lstStyle/>
          <a:p>
            <a:pPr algn="just"/>
            <a:r>
              <a:rPr lang="ru-RU" sz="1800" b="1" i="0" u="none" strike="noStrike" baseline="0" dirty="0">
                <a:latin typeface="Calibri-Bold"/>
              </a:rPr>
              <a:t>Метод “замороженного” спина (Frozen Spin ‐ FS)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предполагает создание условий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непрерывной сонаправленности вектора импульса и горизонтальной проекции спин‐вектора при обращении частицы по кольцу.</a:t>
            </a:r>
          </a:p>
          <a:p>
            <a:pPr algn="just"/>
            <a:r>
              <a:rPr lang="ru-RU" sz="1800" b="0" i="0" u="none" strike="noStrike" baseline="0" dirty="0">
                <a:latin typeface="Calibri" panose="020F0502020204030204" pitchFamily="34" charset="0"/>
              </a:rPr>
              <a:t>Измерение ЭДМ протона и дейтрона в режиме FS может быть осуществлено в пределах одной структуры.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B8AFDA-644E-4E9C-B264-2CE57DAA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CC8BD1-E3AC-421E-AA5D-95DD4127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98EE0-91C1-4581-8E5E-9BB81A9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3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49727E6-4F51-4651-9A40-F4F3E695960D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Дуга 102">
            <a:extLst>
              <a:ext uri="{FF2B5EF4-FFF2-40B4-BE49-F238E27FC236}">
                <a16:creationId xmlns:a16="http://schemas.microsoft.com/office/drawing/2014/main" id="{9C249D8C-1740-4413-A30B-43BFEB57951B}"/>
              </a:ext>
            </a:extLst>
          </p:cNvPr>
          <p:cNvSpPr/>
          <p:nvPr/>
        </p:nvSpPr>
        <p:spPr>
          <a:xfrm>
            <a:off x="6725591" y="2695693"/>
            <a:ext cx="4875859" cy="3242931"/>
          </a:xfrm>
          <a:prstGeom prst="arc">
            <a:avLst>
              <a:gd name="adj1" fmla="val 8526041"/>
              <a:gd name="adj2" fmla="val 1796907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A4E60C79-36DB-491D-A636-803D526FEA0C}"/>
              </a:ext>
            </a:extLst>
          </p:cNvPr>
          <p:cNvCxnSpPr>
            <a:cxnSpLocks/>
          </p:cNvCxnSpPr>
          <p:nvPr/>
        </p:nvCxnSpPr>
        <p:spPr>
          <a:xfrm>
            <a:off x="9366795" y="3160547"/>
            <a:ext cx="688009" cy="3082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C5BFF98-F551-4D93-849F-8BE9223A1E99}"/>
                  </a:ext>
                </a:extLst>
              </p:cNvPr>
              <p:cNvSpPr txBox="1"/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C5BFF98-F551-4D93-849F-8BE9223A1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blipFill>
                <a:blip r:embed="rId2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3C43D77-F997-4B19-850A-DFC3D53F428E}"/>
                  </a:ext>
                </a:extLst>
              </p:cNvPr>
              <p:cNvSpPr txBox="1"/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3C43D77-F997-4B19-850A-DFC3D53F4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blipFill>
                <a:blip r:embed="rId3"/>
                <a:stretch>
                  <a:fillRect l="-2222" t="-23333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282D693-1987-40B5-86C4-7A6A92095901}"/>
                  </a:ext>
                </a:extLst>
              </p:cNvPr>
              <p:cNvSpPr txBox="1"/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282D693-1987-40B5-86C4-7A6A92095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blipFill>
                <a:blip r:embed="rId4"/>
                <a:stretch>
                  <a:fillRect t="-22951" r="-30000" b="-4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0DDF1AD-29A8-4CF7-971A-258F169224EF}"/>
                  </a:ext>
                </a:extLst>
              </p:cNvPr>
              <p:cNvSpPr txBox="1"/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0DDF1AD-29A8-4CF7-971A-258F16922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blipFill>
                <a:blip r:embed="rId5"/>
                <a:stretch>
                  <a:fillRect t="-23333" r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52E1E524-B718-4866-A73A-1C4D5982FF2A}"/>
              </a:ext>
            </a:extLst>
          </p:cNvPr>
          <p:cNvCxnSpPr>
            <a:cxnSpLocks/>
          </p:cNvCxnSpPr>
          <p:nvPr/>
        </p:nvCxnSpPr>
        <p:spPr>
          <a:xfrm flipV="1">
            <a:off x="7381177" y="3257550"/>
            <a:ext cx="589343" cy="3560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Овал 110">
            <a:extLst>
              <a:ext uri="{FF2B5EF4-FFF2-40B4-BE49-F238E27FC236}">
                <a16:creationId xmlns:a16="http://schemas.microsoft.com/office/drawing/2014/main" id="{F75BBA47-BA4A-4CB8-881E-A373866E245E}"/>
              </a:ext>
            </a:extLst>
          </p:cNvPr>
          <p:cNvSpPr/>
          <p:nvPr/>
        </p:nvSpPr>
        <p:spPr>
          <a:xfrm>
            <a:off x="9963636" y="272815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Овал 111">
            <a:extLst>
              <a:ext uri="{FF2B5EF4-FFF2-40B4-BE49-F238E27FC236}">
                <a16:creationId xmlns:a16="http://schemas.microsoft.com/office/drawing/2014/main" id="{A581A626-DDD8-4ED7-A170-38E4434FD180}"/>
              </a:ext>
            </a:extLst>
          </p:cNvPr>
          <p:cNvSpPr/>
          <p:nvPr/>
        </p:nvSpPr>
        <p:spPr>
          <a:xfrm>
            <a:off x="7553630" y="549101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D56C141F-4228-42A5-8444-33FA1125144D}"/>
              </a:ext>
            </a:extLst>
          </p:cNvPr>
          <p:cNvSpPr/>
          <p:nvPr/>
        </p:nvSpPr>
        <p:spPr>
          <a:xfrm>
            <a:off x="7252969" y="3162903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F8557F4-2B88-498A-B9EE-1BF62A899DAD}"/>
                  </a:ext>
                </a:extLst>
              </p:cNvPr>
              <p:cNvSpPr txBox="1"/>
              <p:nvPr/>
            </p:nvSpPr>
            <p:spPr>
              <a:xfrm>
                <a:off x="7673075" y="2915761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F8557F4-2B88-498A-B9EE-1BF62A899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075" y="2915761"/>
                <a:ext cx="274434" cy="369332"/>
              </a:xfrm>
              <a:prstGeom prst="rect">
                <a:avLst/>
              </a:prstGeom>
              <a:blipFill>
                <a:blip r:embed="rId6"/>
                <a:stretch>
                  <a:fillRect l="-2222" t="-22951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C37D7D6-46DC-4CE8-AFAE-61F8F83C0528}"/>
                  </a:ext>
                </a:extLst>
              </p:cNvPr>
              <p:cNvSpPr txBox="1"/>
              <p:nvPr/>
            </p:nvSpPr>
            <p:spPr>
              <a:xfrm>
                <a:off x="7712083" y="3293164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C37D7D6-46DC-4CE8-AFAE-61F8F83C0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083" y="3293164"/>
                <a:ext cx="368626" cy="369332"/>
              </a:xfrm>
              <a:prstGeom prst="rect">
                <a:avLst/>
              </a:prstGeom>
              <a:blipFill>
                <a:blip r:embed="rId7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C3530988-A600-4F95-A685-ECE56A7894CC}"/>
              </a:ext>
            </a:extLst>
          </p:cNvPr>
          <p:cNvCxnSpPr>
            <a:cxnSpLocks/>
          </p:cNvCxnSpPr>
          <p:nvPr/>
        </p:nvCxnSpPr>
        <p:spPr>
          <a:xfrm>
            <a:off x="10088719" y="2822382"/>
            <a:ext cx="1682726" cy="746852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0972D9ED-CD3E-42EF-AFBB-A036BD0B3B58}"/>
              </a:ext>
            </a:extLst>
          </p:cNvPr>
          <p:cNvCxnSpPr>
            <a:cxnSpLocks/>
          </p:cNvCxnSpPr>
          <p:nvPr/>
        </p:nvCxnSpPr>
        <p:spPr>
          <a:xfrm flipH="1" flipV="1">
            <a:off x="7565106" y="5121709"/>
            <a:ext cx="670540" cy="2969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>
            <a:extLst>
              <a:ext uri="{FF2B5EF4-FFF2-40B4-BE49-F238E27FC236}">
                <a16:creationId xmlns:a16="http://schemas.microsoft.com/office/drawing/2014/main" id="{AB8D72A8-B15E-4F24-8AEA-EEE7B62FA472}"/>
              </a:ext>
            </a:extLst>
          </p:cNvPr>
          <p:cNvCxnSpPr>
            <a:cxnSpLocks/>
          </p:cNvCxnSpPr>
          <p:nvPr/>
        </p:nvCxnSpPr>
        <p:spPr>
          <a:xfrm flipH="1" flipV="1">
            <a:off x="7553630" y="5305011"/>
            <a:ext cx="669056" cy="29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единительная линия 119">
            <a:extLst>
              <a:ext uri="{FF2B5EF4-FFF2-40B4-BE49-F238E27FC236}">
                <a16:creationId xmlns:a16="http://schemas.microsoft.com/office/drawing/2014/main" id="{F443B350-96E2-49AE-994D-31B275D14E21}"/>
              </a:ext>
            </a:extLst>
          </p:cNvPr>
          <p:cNvCxnSpPr>
            <a:cxnSpLocks/>
          </p:cNvCxnSpPr>
          <p:nvPr/>
        </p:nvCxnSpPr>
        <p:spPr>
          <a:xfrm>
            <a:off x="7682215" y="5604369"/>
            <a:ext cx="464582" cy="20907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 стрелкой 132">
            <a:extLst>
              <a:ext uri="{FF2B5EF4-FFF2-40B4-BE49-F238E27FC236}">
                <a16:creationId xmlns:a16="http://schemas.microsoft.com/office/drawing/2014/main" id="{EC9ABE2E-5A95-485E-BD87-3DF5FABFB3EA}"/>
              </a:ext>
            </a:extLst>
          </p:cNvPr>
          <p:cNvCxnSpPr>
            <a:cxnSpLocks/>
          </p:cNvCxnSpPr>
          <p:nvPr/>
        </p:nvCxnSpPr>
        <p:spPr>
          <a:xfrm>
            <a:off x="9374168" y="2991677"/>
            <a:ext cx="688009" cy="308273"/>
          </a:xfrm>
          <a:prstGeom prst="straightConnector1">
            <a:avLst/>
          </a:prstGeom>
          <a:ln w="1905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>
            <a:extLst>
              <a:ext uri="{FF2B5EF4-FFF2-40B4-BE49-F238E27FC236}">
                <a16:creationId xmlns:a16="http://schemas.microsoft.com/office/drawing/2014/main" id="{2B278F38-A084-4512-BE16-D439A73C1E6E}"/>
              </a:ext>
            </a:extLst>
          </p:cNvPr>
          <p:cNvCxnSpPr>
            <a:cxnSpLocks/>
          </p:cNvCxnSpPr>
          <p:nvPr/>
        </p:nvCxnSpPr>
        <p:spPr>
          <a:xfrm flipV="1">
            <a:off x="7181970" y="3210190"/>
            <a:ext cx="589343" cy="356009"/>
          </a:xfrm>
          <a:prstGeom prst="straightConnector1">
            <a:avLst/>
          </a:prstGeom>
          <a:ln w="1905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92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i="0" u="none" strike="noStrike" baseline="0" dirty="0">
                <a:latin typeface="Calibri-Bold"/>
              </a:rPr>
              <a:t>Уравнение Т‐БМТ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99" y="2240213"/>
            <a:ext cx="11700000" cy="1760287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latin typeface="Calibri" panose="020F0502020204030204" pitchFamily="34" charset="0"/>
              </a:rPr>
              <a:t>Согласно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ru-RU" sz="1800" b="1" i="0" strike="noStrike" baseline="0" dirty="0">
                <a:latin typeface="Calibri" panose="020F0502020204030204" pitchFamily="34" charset="0"/>
              </a:rPr>
              <a:t>теореме Эренфеста</a:t>
            </a:r>
            <a:r>
              <a:rPr lang="en-US" sz="1800" dirty="0">
                <a:latin typeface="Calibri" panose="020F0502020204030204" pitchFamily="34" charset="0"/>
              </a:rPr>
              <a:t>:</a:t>
            </a:r>
            <a:r>
              <a:rPr lang="ru-RU" sz="1800" dirty="0">
                <a:latin typeface="Calibri" panose="020F0502020204030204" pitchFamily="34" charset="0"/>
              </a:rPr>
              <a:t> В квантовой механике средние значения координат и импульсов частицы, а также силы, действующей на неё, связаны между собой уравнениями, аналогичными соответствующим уравнениям классической механики</a:t>
            </a:r>
            <a:r>
              <a:rPr lang="en-US" sz="1800" dirty="0">
                <a:latin typeface="Calibri" panose="020F0502020204030204" pitchFamily="34" charset="0"/>
              </a:rPr>
              <a:t>.</a:t>
            </a:r>
            <a:endParaRPr lang="ru-RU" sz="1800" b="0" i="0" u="none" strike="noStrike" baseline="0" dirty="0">
              <a:latin typeface="Calibri" panose="020F0502020204030204" pitchFamily="34" charset="0"/>
            </a:endParaRPr>
          </a:p>
          <a:p>
            <a:pPr algn="l"/>
            <a:r>
              <a:rPr lang="ru-RU" sz="1800" dirty="0">
                <a:latin typeface="Calibri" panose="020F0502020204030204" pitchFamily="34" charset="0"/>
              </a:rPr>
              <a:t>С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пиновая динамика частиц пучка во внешних полях описывается </a:t>
            </a:r>
            <a:r>
              <a:rPr lang="ru-RU" sz="1800" b="1" i="0" strike="noStrike" baseline="0" dirty="0">
                <a:latin typeface="Calibri" panose="020F0502020204030204" pitchFamily="34" charset="0"/>
              </a:rPr>
              <a:t>уравнением Томаса‐Баргмана‐Мишеля‐Телегди</a:t>
            </a:r>
            <a:r>
              <a:rPr lang="ru-RU" sz="1800" b="0" i="0" u="sng" strike="noStrike" baseline="0" dirty="0">
                <a:latin typeface="Calibri" panose="020F0502020204030204" pitchFamily="34" charset="0"/>
              </a:rPr>
              <a:t>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(Т‐БМТ):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4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A17F03-9214-475E-8AD7-7983D1C5945E}"/>
                  </a:ext>
                </a:extLst>
              </p:cNvPr>
              <p:cNvSpPr txBox="1"/>
              <p:nvPr/>
            </p:nvSpPr>
            <p:spPr>
              <a:xfrm>
                <a:off x="2689986" y="3791407"/>
                <a:ext cx="6812025" cy="2199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MDM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EDM</m:t>
                                  </m:r>
                                </m:sub>
                              </m:sSub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MDM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&amp;=−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  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EDM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&amp;=−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A17F03-9214-475E-8AD7-7983D1C59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986" y="3791407"/>
                <a:ext cx="6812025" cy="21991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53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AC57371-6461-4A60-9BCF-7E25DED70F27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Структура с замороженным спином для протона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247834"/>
                <a:ext cx="5227699" cy="3897641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ru-RU" sz="17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Цилиндрический дефлектор:</a:t>
                </a:r>
              </a:p>
              <a:p>
                <a:pPr marL="0" indent="0" algn="l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E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(</a:t>
                </a:r>
                <a:r>
                  <a:rPr lang="el-GR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ρ</a:t>
                </a:r>
                <a:r>
                  <a:rPr lang="el-GR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) </a:t>
                </a:r>
                <a:r>
                  <a:rPr lang="el-GR" sz="17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∝ </a:t>
                </a:r>
                <a:r>
                  <a:rPr lang="el-GR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1/</a:t>
                </a:r>
                <a:r>
                  <a:rPr lang="el-GR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ρ</a:t>
                </a:r>
              </a:p>
              <a:p>
                <a:pPr marL="0" indent="0" algn="l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7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7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МВ/м</a:t>
                </a:r>
              </a:p>
              <a:p>
                <a:pPr marL="0" indent="0" algn="l">
                  <a:buNone/>
                </a:pPr>
                <a:r>
                  <a:rPr lang="ru-RU" sz="17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Изучение протона:</a:t>
                </a:r>
              </a:p>
              <a:p>
                <a:pPr marL="0" indent="0" algn="l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G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1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.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78 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&gt;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0</a:t>
                </a:r>
              </a:p>
              <a:p>
                <a:pPr marL="0" indent="0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𝑚𝑎𝑔</m:t>
                        </m:r>
                      </m:sub>
                    </m:sSub>
                  </m:oMath>
                </a14:m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233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МэВ </a:t>
                </a:r>
                <a:r>
                  <a:rPr lang="ru-RU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270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МэВ</a:t>
                </a:r>
              </a:p>
              <a:p>
                <a:pPr marL="0" indent="0" algn="l">
                  <a:buNone/>
                </a:pPr>
                <a:r>
                  <a:rPr lang="ru-RU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Чисто электростатическая структура</a:t>
                </a:r>
              </a:p>
              <a:p>
                <a:pPr marL="0" indent="0">
                  <a:buNone/>
                </a:pPr>
                <a:r>
                  <a:rPr lang="ru-RU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Изучение пучка в прямом и обратном направлении</a:t>
                </a:r>
                <a:endParaRPr lang="ru-RU" sz="1700" b="1" i="0" u="none" strike="noStrike" baseline="0" dirty="0">
                  <a:solidFill>
                    <a:srgbClr val="000000"/>
                  </a:solidFill>
                  <a:latin typeface="Calibri-Bold"/>
                </a:endParaRPr>
              </a:p>
              <a:p>
                <a:pPr marL="0" indent="0" algn="l">
                  <a:buNone/>
                </a:pPr>
                <a:r>
                  <a:rPr lang="ru-RU" sz="17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Минимальная длина электростатических дефлекторов: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375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</a:t>
                </a:r>
                <a:endParaRPr lang="ru-RU" sz="17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247834"/>
                <a:ext cx="5227699" cy="3897641"/>
              </a:xfrm>
              <a:blipFill>
                <a:blip r:embed="rId2"/>
                <a:stretch>
                  <a:fillRect l="-699" t="-12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5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6CF3D85-05D8-40B3-96F7-EC8ADE3280E0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B17301-2223-40E1-A319-2F9BF198F21B}"/>
                  </a:ext>
                </a:extLst>
              </p:cNvPr>
              <p:cNvSpPr txBox="1"/>
              <p:nvPr/>
            </p:nvSpPr>
            <p:spPr>
              <a:xfrm>
                <a:off x="6096000" y="5624210"/>
                <a:ext cx="5664201" cy="668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Длина цилиндрических дефлекторов при энергии эксперимента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B17301-2223-40E1-A319-2F9BF198F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24210"/>
                <a:ext cx="5664201" cy="668901"/>
              </a:xfrm>
              <a:prstGeom prst="rect">
                <a:avLst/>
              </a:prstGeom>
              <a:blipFill>
                <a:blip r:embed="rId3"/>
                <a:stretch>
                  <a:fillRect l="-861" t="-5505" r="-861" b="-119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6ED31AE-BCA6-5F1E-FB56-57906F9F0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910" y="2181816"/>
            <a:ext cx="5492501" cy="344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92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Структура с замороженным спином для дейтрона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396067"/>
                <a:ext cx="5850000" cy="3885933"/>
              </a:xfrm>
            </p:spPr>
            <p:txBody>
              <a:bodyPr>
                <a:noAutofit/>
              </a:bodyPr>
              <a:lstStyle/>
              <a:p>
                <a:pPr marL="0" indent="0" algn="l">
                  <a:buNone/>
                </a:pP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Изучение дейтрона:</a:t>
                </a:r>
              </a:p>
              <a:p>
                <a:pPr marL="0" indent="0" algn="l">
                  <a:buNone/>
                </a:pPr>
                <a:r>
                  <a:rPr lang="en-US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G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−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0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.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14 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&lt;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0</a:t>
                </a: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8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C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овмещённые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электрическое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и магнитное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𝑚𝑎𝑔</m:t>
                        </m:r>
                      </m:sub>
                    </m:sSub>
                  </m:oMath>
                </a14:m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270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МэВ</a:t>
                </a:r>
              </a:p>
              <a:p>
                <a:pPr marL="0" indent="0" algn="l">
                  <a:buNone/>
                </a:pP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Электростатическое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 </a:t>
                </a:r>
                <a:r>
                  <a:rPr lang="ru-RU" sz="18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⇒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 </a:t>
                </a: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Электромагнитное:</a:t>
                </a: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Уменьшение модуля напряженности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endParaRPr lang="en-US" sz="1800" b="0" i="1" u="none" strike="noStrike" baseline="0" dirty="0">
                  <a:solidFill>
                    <a:srgbClr val="000000"/>
                  </a:solidFill>
                  <a:latin typeface="Calibri-Italic"/>
                </a:endParaRP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Переключение полярности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endParaRPr lang="en-US" sz="1800" b="0" i="1" u="none" strike="noStrike" baseline="0" dirty="0">
                  <a:solidFill>
                    <a:srgbClr val="000000"/>
                  </a:solidFill>
                  <a:latin typeface="Calibri-Italic"/>
                </a:endParaRP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Добавление однородного поля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endParaRPr lang="en-US" sz="1800" b="0" i="1" u="none" strike="noStrike" baseline="0" dirty="0">
                  <a:solidFill>
                    <a:srgbClr val="000000"/>
                  </a:solidFill>
                  <a:latin typeface="Calibri-Italic"/>
                </a:endParaRPr>
              </a:p>
              <a:p>
                <a:pPr marL="0" indent="0" algn="l">
                  <a:buNone/>
                </a:pP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Минимальная длина цилиндрических </a:t>
                </a:r>
                <a:b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</a:b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E+B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 </a:t>
                </a: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элементов: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ru-RU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96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</a:t>
                </a: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396067"/>
                <a:ext cx="5850000" cy="3885933"/>
              </a:xfrm>
              <a:blipFill>
                <a:blip r:embed="rId2"/>
                <a:stretch>
                  <a:fillRect l="-833" t="-1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6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D664B4-C84A-4811-A143-28EE3757DBF1}"/>
                  </a:ext>
                </a:extLst>
              </p:cNvPr>
              <p:cNvSpPr txBox="1"/>
              <p:nvPr/>
            </p:nvSpPr>
            <p:spPr>
              <a:xfrm>
                <a:off x="6527799" y="5551109"/>
                <a:ext cx="566420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Длина цилиндрических дефлекторов при максимальной энергии эксперимента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b="0" i="0" u="none" strike="noStrike" baseline="0" dirty="0">
                    <a:latin typeface="CMR8"/>
                  </a:rPr>
                  <a:t>= 270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МэВ</a:t>
                </a:r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D664B4-C84A-4811-A143-28EE3757D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9" y="5551109"/>
                <a:ext cx="5664201" cy="646331"/>
              </a:xfrm>
              <a:prstGeom prst="rect">
                <a:avLst/>
              </a:prstGeom>
              <a:blipFill>
                <a:blip r:embed="rId3"/>
                <a:stretch>
                  <a:fillRect l="-969" t="-5660" r="-861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18ED58E-3EE1-DD04-B02A-F25791592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001" y="2242070"/>
            <a:ext cx="5279728" cy="330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9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Направляющие поля в замороженной структуре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300697"/>
                <a:ext cx="4874639" cy="3749405"/>
              </a:xfrm>
            </p:spPr>
            <p:txBody>
              <a:bodyPr>
                <a:normAutofit/>
              </a:bodyPr>
              <a:lstStyle/>
              <a:p>
                <a:r>
                  <a:rPr lang="ru-RU" sz="1800" b="1" dirty="0">
                    <a:latin typeface="Calibri" panose="020F0502020204030204" pitchFamily="34" charset="0"/>
                  </a:rPr>
                  <a:t>Условие замороженности спина</a:t>
                </a:r>
                <a:r>
                  <a:rPr lang="en-US" sz="1800" dirty="0">
                    <a:latin typeface="Calibri" panose="020F0502020204030204" pitchFamily="34" charset="0"/>
                  </a:rPr>
                  <a:t>: </a:t>
                </a:r>
                <a:r>
                  <a:rPr lang="ru-RU" sz="1800" dirty="0">
                    <a:latin typeface="Calibri" panose="020F0502020204030204" pitchFamily="34" charset="0"/>
                  </a:rPr>
                  <a:t>равенство нулю относительной скорости МДМ прецессии</a:t>
                </a:r>
                <a:endParaRPr lang="en-US" sz="1800" dirty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Отношение угловых скоростей </a:t>
                </a:r>
                <a:r>
                  <a:rPr lang="ru-RU" sz="1800" dirty="0">
                    <a:latin typeface="Calibri" panose="020F0502020204030204" pitchFamily="34" charset="0"/>
                  </a:rPr>
                  <a:t>орбитального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вращения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Отношение угловых скоростей спиновой прецессии</a:t>
                </a:r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−1)(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lv-LV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lv-LV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den>
                      </m:f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ru-RU" sz="1800" b="0" i="1" u="none" strike="noStrike" baseline="0" dirty="0">
                  <a:latin typeface="Calibri-Italic"/>
                </a:endParaRPr>
              </a:p>
              <a:p>
                <a:pPr marL="0" indent="0" algn="l">
                  <a:buNone/>
                </a:pPr>
                <a:endParaRPr lang="ru-RU" sz="1800" b="0" i="1" u="none" strike="noStrike" baseline="0" dirty="0">
                  <a:latin typeface="Calibri-Italic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300697"/>
                <a:ext cx="4874639" cy="3749405"/>
              </a:xfrm>
              <a:blipFill>
                <a:blip r:embed="rId2"/>
                <a:stretch>
                  <a:fillRect l="-750" t="-1463" r="-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7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154665A-ACE7-4927-74FF-D3E9F7097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305" y="2604458"/>
            <a:ext cx="3368228" cy="25622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EA6D01-C50F-AF89-59DB-9896143C27B2}"/>
              </a:ext>
            </a:extLst>
          </p:cNvPr>
          <p:cNvSpPr txBox="1"/>
          <p:nvPr/>
        </p:nvSpPr>
        <p:spPr>
          <a:xfrm>
            <a:off x="5209149" y="4785727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а)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62FF58F-A5DB-C728-6ADD-42353B978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349" y="2594739"/>
            <a:ext cx="3579651" cy="25603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EDD8F4-D52A-A5B1-9CFA-79EE789D8EB5}"/>
              </a:ext>
            </a:extLst>
          </p:cNvPr>
          <p:cNvSpPr txBox="1"/>
          <p:nvPr/>
        </p:nvSpPr>
        <p:spPr>
          <a:xfrm>
            <a:off x="8796565" y="479738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8048A9-4E3F-33DB-B1CD-9683C36E40E9}"/>
              </a:ext>
            </a:extLst>
          </p:cNvPr>
          <p:cNvSpPr txBox="1"/>
          <p:nvPr/>
        </p:nvSpPr>
        <p:spPr>
          <a:xfrm>
            <a:off x="5671727" y="5204695"/>
            <a:ext cx="5997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Отношение угловых скоростей </a:t>
            </a:r>
            <a:r>
              <a:rPr lang="en-US" dirty="0"/>
              <a:t>a) </a:t>
            </a:r>
            <a:r>
              <a:rPr lang="ru-RU" dirty="0"/>
              <a:t>орбитального вращения б) спиновой прецессии в полях </a:t>
            </a:r>
            <a:r>
              <a:rPr lang="en-US" dirty="0"/>
              <a:t>E+B </a:t>
            </a:r>
            <a:r>
              <a:rPr lang="ru-RU" dirty="0"/>
              <a:t>элемента</a:t>
            </a:r>
          </a:p>
        </p:txBody>
      </p:sp>
    </p:spTree>
    <p:extLst>
      <p:ext uri="{BB962C8B-B14F-4D97-AF65-F5344CB8AC3E}">
        <p14:creationId xmlns:p14="http://schemas.microsoft.com/office/powerpoint/2010/main" val="66054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Нелинейности поля цилиндрических дефлекторов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490" y="2396067"/>
                <a:ext cx="11995355" cy="3476289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Смещение </a:t>
                </a:r>
                <a:r>
                  <a:rPr lang="ru-RU" sz="1800" b="0" i="1" u="none" strike="noStrike" baseline="0" dirty="0">
                    <a:latin typeface="Calibri-Italic"/>
                  </a:rPr>
                  <a:t>x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частиц пучка относительно центральной орбиты </a:t>
                </a:r>
                <a:r>
                  <a:rPr lang="ru-RU" sz="1800" b="0" i="1" u="none" strike="noStrike" baseline="0" dirty="0">
                    <a:latin typeface="CMMI9"/>
                  </a:rPr>
                  <a:t>ρ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приводит к возникновению нелинейного воздействия поля электростатических дефлекторов. При </a:t>
                </a:r>
                <a:r>
                  <a:rPr lang="ru-RU" sz="1800" b="0" i="1" u="none" strike="noStrike" baseline="0" dirty="0">
                    <a:latin typeface="Calibri-Italic"/>
                  </a:rPr>
                  <a:t>x </a:t>
                </a:r>
                <a:r>
                  <a:rPr lang="ru-RU" sz="1800" b="0" i="1" u="none" strike="noStrike" baseline="0" dirty="0">
                    <a:latin typeface="CMSY9"/>
                  </a:rPr>
                  <a:t>≪ </a:t>
                </a:r>
                <a:r>
                  <a:rPr lang="ru-RU" sz="1800" b="0" i="1" u="none" strike="noStrike" baseline="0" dirty="0">
                    <a:latin typeface="CMMI9"/>
                  </a:rPr>
                  <a:t>ρ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:</a:t>
                </a:r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pPr marL="0" indent="0" algn="l">
                  <a:buNone/>
                </a:pPr>
                <a:endParaRPr lang="ru-RU" sz="1800" b="0" i="0" u="none" strike="noStrike" baseline="0" dirty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baseline="0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600" b="0" i="1" u="none" strike="noStrike" baseline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b="0" i="1" u="none" strike="noStrike" baseline="0" dirty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ru-RU" sz="1600" b="0" i="1" u="none" strike="noStrike" baseline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𝜅</m:t>
                          </m:r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</a:rPr>
                        <m:t>∙(1−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ru-RU" sz="1600" i="1">
                          <a:latin typeface="Cambria Math" panose="02040503050406030204" pitchFamily="18" charset="0"/>
                        </a:rPr>
                        <m:t>+…</m:t>
                      </m:r>
                      <m:r>
                        <m:rPr>
                          <m:nor/>
                        </m:rPr>
                        <a:rPr lang="ru-RU" sz="1600"/>
                        <m:t> )</m:t>
                      </m:r>
                    </m:oMath>
                  </m:oMathPara>
                </a14:m>
                <a:endParaRPr lang="ru-RU" sz="1800" dirty="0">
                  <a:latin typeface="CMR9"/>
                </a:endParaRPr>
              </a:p>
              <a:p>
                <a:pPr marL="0" indent="0" algn="l">
                  <a:buNone/>
                </a:pP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Влияние нелинейностей наиболее существенно в компактном кольце.</a:t>
                </a:r>
                <a:endParaRPr lang="ru-RU" sz="18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90" y="2396067"/>
                <a:ext cx="11995355" cy="3476289"/>
              </a:xfrm>
              <a:blipFill>
                <a:blip r:embed="rId2"/>
                <a:stretch>
                  <a:fillRect l="-458" t="-15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8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84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 fontScale="90000"/>
          </a:bodyPr>
          <a:lstStyle/>
          <a:p>
            <a:r>
              <a:rPr lang="ru-RU" sz="3600" b="1" i="0" u="none" strike="noStrike" baseline="0" dirty="0">
                <a:latin typeface="Calibri-Bold"/>
              </a:rPr>
              <a:t>Основные параметры структуры с замороженным спином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Объект 9">
                <a:extLst>
                  <a:ext uri="{FF2B5EF4-FFF2-40B4-BE49-F238E27FC236}">
                    <a16:creationId xmlns:a16="http://schemas.microsoft.com/office/drawing/2014/main" id="{12058C4C-3374-4D76-801C-A34473087A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33833768"/>
                  </p:ext>
                </p:extLst>
              </p:nvPr>
            </p:nvGraphicFramePr>
            <p:xfrm>
              <a:off x="246000" y="2472289"/>
              <a:ext cx="11700001" cy="35109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14035">
                      <a:extLst>
                        <a:ext uri="{9D8B030D-6E8A-4147-A177-3AD203B41FA5}">
                          <a16:colId xmlns:a16="http://schemas.microsoft.com/office/drawing/2014/main" val="2515539910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658501237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571618135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1543874154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4114136204"/>
                        </a:ext>
                      </a:extLst>
                    </a:gridCol>
                  </a:tblGrid>
                  <a:tr h="925426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𝐹𝑆</m:t>
                                </m:r>
                              </m:oMath>
                            </m:oMathPara>
                          </a14:m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𝐹</m:t>
                                </m:r>
                                <m:sSub>
                                  <m:sSub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cmp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1517995"/>
                      </a:ext>
                    </a:extLst>
                  </a:tr>
                  <a:tr h="45207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956005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233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654524"/>
                      </a:ext>
                    </a:extLst>
                  </a:tr>
                  <a:tr h="52455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1.250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4459020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МВ/м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-1.78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344291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Тл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0.020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0.274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719619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</a:t>
                          </a: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0658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Объект 9">
                <a:extLst>
                  <a:ext uri="{FF2B5EF4-FFF2-40B4-BE49-F238E27FC236}">
                    <a16:creationId xmlns:a16="http://schemas.microsoft.com/office/drawing/2014/main" id="{12058C4C-3374-4D76-801C-A34473087A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33833768"/>
                  </p:ext>
                </p:extLst>
              </p:nvPr>
            </p:nvGraphicFramePr>
            <p:xfrm>
              <a:off x="246000" y="2472289"/>
              <a:ext cx="11700001" cy="35109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14035">
                      <a:extLst>
                        <a:ext uri="{9D8B030D-6E8A-4147-A177-3AD203B41FA5}">
                          <a16:colId xmlns:a16="http://schemas.microsoft.com/office/drawing/2014/main" val="2515539910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658501237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571618135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1543874154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4114136204"/>
                        </a:ext>
                      </a:extLst>
                    </a:gridCol>
                  </a:tblGrid>
                  <a:tr h="925426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8271" t="-658" r="-95432" b="-2881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9503" t="-658" r="-343" b="-2881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1517995"/>
                      </a:ext>
                    </a:extLst>
                  </a:tr>
                  <a:tr h="45207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956005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233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654524"/>
                      </a:ext>
                    </a:extLst>
                  </a:tr>
                  <a:tr h="524557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8" t="-336782" r="-165470" b="-242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1.250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4459020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8" t="-575758" r="-165470" b="-2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-1.78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344291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8" t="-675758" r="-165470" b="-1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0.020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0.274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719619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</a:t>
                          </a: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0658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9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31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7877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Метод квази‐замороженного спина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396068"/>
            <a:ext cx="5281040" cy="3657600"/>
          </a:xfrm>
        </p:spPr>
        <p:txBody>
          <a:bodyPr>
            <a:normAutofit/>
          </a:bodyPr>
          <a:lstStyle/>
          <a:p>
            <a:pPr algn="just"/>
            <a:r>
              <a:rPr lang="ru-RU" sz="1800" b="1" i="0" u="none" strike="noStrike" baseline="0" dirty="0">
                <a:latin typeface="Calibri-Bold"/>
              </a:rPr>
              <a:t>Метод “квази‐замороженного’’ спина (</a:t>
            </a:r>
            <a:r>
              <a:rPr lang="ru-RU" sz="1800" b="1" i="0" u="none" strike="noStrike" baseline="0" dirty="0" err="1">
                <a:latin typeface="Calibri-Bold"/>
              </a:rPr>
              <a:t>Quasi</a:t>
            </a:r>
            <a:r>
              <a:rPr lang="ru-RU" sz="1800" b="1" i="0" u="none" strike="noStrike" baseline="0" dirty="0">
                <a:latin typeface="Calibri-Bold"/>
              </a:rPr>
              <a:t> Frozen Spin ‐ QFS)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предполагает периодическое восстановление сонаправленности спин‐вектора и вектора импульса с помощью компенсирующих элементов, позволяя адаптировать чисто магнитные установки для экспериментов по измерению ЭДМ заряженных частиц.</a:t>
            </a:r>
          </a:p>
          <a:p>
            <a:pPr algn="just"/>
            <a:r>
              <a:rPr lang="ru-RU" sz="1800" b="1" i="0" u="none" strike="noStrike" baseline="0" dirty="0">
                <a:latin typeface="Calibri-Bold"/>
              </a:rPr>
              <a:t>Прямые фильтры Вина (ВФ)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являются наиболее оптимальными компенсирующими элементами для применения в структуре с квази‐замороженным спином.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200" y="6356350"/>
            <a:ext cx="2743200" cy="365125"/>
          </a:xfrm>
        </p:spPr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10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8C040403-E3EA-41F4-B8AE-30293B029346}"/>
              </a:ext>
            </a:extLst>
          </p:cNvPr>
          <p:cNvSpPr txBox="1">
            <a:spLocks/>
          </p:cNvSpPr>
          <p:nvPr/>
        </p:nvSpPr>
        <p:spPr>
          <a:xfrm>
            <a:off x="8339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pPr/>
              <a:t>10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1" name="Дуга 50">
            <a:extLst>
              <a:ext uri="{FF2B5EF4-FFF2-40B4-BE49-F238E27FC236}">
                <a16:creationId xmlns:a16="http://schemas.microsoft.com/office/drawing/2014/main" id="{931061CF-F2F5-46A2-83B2-216279141D22}"/>
              </a:ext>
            </a:extLst>
          </p:cNvPr>
          <p:cNvSpPr/>
          <p:nvPr/>
        </p:nvSpPr>
        <p:spPr>
          <a:xfrm>
            <a:off x="6725591" y="2695693"/>
            <a:ext cx="4875859" cy="3242931"/>
          </a:xfrm>
          <a:prstGeom prst="arc">
            <a:avLst>
              <a:gd name="adj1" fmla="val 8526041"/>
              <a:gd name="adj2" fmla="val 1796907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B2CEA48B-15E9-4A2E-B342-93F261012557}"/>
              </a:ext>
            </a:extLst>
          </p:cNvPr>
          <p:cNvCxnSpPr>
            <a:cxnSpLocks/>
          </p:cNvCxnSpPr>
          <p:nvPr/>
        </p:nvCxnSpPr>
        <p:spPr>
          <a:xfrm>
            <a:off x="9366795" y="3160547"/>
            <a:ext cx="688009" cy="3082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C3667780-9A0D-4870-B9DE-BB604842E9B3}"/>
              </a:ext>
            </a:extLst>
          </p:cNvPr>
          <p:cNvCxnSpPr>
            <a:cxnSpLocks/>
          </p:cNvCxnSpPr>
          <p:nvPr/>
        </p:nvCxnSpPr>
        <p:spPr>
          <a:xfrm>
            <a:off x="9366794" y="3160547"/>
            <a:ext cx="740842" cy="1297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0413B4-382B-447A-8360-EA387E57A84E}"/>
                  </a:ext>
                </a:extLst>
              </p:cNvPr>
              <p:cNvSpPr txBox="1"/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0413B4-382B-447A-8360-EA387E57A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blipFill>
                <a:blip r:embed="rId2"/>
                <a:stretch>
                  <a:fillRect t="-22951" r="-30000" b="-4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F8BBDB-5D53-4796-B0D6-B399A00EAEB2}"/>
                  </a:ext>
                </a:extLst>
              </p:cNvPr>
              <p:cNvSpPr txBox="1"/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F8BBDB-5D53-4796-B0D6-B399A00EA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blipFill>
                <a:blip r:embed="rId3"/>
                <a:stretch>
                  <a:fillRect t="-23333" r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0778AC0B-FEAC-4653-AE56-3F02087555E2}"/>
              </a:ext>
            </a:extLst>
          </p:cNvPr>
          <p:cNvCxnSpPr>
            <a:cxnSpLocks/>
          </p:cNvCxnSpPr>
          <p:nvPr/>
        </p:nvCxnSpPr>
        <p:spPr>
          <a:xfrm flipV="1">
            <a:off x="7381177" y="3257550"/>
            <a:ext cx="589343" cy="3560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Овал 58">
            <a:extLst>
              <a:ext uri="{FF2B5EF4-FFF2-40B4-BE49-F238E27FC236}">
                <a16:creationId xmlns:a16="http://schemas.microsoft.com/office/drawing/2014/main" id="{0D8B1E95-5B55-41C9-B5F1-94215B19624C}"/>
              </a:ext>
            </a:extLst>
          </p:cNvPr>
          <p:cNvSpPr/>
          <p:nvPr/>
        </p:nvSpPr>
        <p:spPr>
          <a:xfrm>
            <a:off x="9963636" y="272815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E33A6078-3769-4CD4-BC4B-B0AF1015C20E}"/>
              </a:ext>
            </a:extLst>
          </p:cNvPr>
          <p:cNvSpPr/>
          <p:nvPr/>
        </p:nvSpPr>
        <p:spPr>
          <a:xfrm>
            <a:off x="7553630" y="549101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D233AA5C-A857-4578-B3E8-F71000B6F66E}"/>
              </a:ext>
            </a:extLst>
          </p:cNvPr>
          <p:cNvSpPr/>
          <p:nvPr/>
        </p:nvSpPr>
        <p:spPr>
          <a:xfrm>
            <a:off x="7252969" y="3162903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AEBE9842-0718-4CE3-8C17-80A4D20709DF}"/>
              </a:ext>
            </a:extLst>
          </p:cNvPr>
          <p:cNvCxnSpPr>
            <a:cxnSpLocks/>
          </p:cNvCxnSpPr>
          <p:nvPr/>
        </p:nvCxnSpPr>
        <p:spPr>
          <a:xfrm flipV="1">
            <a:off x="7381177" y="3177540"/>
            <a:ext cx="526478" cy="436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7EF809-A013-4573-9179-1C7F502D6397}"/>
                  </a:ext>
                </a:extLst>
              </p:cNvPr>
              <p:cNvSpPr txBox="1"/>
              <p:nvPr/>
            </p:nvSpPr>
            <p:spPr>
              <a:xfrm>
                <a:off x="7595897" y="2960948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7EF809-A013-4573-9179-1C7F502D6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897" y="2960948"/>
                <a:ext cx="274434" cy="369332"/>
              </a:xfrm>
              <a:prstGeom prst="rect">
                <a:avLst/>
              </a:prstGeom>
              <a:blipFill>
                <a:blip r:embed="rId4"/>
                <a:stretch>
                  <a:fillRect t="-23333" r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BE2AE52-E806-4236-A8D9-9367F16F43ED}"/>
                  </a:ext>
                </a:extLst>
              </p:cNvPr>
              <p:cNvSpPr txBox="1"/>
              <p:nvPr/>
            </p:nvSpPr>
            <p:spPr>
              <a:xfrm>
                <a:off x="7730480" y="3274692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BE2AE52-E806-4236-A8D9-9367F16F4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480" y="3274692"/>
                <a:ext cx="368626" cy="369332"/>
              </a:xfrm>
              <a:prstGeom prst="rect">
                <a:avLst/>
              </a:prstGeom>
              <a:blipFill>
                <a:blip r:embed="rId5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86745347-B41C-4367-BCD3-499A83B2CA2B}"/>
              </a:ext>
            </a:extLst>
          </p:cNvPr>
          <p:cNvCxnSpPr>
            <a:cxnSpLocks/>
          </p:cNvCxnSpPr>
          <p:nvPr/>
        </p:nvCxnSpPr>
        <p:spPr>
          <a:xfrm>
            <a:off x="10088719" y="2822382"/>
            <a:ext cx="1682726" cy="746852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F59BF897-DE36-4F7B-A710-F92114B472CE}"/>
              </a:ext>
            </a:extLst>
          </p:cNvPr>
          <p:cNvCxnSpPr>
            <a:cxnSpLocks/>
          </p:cNvCxnSpPr>
          <p:nvPr/>
        </p:nvCxnSpPr>
        <p:spPr>
          <a:xfrm>
            <a:off x="7682215" y="5604369"/>
            <a:ext cx="464582" cy="20907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1499BDC-98A8-45BF-BF8E-A935DB20A5F3}"/>
                  </a:ext>
                </a:extLst>
              </p:cNvPr>
              <p:cNvSpPr txBox="1"/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1499BDC-98A8-45BF-BF8E-A935DB20A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blipFill>
                <a:blip r:embed="rId6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AFD82BB-4273-42E1-9FEA-5381F77617F0}"/>
                  </a:ext>
                </a:extLst>
              </p:cNvPr>
              <p:cNvSpPr txBox="1"/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AFD82BB-4273-42E1-9FEA-5381F7761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blipFill>
                <a:blip r:embed="rId7"/>
                <a:stretch>
                  <a:fillRect l="-2222" t="-23333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B0BEB633-4A16-47E3-8679-8F0A691B26C6}"/>
              </a:ext>
            </a:extLst>
          </p:cNvPr>
          <p:cNvCxnSpPr>
            <a:cxnSpLocks/>
          </p:cNvCxnSpPr>
          <p:nvPr/>
        </p:nvCxnSpPr>
        <p:spPr>
          <a:xfrm flipH="1" flipV="1">
            <a:off x="7565106" y="5121709"/>
            <a:ext cx="670540" cy="2969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F179FA5E-69CB-4A9A-A450-1C94149DBB34}"/>
              </a:ext>
            </a:extLst>
          </p:cNvPr>
          <p:cNvCxnSpPr>
            <a:cxnSpLocks/>
          </p:cNvCxnSpPr>
          <p:nvPr/>
        </p:nvCxnSpPr>
        <p:spPr>
          <a:xfrm flipH="1" flipV="1">
            <a:off x="7553630" y="5305011"/>
            <a:ext cx="669056" cy="29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FEBE58CE-EACB-42D5-B867-54603B241404}"/>
              </a:ext>
            </a:extLst>
          </p:cNvPr>
          <p:cNvCxnSpPr>
            <a:cxnSpLocks/>
          </p:cNvCxnSpPr>
          <p:nvPr/>
        </p:nvCxnSpPr>
        <p:spPr>
          <a:xfrm>
            <a:off x="10869291" y="3851143"/>
            <a:ext cx="688009" cy="3082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3E23D92-D8FE-46D0-82BB-7463C21987C6}"/>
                  </a:ext>
                </a:extLst>
              </p:cNvPr>
              <p:cNvSpPr txBox="1"/>
              <p:nvPr/>
            </p:nvSpPr>
            <p:spPr>
              <a:xfrm>
                <a:off x="11169506" y="4067566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3E23D92-D8FE-46D0-82BB-7463C2198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9506" y="4067566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7B381A5-13E0-4A8D-8007-5B200CBF5470}"/>
                  </a:ext>
                </a:extLst>
              </p:cNvPr>
              <p:cNvSpPr txBox="1"/>
              <p:nvPr/>
            </p:nvSpPr>
            <p:spPr>
              <a:xfrm>
                <a:off x="11453998" y="3595956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7B381A5-13E0-4A8D-8007-5B200CBF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3998" y="3595956"/>
                <a:ext cx="274434" cy="369332"/>
              </a:xfrm>
              <a:prstGeom prst="rect">
                <a:avLst/>
              </a:prstGeom>
              <a:blipFill>
                <a:blip r:embed="rId9"/>
                <a:stretch>
                  <a:fillRect l="-2222" t="-23333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Прямая со стрелкой 105">
            <a:extLst>
              <a:ext uri="{FF2B5EF4-FFF2-40B4-BE49-F238E27FC236}">
                <a16:creationId xmlns:a16="http://schemas.microsoft.com/office/drawing/2014/main" id="{E56EBF9B-CDED-4A63-8646-49F854D2466C}"/>
              </a:ext>
            </a:extLst>
          </p:cNvPr>
          <p:cNvCxnSpPr>
            <a:cxnSpLocks/>
          </p:cNvCxnSpPr>
          <p:nvPr/>
        </p:nvCxnSpPr>
        <p:spPr>
          <a:xfrm>
            <a:off x="10876664" y="3682273"/>
            <a:ext cx="688009" cy="308273"/>
          </a:xfrm>
          <a:prstGeom prst="straightConnector1">
            <a:avLst/>
          </a:prstGeom>
          <a:ln w="1905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745533FC-6094-4D5A-BC35-86758AE711B0}"/>
              </a:ext>
            </a:extLst>
          </p:cNvPr>
          <p:cNvSpPr/>
          <p:nvPr/>
        </p:nvSpPr>
        <p:spPr>
          <a:xfrm rot="10448490">
            <a:off x="10580472" y="2853409"/>
            <a:ext cx="624008" cy="314029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/>
            </a:solidFill>
          </a:ln>
          <a:scene3d>
            <a:camera prst="isometricBottomDown">
              <a:rot lat="2611709" lon="18945418" rev="17712524"/>
            </a:camera>
            <a:lightRig rig="threePt" dir="t"/>
          </a:scene3d>
          <a:sp3d z="19050" extrusionH="336550" contourW="31750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1" name="Прямая соединительная линия 110">
            <a:extLst>
              <a:ext uri="{FF2B5EF4-FFF2-40B4-BE49-F238E27FC236}">
                <a16:creationId xmlns:a16="http://schemas.microsoft.com/office/drawing/2014/main" id="{031546E9-7314-42A0-99D6-986C07682C21}"/>
              </a:ext>
            </a:extLst>
          </p:cNvPr>
          <p:cNvCxnSpPr>
            <a:cxnSpLocks/>
          </p:cNvCxnSpPr>
          <p:nvPr/>
        </p:nvCxnSpPr>
        <p:spPr>
          <a:xfrm>
            <a:off x="11153826" y="3291013"/>
            <a:ext cx="464582" cy="20907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D393A42-E7EB-4B12-BC33-2DDA61200197}"/>
              </a:ext>
            </a:extLst>
          </p:cNvPr>
          <p:cNvSpPr txBox="1"/>
          <p:nvPr/>
        </p:nvSpPr>
        <p:spPr>
          <a:xfrm>
            <a:off x="10353346" y="2349417"/>
            <a:ext cx="1333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Прямые ВФ</a:t>
            </a:r>
          </a:p>
        </p:txBody>
      </p:sp>
    </p:spTree>
    <p:extLst>
      <p:ext uri="{BB962C8B-B14F-4D97-AF65-F5344CB8AC3E}">
        <p14:creationId xmlns:p14="http://schemas.microsoft.com/office/powerpoint/2010/main" val="35669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Calibri-Bold"/>
                <a:cs typeface="Calibri Bold" panose="020F0702030404030204" pitchFamily="34" charset="0"/>
              </a:rPr>
              <a:t>Свойства прямого фильтра Вина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161" y="3483218"/>
                <a:ext cx="4854320" cy="2639676"/>
              </a:xfrm>
            </p:spPr>
            <p:txBody>
              <a:bodyPr>
                <a:normAutofit/>
              </a:bodyPr>
              <a:lstStyle/>
              <a:p>
                <a:r>
                  <a:rPr lang="ru-RU" sz="1800" dirty="0">
                    <a:latin typeface="Calibri" panose="020F0502020204030204" pitchFamily="34" charset="0"/>
                  </a:rPr>
                  <a:t>Сила Лоренца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b="0" i="1" u="none" strike="noStrike" baseline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baseline="0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u="none" strike="noStrike" baseline="0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acc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( 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[ 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1800" b="0" i="1" u="none" strike="noStrike" baseline="0" dirty="0">
                        <a:latin typeface="Cambria Math" panose="02040503050406030204" pitchFamily="18" charset="0"/>
                      </a:rPr>
                      <m:t>]) = 0</m:t>
                    </m:r>
                  </m:oMath>
                </a14:m>
                <a:endParaRPr lang="ru-RU" sz="1800" b="0" i="0" u="none" strike="noStrike" baseline="0" dirty="0">
                  <a:latin typeface="CMR10"/>
                </a:endParaRPr>
              </a:p>
              <a:p>
                <a:pPr marL="0" indent="0">
                  <a:buNone/>
                </a:pPr>
                <a:r>
                  <a:rPr lang="ru-RU" sz="1800" i="1" dirty="0">
                    <a:latin typeface="CMMI10"/>
                  </a:rPr>
                  <a:t>То есть </a:t>
                </a:r>
                <a14:m>
                  <m:oMath xmlns:m="http://schemas.openxmlformats.org/officeDocument/2006/math">
                    <m:r>
                      <a:rPr lang="ru-RU" sz="1800" b="0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800" b="0" i="0" u="none" strike="noStrike" baseline="0" dirty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US" sz="1800" b="0" i="1" u="none" strike="noStrike" baseline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800" b="0" i="0" u="none" strike="noStrike" baseline="0" dirty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  <m:r>
                      <a:rPr lang="ru-RU" sz="1800" b="0" i="1" u="none" strike="noStrike" baseline="0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ru-RU" sz="1800" i="1" dirty="0">
                  <a:latin typeface="CMMI10"/>
                </a:endParaRPr>
              </a:p>
              <a:p>
                <a:endParaRPr lang="ru-RU" sz="1800" b="0" i="0" u="none" strike="noStrike" baseline="0" dirty="0">
                  <a:latin typeface="Calibri" panose="020F0502020204030204" pitchFamily="34" charset="0"/>
                </a:endParaRPr>
              </a:p>
              <a:p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Прямые электроды позволяют</a:t>
                </a:r>
                <a:r>
                  <a:rPr lang="ru-RU" sz="1800" dirty="0">
                    <a:latin typeface="Calibri" panose="020F0502020204030204" pitchFamily="34" charset="0"/>
                  </a:rPr>
                  <a:t>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избежать нелинейности орбитального движения</a:t>
                </a:r>
              </a:p>
              <a:p>
                <a:r>
                  <a:rPr lang="ru-RU" sz="1800" dirty="0">
                    <a:latin typeface="Calibri" panose="020F0502020204030204" pitchFamily="34" charset="0"/>
                  </a:rPr>
                  <a:t>П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ростое технологическое устройство ВФ позволяет достигать предельных значений напряженности электрического пол</a:t>
                </a:r>
                <a:r>
                  <a:rPr lang="ru-RU" sz="1800" dirty="0">
                    <a:latin typeface="Calibri" panose="020F0502020204030204" pitchFamily="34" charset="0"/>
                  </a:rPr>
                  <a:t>я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161" y="3483218"/>
                <a:ext cx="4854320" cy="2639676"/>
              </a:xfrm>
              <a:blipFill>
                <a:blip r:embed="rId2"/>
                <a:stretch>
                  <a:fillRect l="-1004" t="-4619" b="-3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11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10903A-9D9A-44C3-B8F8-E1816C3E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00" y="2240213"/>
            <a:ext cx="4854320" cy="964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706584-F575-409D-AC06-27A963CA53D5}"/>
                  </a:ext>
                </a:extLst>
              </p:cNvPr>
              <p:cNvSpPr txBox="1"/>
              <p:nvPr/>
            </p:nvSpPr>
            <p:spPr>
              <a:xfrm>
                <a:off x="5507801" y="2256504"/>
                <a:ext cx="6438199" cy="1078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l">
                  <a:buNone/>
                </a:pPr>
                <a:r>
                  <a:rPr lang="ru-RU" dirty="0">
                    <a:latin typeface="Calibri" panose="020F0502020204030204" pitchFamily="34" charset="0"/>
                  </a:rPr>
                  <a:t>О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тношение угловых скоростей прецессии в полях ВФ</a:t>
                </a:r>
                <a:endParaRPr lang="ru-RU" sz="18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𝑊𝐹</m:t>
                          </m:r>
                        </m:sub>
                      </m:sSub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706584-F575-409D-AC06-27A963CA5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801" y="2256504"/>
                <a:ext cx="6438199" cy="1078565"/>
              </a:xfrm>
              <a:prstGeom prst="rect">
                <a:avLst/>
              </a:prstGeom>
              <a:blipFill>
                <a:blip r:embed="rId4"/>
                <a:stretch>
                  <a:fillRect l="-852" t="-28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4BF85A-3FE4-291B-92C7-48D5CF10F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075" y="3391671"/>
            <a:ext cx="3937649" cy="289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FFE2C1D-15BC-43E3-9086-9B948A17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0" y="2739441"/>
            <a:ext cx="5898261" cy="342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3C84C5-9BCC-4DF5-A405-28C663C9E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44247"/>
            <a:ext cx="5751824" cy="342000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-Bold"/>
              </a:rPr>
              <a:t>Эффективность накопления ЭДМ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12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Дуга 93">
            <a:extLst>
              <a:ext uri="{FF2B5EF4-FFF2-40B4-BE49-F238E27FC236}">
                <a16:creationId xmlns:a16="http://schemas.microsoft.com/office/drawing/2014/main" id="{A2CCC665-6692-4187-AC54-90DE852C438A}"/>
              </a:ext>
            </a:extLst>
          </p:cNvPr>
          <p:cNvSpPr/>
          <p:nvPr/>
        </p:nvSpPr>
        <p:spPr>
          <a:xfrm>
            <a:off x="1864488" y="2895588"/>
            <a:ext cx="2249424" cy="2551488"/>
          </a:xfrm>
          <a:prstGeom prst="arc">
            <a:avLst>
              <a:gd name="adj1" fmla="val 1990181"/>
              <a:gd name="adj2" fmla="val 251448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DDAE4878-DEC5-45E2-8144-5207FA579F14}"/>
              </a:ext>
            </a:extLst>
          </p:cNvPr>
          <p:cNvCxnSpPr>
            <a:cxnSpLocks/>
            <a:stCxn id="94" idx="2"/>
          </p:cNvCxnSpPr>
          <p:nvPr/>
        </p:nvCxnSpPr>
        <p:spPr>
          <a:xfrm flipH="1">
            <a:off x="3838361" y="4962935"/>
            <a:ext cx="32843" cy="52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Дуга 113">
            <a:extLst>
              <a:ext uri="{FF2B5EF4-FFF2-40B4-BE49-F238E27FC236}">
                <a16:creationId xmlns:a16="http://schemas.microsoft.com/office/drawing/2014/main" id="{7B8648C7-BB79-4F2B-8B53-A5713F8996C9}"/>
              </a:ext>
            </a:extLst>
          </p:cNvPr>
          <p:cNvSpPr/>
          <p:nvPr/>
        </p:nvSpPr>
        <p:spPr>
          <a:xfrm>
            <a:off x="2848356" y="3652187"/>
            <a:ext cx="1190244" cy="3080832"/>
          </a:xfrm>
          <a:prstGeom prst="arc">
            <a:avLst>
              <a:gd name="adj1" fmla="val 17296037"/>
              <a:gd name="adj2" fmla="val 2053129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/>
          </a:p>
        </p:txBody>
      </p: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BC7AC2ED-1D8A-4D1D-A60A-2AD36018C387}"/>
              </a:ext>
            </a:extLst>
          </p:cNvPr>
          <p:cNvCxnSpPr>
            <a:cxnSpLocks/>
            <a:stCxn id="114" idx="0"/>
          </p:cNvCxnSpPr>
          <p:nvPr/>
        </p:nvCxnSpPr>
        <p:spPr>
          <a:xfrm flipH="1" flipV="1">
            <a:off x="3802381" y="3973830"/>
            <a:ext cx="27680" cy="47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Дуга 135">
            <a:extLst>
              <a:ext uri="{FF2B5EF4-FFF2-40B4-BE49-F238E27FC236}">
                <a16:creationId xmlns:a16="http://schemas.microsoft.com/office/drawing/2014/main" id="{82676EC3-831A-4553-8B46-1DC905AE08AF}"/>
              </a:ext>
            </a:extLst>
          </p:cNvPr>
          <p:cNvSpPr/>
          <p:nvPr/>
        </p:nvSpPr>
        <p:spPr>
          <a:xfrm>
            <a:off x="5489448" y="3327624"/>
            <a:ext cx="5327904" cy="1731935"/>
          </a:xfrm>
          <a:prstGeom prst="arc">
            <a:avLst>
              <a:gd name="adj1" fmla="val 682081"/>
              <a:gd name="adj2" fmla="val 196257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7" name="Прямая со стрелкой 136">
            <a:extLst>
              <a:ext uri="{FF2B5EF4-FFF2-40B4-BE49-F238E27FC236}">
                <a16:creationId xmlns:a16="http://schemas.microsoft.com/office/drawing/2014/main" id="{8A484A48-8937-4684-AC65-3BC7FD2C54BF}"/>
              </a:ext>
            </a:extLst>
          </p:cNvPr>
          <p:cNvCxnSpPr>
            <a:cxnSpLocks/>
            <a:stCxn id="136" idx="2"/>
          </p:cNvCxnSpPr>
          <p:nvPr/>
        </p:nvCxnSpPr>
        <p:spPr>
          <a:xfrm flipH="1">
            <a:off x="9316797" y="4966223"/>
            <a:ext cx="39656" cy="110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Дуга 145">
            <a:extLst>
              <a:ext uri="{FF2B5EF4-FFF2-40B4-BE49-F238E27FC236}">
                <a16:creationId xmlns:a16="http://schemas.microsoft.com/office/drawing/2014/main" id="{9F0ADED4-5654-44B2-AA37-B47D4AA5D117}"/>
              </a:ext>
            </a:extLst>
          </p:cNvPr>
          <p:cNvSpPr/>
          <p:nvPr/>
        </p:nvSpPr>
        <p:spPr>
          <a:xfrm flipH="1">
            <a:off x="6968744" y="3663782"/>
            <a:ext cx="534493" cy="3728674"/>
          </a:xfrm>
          <a:prstGeom prst="arc">
            <a:avLst>
              <a:gd name="adj1" fmla="val 16539511"/>
              <a:gd name="adj2" fmla="val 175873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7" name="Прямая со стрелкой 146">
            <a:extLst>
              <a:ext uri="{FF2B5EF4-FFF2-40B4-BE49-F238E27FC236}">
                <a16:creationId xmlns:a16="http://schemas.microsoft.com/office/drawing/2014/main" id="{ABA9FC01-189D-47EF-8D20-A2969FB495B0}"/>
              </a:ext>
            </a:extLst>
          </p:cNvPr>
          <p:cNvCxnSpPr>
            <a:cxnSpLocks/>
            <a:stCxn id="146" idx="2"/>
          </p:cNvCxnSpPr>
          <p:nvPr/>
        </p:nvCxnSpPr>
        <p:spPr>
          <a:xfrm>
            <a:off x="6982639" y="4934785"/>
            <a:ext cx="0" cy="54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58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4E286D3-DD80-9CFE-3803-F65E17DF55E8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B7305-2954-BC2D-FE44-F9914981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Calibri-Bold"/>
              </a:rPr>
              <a:t>Влияние периодичности установки на сигнал ЭДМ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52CCAD-BC5C-4F8A-5633-AA1FD25A6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444487"/>
                <a:ext cx="5203824" cy="3720339"/>
              </a:xfrm>
            </p:spPr>
            <p:txBody>
              <a:bodyPr>
                <a:normAutofit/>
              </a:bodyPr>
              <a:lstStyle/>
              <a:p>
                <a:r>
                  <a:rPr lang="ru-RU" sz="1800" dirty="0">
                    <a:latin typeface="+mn-lt"/>
                  </a:rPr>
                  <a:t>Ограничение на поворот спин-вектора относительно импульса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sz="1800" dirty="0">
                    <a:latin typeface="+mn-lt"/>
                  </a:rPr>
                  <a:t> Минимальное число периодов структуры </a:t>
                </a:r>
                <a:r>
                  <a:rPr lang="en-US" sz="1800" dirty="0">
                    <a:latin typeface="+mn-lt"/>
                  </a:rPr>
                  <a:t>QFS </a:t>
                </a:r>
                <a:r>
                  <a:rPr lang="ru-RU" sz="1800" dirty="0">
                    <a:latin typeface="+mn-lt"/>
                  </a:rPr>
                  <a:t>для измерения ЭДМ без потери сигнала</a:t>
                </a:r>
                <a:r>
                  <a:rPr lang="en-US" sz="1800" dirty="0">
                    <a:latin typeface="+mn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+mn-lt"/>
                  </a:rPr>
                  <a:t>Для протона</a:t>
                </a:r>
                <a:r>
                  <a:rPr lang="en-US" sz="1800" dirty="0">
                    <a:latin typeface="+mn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≥8;</m:t>
                    </m:r>
                  </m:oMath>
                </a14:m>
                <a:endParaRPr lang="en-US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+mn-lt"/>
                  </a:rPr>
                  <a:t>Для дейтрона минимальная периодичность отсутствует</a:t>
                </a:r>
              </a:p>
              <a:p>
                <a:r>
                  <a:rPr lang="ru-RU" sz="1800" dirty="0">
                    <a:latin typeface="+mn-lt"/>
                  </a:rPr>
                  <a:t>Периодичность установки оказывает влияние на скорость роста сигнала ЭДМ</a:t>
                </a:r>
                <a:r>
                  <a:rPr lang="en-US" sz="1800" dirty="0">
                    <a:latin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ru-RU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𝜋𝛾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52CCAD-BC5C-4F8A-5633-AA1FD25A6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444487"/>
                <a:ext cx="5203824" cy="3720339"/>
              </a:xfrm>
              <a:blipFill>
                <a:blip r:embed="rId2"/>
                <a:stretch>
                  <a:fillRect l="-937" t="-1639" r="-12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D188C95E-A236-1514-3F46-9DEAA261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3608C4-6CA4-D1D8-6700-44CDFA41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175D7F-DAE2-F50C-A1BC-89B97769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13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00C6906-FD5D-DA33-9688-8801439590A1}"/>
              </a:ext>
            </a:extLst>
          </p:cNvPr>
          <p:cNvCxnSpPr>
            <a:cxnSpLocks/>
          </p:cNvCxnSpPr>
          <p:nvPr/>
        </p:nvCxnSpPr>
        <p:spPr>
          <a:xfrm>
            <a:off x="246000" y="2291470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B3C08C-BEAB-64CA-82B0-6385FA381263}"/>
              </a:ext>
            </a:extLst>
          </p:cNvPr>
          <p:cNvSpPr txBox="1"/>
          <p:nvPr/>
        </p:nvSpPr>
        <p:spPr>
          <a:xfrm>
            <a:off x="5899355" y="5656151"/>
            <a:ext cx="6204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Зависимость фактора роста ЭДМ сигнала частиц от энергии эксперимента при различной периодичности структуры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E52228-BEDC-28E9-465A-C3832B534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5" y="2365820"/>
            <a:ext cx="4619944" cy="336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2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Autofit/>
          </a:bodyPr>
          <a:lstStyle/>
          <a:p>
            <a:r>
              <a:rPr lang="ru-RU" sz="3000" b="1" i="0" u="none" strike="noStrike" baseline="0" dirty="0">
                <a:latin typeface="Calibri-Bold"/>
              </a:rPr>
              <a:t>Основные параметры структуры с квази‐замороженным спином</a:t>
            </a:r>
            <a:endParaRPr lang="ru-RU" sz="3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14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Таблица 18">
                <a:extLst>
                  <a:ext uri="{FF2B5EF4-FFF2-40B4-BE49-F238E27FC236}">
                    <a16:creationId xmlns:a16="http://schemas.microsoft.com/office/drawing/2014/main" id="{823C8247-BBCF-4662-A98B-AEB7E831E6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11534"/>
                  </p:ext>
                </p:extLst>
              </p:nvPr>
            </p:nvGraphicFramePr>
            <p:xfrm>
              <a:off x="246000" y="2476501"/>
              <a:ext cx="11700002" cy="34975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3044">
                      <a:extLst>
                        <a:ext uri="{9D8B030D-6E8A-4147-A177-3AD203B41FA5}">
                          <a16:colId xmlns:a16="http://schemas.microsoft.com/office/drawing/2014/main" val="3870055938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995311435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858642855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4293732409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2538747720"/>
                        </a:ext>
                      </a:extLst>
                    </a:gridCol>
                    <a:gridCol w="1831304">
                      <a:extLst>
                        <a:ext uri="{9D8B030D-6E8A-4147-A177-3AD203B41FA5}">
                          <a16:colId xmlns:a16="http://schemas.microsoft.com/office/drawing/2014/main" val="3186752726"/>
                        </a:ext>
                      </a:extLst>
                    </a:gridCol>
                  </a:tblGrid>
                  <a:tr h="741394">
                    <a:tc rowSpan="2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𝑄𝐹𝑆</m:t>
                                </m:r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𝑄𝐹</m:t>
                                </m:r>
                                <m:sSub>
                                  <m:sSub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cmp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687668"/>
                      </a:ext>
                    </a:extLst>
                  </a:tr>
                  <a:tr h="362172">
                    <a:tc gridSpan="2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0185352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4430242"/>
                      </a:ext>
                    </a:extLst>
                  </a:tr>
                  <a:tr h="42024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1.289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1.078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1191915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𝐹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МВ/м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-2.68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2843407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𝑊𝐹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Тл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0025536"/>
                      </a:ext>
                    </a:extLst>
                  </a:tr>
                  <a:tr h="362620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ВФ,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250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434751"/>
                      </a:ext>
                    </a:extLst>
                  </a:tr>
                  <a:tr h="322229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0.179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0.433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5838288"/>
                      </a:ext>
                    </a:extLst>
                  </a:tr>
                  <a:tr h="322229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16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0.858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45776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Таблица 18">
                <a:extLst>
                  <a:ext uri="{FF2B5EF4-FFF2-40B4-BE49-F238E27FC236}">
                    <a16:creationId xmlns:a16="http://schemas.microsoft.com/office/drawing/2014/main" id="{823C8247-BBCF-4662-A98B-AEB7E831E6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11534"/>
                  </p:ext>
                </p:extLst>
              </p:nvPr>
            </p:nvGraphicFramePr>
            <p:xfrm>
              <a:off x="246000" y="2476501"/>
              <a:ext cx="11700002" cy="34975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3044">
                      <a:extLst>
                        <a:ext uri="{9D8B030D-6E8A-4147-A177-3AD203B41FA5}">
                          <a16:colId xmlns:a16="http://schemas.microsoft.com/office/drawing/2014/main" val="3870055938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995311435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858642855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4293732409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2538747720"/>
                        </a:ext>
                      </a:extLst>
                    </a:gridCol>
                    <a:gridCol w="1831304">
                      <a:extLst>
                        <a:ext uri="{9D8B030D-6E8A-4147-A177-3AD203B41FA5}">
                          <a16:colId xmlns:a16="http://schemas.microsoft.com/office/drawing/2014/main" val="3186752726"/>
                        </a:ext>
                      </a:extLst>
                    </a:gridCol>
                  </a:tblGrid>
                  <a:tr h="741394">
                    <a:tc rowSpan="2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393" t="-7377" r="-97546" b="-38688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997" t="-7377" r="-315" b="-38688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687668"/>
                      </a:ext>
                    </a:extLst>
                  </a:tr>
                  <a:tr h="362172">
                    <a:tc gridSpan="2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0185352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4430242"/>
                      </a:ext>
                    </a:extLst>
                  </a:tr>
                  <a:tr h="420243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" t="-352174" r="-203155" b="-4217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1.289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1.078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1191915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" t="-588679" r="-203155" b="-4490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-2.68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2843407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" t="-688679" r="-203155" b="-3490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0025536"/>
                      </a:ext>
                    </a:extLst>
                  </a:tr>
                  <a:tr h="362620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ВФ,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250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434751"/>
                      </a:ext>
                    </a:extLst>
                  </a:tr>
                  <a:tr h="322229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5" t="-450000" r="-506309" b="-188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0.179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0.433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5838288"/>
                      </a:ext>
                    </a:extLst>
                  </a:tr>
                  <a:tr h="322229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16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0.858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45776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9096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i="0" u="none" strike="noStrike" baseline="0" dirty="0">
                <a:latin typeface="Calibri-Bold"/>
              </a:rPr>
              <a:t>Заключение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00" y="3277359"/>
            <a:ext cx="5507800" cy="286436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600" dirty="0">
                <a:latin typeface="+mn-lt"/>
              </a:rPr>
              <a:t>Особенности структуры </a:t>
            </a:r>
            <a:r>
              <a:rPr lang="ru-RU" sz="1600" b="1" dirty="0">
                <a:latin typeface="+mn-lt"/>
              </a:rPr>
              <a:t>с замороженным спином</a:t>
            </a:r>
            <a:r>
              <a:rPr lang="en-US" sz="1600" dirty="0">
                <a:latin typeface="+mn-lt"/>
              </a:rPr>
              <a:t>: </a:t>
            </a:r>
            <a:br>
              <a:rPr lang="ru-RU" sz="1600" dirty="0">
                <a:latin typeface="+mn-lt"/>
              </a:rPr>
            </a:b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Магическая энергия для протона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Использование цилиндрических дефлекторов</a:t>
            </a:r>
            <a:r>
              <a:rPr lang="en-US" sz="1600" dirty="0">
                <a:latin typeface="+mn-lt"/>
              </a:rPr>
              <a:t>;</a:t>
            </a:r>
          </a:p>
          <a:p>
            <a:r>
              <a:rPr lang="ru-RU" sz="1600" dirty="0">
                <a:latin typeface="+mn-lt"/>
              </a:rPr>
              <a:t>Введение магнитного поля для дейтронов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Возможность изучения ЭДМ протона на пониженной энергии в компактной структуре.</a:t>
            </a:r>
          </a:p>
          <a:p>
            <a:endParaRPr lang="ru-RU" sz="1600" dirty="0">
              <a:latin typeface="+mn-lt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15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бъект 2">
            <a:extLst>
              <a:ext uri="{FF2B5EF4-FFF2-40B4-BE49-F238E27FC236}">
                <a16:creationId xmlns:a16="http://schemas.microsoft.com/office/drawing/2014/main" id="{5490A0D8-F0E0-4007-ABF7-012691E3841B}"/>
              </a:ext>
            </a:extLst>
          </p:cNvPr>
          <p:cNvSpPr txBox="1">
            <a:spLocks/>
          </p:cNvSpPr>
          <p:nvPr/>
        </p:nvSpPr>
        <p:spPr>
          <a:xfrm>
            <a:off x="6031800" y="3277358"/>
            <a:ext cx="5798250" cy="2864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latin typeface="+mn-lt"/>
              </a:rPr>
              <a:t>Особенности структуры </a:t>
            </a:r>
            <a:r>
              <a:rPr lang="ru-RU" sz="1600" b="1" dirty="0">
                <a:latin typeface="+mn-lt"/>
              </a:rPr>
              <a:t>с квази-замороженным спином</a:t>
            </a:r>
            <a:r>
              <a:rPr lang="en-US" sz="1600" b="1" dirty="0">
                <a:latin typeface="+mn-lt"/>
              </a:rPr>
              <a:t>:</a:t>
            </a:r>
            <a:br>
              <a:rPr lang="ru-RU" sz="1600" b="1" dirty="0">
                <a:latin typeface="+mn-lt"/>
              </a:rPr>
            </a:br>
            <a:endParaRPr lang="en-US" sz="1600" b="1" dirty="0">
              <a:latin typeface="+mn-lt"/>
            </a:endParaRPr>
          </a:p>
          <a:p>
            <a:r>
              <a:rPr lang="ru-RU" sz="1600" dirty="0">
                <a:latin typeface="+mn-lt"/>
              </a:rPr>
              <a:t>Применение в существующих установках</a:t>
            </a:r>
            <a:r>
              <a:rPr lang="en-US" sz="1600" dirty="0">
                <a:latin typeface="+mn-lt"/>
              </a:rPr>
              <a:t>;</a:t>
            </a:r>
          </a:p>
          <a:p>
            <a:r>
              <a:rPr lang="ru-RU" sz="1600" dirty="0">
                <a:latin typeface="+mn-lt"/>
              </a:rPr>
              <a:t>Прямые фильтры Вина проще в изготовлении</a:t>
            </a:r>
            <a:r>
              <a:rPr lang="en-US" sz="1600" dirty="0">
                <a:latin typeface="+mn-lt"/>
              </a:rPr>
              <a:t>;</a:t>
            </a:r>
          </a:p>
          <a:p>
            <a:r>
              <a:rPr lang="ru-RU" sz="1600" dirty="0">
                <a:latin typeface="+mn-lt"/>
              </a:rPr>
              <a:t>Более компактная по сравнению с замороженным спином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Высокая периодичность для протона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Отработка методики измерения ЭДМ для протона на пониженной энергии</a:t>
            </a:r>
            <a:r>
              <a:rPr lang="en-US" sz="1600" dirty="0">
                <a:latin typeface="+mn-lt"/>
              </a:rPr>
              <a:t>.</a:t>
            </a:r>
            <a:endParaRPr lang="ru-RU" sz="16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CE501-CD8B-4B27-9BDD-1E81F7DC1DBB}"/>
              </a:ext>
            </a:extLst>
          </p:cNvPr>
          <p:cNvSpPr txBox="1"/>
          <p:nvPr/>
        </p:nvSpPr>
        <p:spPr>
          <a:xfrm>
            <a:off x="181800" y="2399404"/>
            <a:ext cx="1176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ffectLst/>
              </a:rPr>
              <a:t>Как в структуре с замороженным, так и квази-замороженным спином,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возможно изучение ЭДМ и протона, и дейтрона.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616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i="0" u="none" strike="noStrike" baseline="0" dirty="0">
                <a:latin typeface="Calibri-Bold"/>
              </a:rPr>
              <a:t>Благодарности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3535680"/>
            <a:ext cx="11700000" cy="82295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b="0" i="0" u="none" strike="noStrike" baseline="0" dirty="0">
                <a:latin typeface="Calibri" panose="020F0502020204030204" pitchFamily="34" charset="0"/>
              </a:rPr>
              <a:t>Исследование выполнено при поддержке гранта </a:t>
            </a:r>
          </a:p>
          <a:p>
            <a:pPr marL="0" indent="0" algn="ctr">
              <a:buNone/>
            </a:pPr>
            <a:r>
              <a:rPr lang="ru-RU" b="0" i="0" u="none" strike="noStrike" baseline="0" dirty="0">
                <a:latin typeface="Calibri" panose="020F0502020204030204" pitchFamily="34" charset="0"/>
              </a:rPr>
              <a:t>Российского Научного Фонда № 25‐72‐30005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16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68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3677920"/>
            <a:ext cx="11700000" cy="4351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3200" dirty="0">
                <a:latin typeface="Calibri-Bold"/>
              </a:rPr>
              <a:t>Спасибо за внимание!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17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154560" y="434772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546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/>
          <a:lstStyle/>
          <a:p>
            <a:r>
              <a:rPr lang="en-US" dirty="0"/>
              <a:t>Back up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18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272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396068"/>
            <a:ext cx="11700000" cy="36576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19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1718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5686</TotalTime>
  <Words>1163</Words>
  <Application>Microsoft Office PowerPoint</Application>
  <PresentationFormat>Широкоэкранный</PresentationFormat>
  <Paragraphs>243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3" baseType="lpstr">
      <vt:lpstr>Arial</vt:lpstr>
      <vt:lpstr>Calibri</vt:lpstr>
      <vt:lpstr>Calibri Bold</vt:lpstr>
      <vt:lpstr>Calibri-Bold</vt:lpstr>
      <vt:lpstr>Calibri-Italic</vt:lpstr>
      <vt:lpstr>Cambria Math</vt:lpstr>
      <vt:lpstr>CMMI10</vt:lpstr>
      <vt:lpstr>CMMI9</vt:lpstr>
      <vt:lpstr>CMR10</vt:lpstr>
      <vt:lpstr>CMR8</vt:lpstr>
      <vt:lpstr>CMR9</vt:lpstr>
      <vt:lpstr>CMSY10</vt:lpstr>
      <vt:lpstr>CMSY9</vt:lpstr>
      <vt:lpstr>Тема Office</vt:lpstr>
      <vt:lpstr>Разработка принципиальной структуры накопительного кольца для исследования электрического дипольного момента легких ядер</vt:lpstr>
      <vt:lpstr>Содержание</vt:lpstr>
      <vt:lpstr>Метод замороженного спина</vt:lpstr>
      <vt:lpstr>Уравнение Т‐БМТ</vt:lpstr>
      <vt:lpstr>Структура с замороженным спином для протона</vt:lpstr>
      <vt:lpstr>Структура с замороженным спином для дейтрона</vt:lpstr>
      <vt:lpstr>Направляющие поля в замороженной структуре</vt:lpstr>
      <vt:lpstr>Нелинейности поля цилиндрических дефлекторов</vt:lpstr>
      <vt:lpstr>Основные параметры структуры с замороженным спином</vt:lpstr>
      <vt:lpstr>Метод квази‐замороженного спина</vt:lpstr>
      <vt:lpstr>Свойства прямого фильтра Вина</vt:lpstr>
      <vt:lpstr>Эффективность накопления ЭДМ</vt:lpstr>
      <vt:lpstr>Влияние периодичности установки на сигнал ЭДМ</vt:lpstr>
      <vt:lpstr>Основные параметры структуры с квази‐замороженным спином</vt:lpstr>
      <vt:lpstr>Заключение</vt:lpstr>
      <vt:lpstr>Благодарности</vt:lpstr>
      <vt:lpstr>Презентация PowerPoint</vt:lpstr>
      <vt:lpstr>Back up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Патриция Паламарчук</cp:lastModifiedBy>
  <cp:revision>111</cp:revision>
  <dcterms:created xsi:type="dcterms:W3CDTF">2025-06-24T12:49:20Z</dcterms:created>
  <dcterms:modified xsi:type="dcterms:W3CDTF">2025-09-03T14:56:38Z</dcterms:modified>
</cp:coreProperties>
</file>