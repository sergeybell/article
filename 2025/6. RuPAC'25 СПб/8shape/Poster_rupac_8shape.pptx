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40288" cy="42767250"/>
  <p:notesSz cx="6858000" cy="9144000"/>
  <p:defaultTextStyle>
    <a:defPPr>
      <a:defRPr lang="ru-RU"/>
    </a:defPPr>
    <a:lvl1pPr marL="0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1pPr>
    <a:lvl2pPr marL="1752173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2pPr>
    <a:lvl3pPr marL="3504347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3pPr>
    <a:lvl4pPr marL="5256520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4pPr>
    <a:lvl5pPr marL="7008693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5pPr>
    <a:lvl6pPr marL="8760866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6pPr>
    <a:lvl7pPr marL="10513040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7pPr>
    <a:lvl8pPr marL="12265213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8pPr>
    <a:lvl9pPr marL="14017386" algn="l" defTabSz="3504347" rtl="0" eaLnBrk="1" latinLnBrk="0" hangingPunct="1">
      <a:defRPr sz="68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0" userDrawn="1">
          <p15:clr>
            <a:srgbClr val="A4A3A4"/>
          </p15:clr>
        </p15:guide>
        <p15:guide id="2" pos="95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7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20" d="100"/>
          <a:sy n="20" d="100"/>
        </p:scale>
        <p:origin x="3197" y="82"/>
      </p:cViewPr>
      <p:guideLst>
        <p:guide orient="horz" pos="13470"/>
        <p:guide pos="95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284C8-225E-4582-BF7C-175A1CA5EBF5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AB4384-C71C-4031-8987-2A96ECD7DA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68936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F018D8-4FCA-41D3-8C82-F6503014FA3C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7AB83-93CF-40E9-B1EC-02BBF73F08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61523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1pPr>
    <a:lvl2pPr marL="1752173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2pPr>
    <a:lvl3pPr marL="3504347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3pPr>
    <a:lvl4pPr marL="5256520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4pPr>
    <a:lvl5pPr marL="7008693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5pPr>
    <a:lvl6pPr marL="8760866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6pPr>
    <a:lvl7pPr marL="10513040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7pPr>
    <a:lvl8pPr marL="12265213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8pPr>
    <a:lvl9pPr marL="14017386" algn="l" defTabSz="3504347" rtl="0" eaLnBrk="1" latinLnBrk="0" hangingPunct="1">
      <a:defRPr sz="45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Верхний колонтитул 4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904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8022" y="14065760"/>
            <a:ext cx="25704245" cy="3092519"/>
          </a:xfrm>
        </p:spPr>
        <p:txBody>
          <a:bodyPr anchor="b">
            <a:normAutofit/>
          </a:bodyPr>
          <a:lstStyle>
            <a:lvl1pPr algn="ctr">
              <a:defRPr sz="165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36" y="22462709"/>
            <a:ext cx="22680216" cy="10325516"/>
          </a:xfrm>
        </p:spPr>
        <p:txBody>
          <a:bodyPr>
            <a:normAutofit/>
          </a:bodyPr>
          <a:lstStyle>
            <a:lvl1pPr marL="0" indent="0" algn="ctr">
              <a:buNone/>
              <a:defRPr sz="8000"/>
            </a:lvl1pPr>
            <a:lvl2pPr marL="1512006" indent="0" algn="ctr">
              <a:buNone/>
              <a:defRPr sz="6614"/>
            </a:lvl2pPr>
            <a:lvl3pPr marL="3024012" indent="0" algn="ctr">
              <a:buNone/>
              <a:defRPr sz="5953"/>
            </a:lvl3pPr>
            <a:lvl4pPr marL="4536018" indent="0" algn="ctr">
              <a:buNone/>
              <a:defRPr sz="5291"/>
            </a:lvl4pPr>
            <a:lvl5pPr marL="6048024" indent="0" algn="ctr">
              <a:buNone/>
              <a:defRPr sz="5291"/>
            </a:lvl5pPr>
            <a:lvl6pPr marL="7560031" indent="0" algn="ctr">
              <a:buNone/>
              <a:defRPr sz="5291"/>
            </a:lvl6pPr>
            <a:lvl7pPr marL="9072037" indent="0" algn="ctr">
              <a:buNone/>
              <a:defRPr sz="5291"/>
            </a:lvl7pPr>
            <a:lvl8pPr marL="10584043" indent="0" algn="ctr">
              <a:buNone/>
              <a:defRPr sz="5291"/>
            </a:lvl8pPr>
            <a:lvl9pPr marL="12096049" indent="0" algn="ctr">
              <a:buNone/>
              <a:defRPr sz="5291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fld id="{5F44C750-858D-48C1-933C-B01A56D237A1}" type="datetimeFigureOut">
              <a:rPr lang="ru-RU" smtClean="0"/>
              <a:pPr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 anchor="ctr"/>
          <a:lstStyle>
            <a:lvl1pPr algn="ctr">
              <a:defRPr sz="2800"/>
            </a:lvl1pPr>
          </a:lstStyle>
          <a:p>
            <a:fld id="{0177BF75-2E22-446E-B86A-476D3E057B9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344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5F44C750-858D-48C1-933C-B01A56D237A1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0177BF75-2E22-446E-B86A-476D3E057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08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272" y="10662125"/>
            <a:ext cx="26082248" cy="17789985"/>
          </a:xfrm>
        </p:spPr>
        <p:txBody>
          <a:bodyPr anchor="b"/>
          <a:lstStyle>
            <a:lvl1pPr>
              <a:defRPr sz="19843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3272" y="28620410"/>
            <a:ext cx="26082248" cy="9355333"/>
          </a:xfrm>
        </p:spPr>
        <p:txBody>
          <a:bodyPr/>
          <a:lstStyle>
            <a:lvl1pPr marL="0" indent="0">
              <a:buNone/>
              <a:defRPr sz="7937">
                <a:solidFill>
                  <a:schemeClr val="tx1"/>
                </a:solidFill>
              </a:defRPr>
            </a:lvl1pPr>
            <a:lvl2pPr marL="1512006" indent="0">
              <a:buNone/>
              <a:defRPr sz="6614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5F44C750-858D-48C1-933C-B01A56D237A1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0177BF75-2E22-446E-B86A-476D3E057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0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9020" y="11384800"/>
            <a:ext cx="12852122" cy="2713542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09146" y="11384800"/>
            <a:ext cx="12852122" cy="2713542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5F44C750-858D-48C1-933C-B01A56D237A1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0177BF75-2E22-446E-B86A-476D3E057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021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959" y="2276970"/>
            <a:ext cx="26082248" cy="826635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2962" y="10483919"/>
            <a:ext cx="12793057" cy="5138007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2962" y="15621926"/>
            <a:ext cx="12793057" cy="22977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09148" y="10483919"/>
            <a:ext cx="12856061" cy="5138007"/>
          </a:xfrm>
        </p:spPr>
        <p:txBody>
          <a:bodyPr anchor="b"/>
          <a:lstStyle>
            <a:lvl1pPr marL="0" indent="0">
              <a:buNone/>
              <a:defRPr sz="7937" b="1"/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09148" y="15621926"/>
            <a:ext cx="12856061" cy="22977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5F44C750-858D-48C1-933C-B01A56D237A1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0177BF75-2E22-446E-B86A-476D3E057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133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5F44C750-858D-48C1-933C-B01A56D237A1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0177BF75-2E22-446E-B86A-476D3E057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78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079020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5F44C750-858D-48C1-933C-B01A56D237A1}" type="datetimeFigureOut">
              <a:rPr lang="ru-RU" smtClean="0"/>
              <a:t>28.08.2025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017096" y="39638914"/>
            <a:ext cx="10206097" cy="227696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1357203" y="39638914"/>
            <a:ext cx="6804065" cy="2276960"/>
          </a:xfrm>
          <a:prstGeom prst="rect">
            <a:avLst/>
          </a:prstGeom>
        </p:spPr>
        <p:txBody>
          <a:bodyPr/>
          <a:lstStyle/>
          <a:p>
            <a:fld id="{0177BF75-2E22-446E-B86A-476D3E057B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08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9020" y="3713154"/>
            <a:ext cx="26082248" cy="2608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020" y="7439973"/>
            <a:ext cx="26082248" cy="33747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35" y="376273"/>
            <a:ext cx="29300555" cy="221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02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3024012" rtl="0" eaLnBrk="1" latinLnBrk="0" hangingPunct="1">
        <a:lnSpc>
          <a:spcPct val="90000"/>
        </a:lnSpc>
        <a:spcBef>
          <a:spcPct val="0"/>
        </a:spcBef>
        <a:buNone/>
        <a:defRPr sz="120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756003" indent="-756003" algn="l" defTabSz="3024012" rtl="0" eaLnBrk="1" latinLnBrk="0" hangingPunct="1">
        <a:lnSpc>
          <a:spcPct val="90000"/>
        </a:lnSpc>
        <a:spcBef>
          <a:spcPts val="3307"/>
        </a:spcBef>
        <a:buFont typeface="Arial" panose="020B0604020202020204" pitchFamily="34" charset="0"/>
        <a:buChar char="•"/>
        <a:defRPr sz="926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2268009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7937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3780015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5292021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6804028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8316034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828040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1340046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852052" indent="-756003" algn="l" defTabSz="3024012" rtl="0" eaLnBrk="1" latinLnBrk="0" hangingPunct="1">
        <a:lnSpc>
          <a:spcPct val="90000"/>
        </a:lnSpc>
        <a:spcBef>
          <a:spcPts val="1654"/>
        </a:spcBef>
        <a:buFont typeface="Arial" panose="020B0604020202020204" pitchFamily="34" charset="0"/>
        <a:buChar char="•"/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3024012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A51900C8-CE2F-4A7C-9D33-B3C3C0871E5D}"/>
              </a:ext>
            </a:extLst>
          </p:cNvPr>
          <p:cNvSpPr/>
          <p:nvPr/>
        </p:nvSpPr>
        <p:spPr>
          <a:xfrm>
            <a:off x="3509041" y="3028399"/>
            <a:ext cx="22898100" cy="6651027"/>
          </a:xfrm>
          <a:prstGeom prst="roundRect">
            <a:avLst>
              <a:gd name="adj" fmla="val 5580"/>
            </a:avLst>
          </a:prstGeom>
          <a:solidFill>
            <a:srgbClr val="0C476B"/>
          </a:solidFill>
          <a:ln>
            <a:solidFill>
              <a:srgbClr val="0C476B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DC467F-B057-4275-BB9C-FB06B1EB3EB5}"/>
              </a:ext>
            </a:extLst>
          </p:cNvPr>
          <p:cNvSpPr txBox="1"/>
          <p:nvPr/>
        </p:nvSpPr>
        <p:spPr>
          <a:xfrm>
            <a:off x="0" y="3200400"/>
            <a:ext cx="3019030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ru-RU" sz="60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ОСОБЕННОСТИ МАГНИТООПТИЧЕСКОЙ СТРУКТУРЫ МНОГОФУНКЦИОНАЛЬНОГО КОЛЬЦА В ФОРМЕ 8</a:t>
            </a:r>
            <a:endParaRPr lang="ru-RU" sz="60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1DF2AB-E91E-408E-AB76-E9DB5769A025}"/>
              </a:ext>
            </a:extLst>
          </p:cNvPr>
          <p:cNvSpPr txBox="1"/>
          <p:nvPr/>
        </p:nvSpPr>
        <p:spPr>
          <a:xfrm>
            <a:off x="-1" y="5139392"/>
            <a:ext cx="30190305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48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Колокольчиков С.Д.</a:t>
            </a:r>
            <a:r>
              <a:rPr lang="ru-RU" sz="4800" i="1" kern="100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1,2</a:t>
            </a:r>
            <a:r>
              <a:rPr lang="ru-RU" sz="48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Аксентьев А.Е.</a:t>
            </a:r>
            <a:r>
              <a:rPr lang="ru-RU" sz="4800" i="1" kern="100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1,2,3</a:t>
            </a:r>
            <a:r>
              <a:rPr lang="ru-RU" sz="48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Мельников А.А.</a:t>
            </a:r>
            <a:r>
              <a:rPr lang="ru-RU" sz="4800" i="1" kern="100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1,2,4</a:t>
            </a:r>
            <a:r>
              <a:rPr lang="ru-RU" sz="4800" i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Сеничев Ю.В.</a:t>
            </a:r>
            <a:r>
              <a:rPr lang="ru-RU" sz="4800" i="1" kern="100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1,2</a:t>
            </a:r>
            <a:endParaRPr lang="ru-RU" sz="4800" i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ru-RU" sz="4800" i="1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</a:t>
            </a:r>
            <a:r>
              <a:rPr lang="ru-RU" sz="4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Институт Ядерных Исследований РАН, Москва, Россия,</a:t>
            </a:r>
          </a:p>
          <a:p>
            <a:pPr algn="ctr"/>
            <a:r>
              <a:rPr lang="ru-RU" sz="4800" i="1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4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Московский Физико-Технический Институт, Долгопрудный, Россия,</a:t>
            </a:r>
          </a:p>
          <a:p>
            <a:pPr algn="ctr"/>
            <a:r>
              <a:rPr lang="ru-RU" sz="4800" i="1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ru-RU" sz="4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Московский инженерно-физический институт, Москва, Россия,</a:t>
            </a:r>
          </a:p>
          <a:p>
            <a:pPr algn="ctr"/>
            <a:r>
              <a:rPr lang="ru-RU" sz="4800" i="1" baseline="300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</a:t>
            </a:r>
            <a:r>
              <a:rPr lang="ru-RU" sz="480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Институт теоретической физики им. Л.Д. Ландау, Черноголовка, Россия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4D3FE-8C4B-4372-A565-1CDC5F964E16}"/>
              </a:ext>
            </a:extLst>
          </p:cNvPr>
          <p:cNvSpPr txBox="1"/>
          <p:nvPr/>
        </p:nvSpPr>
        <p:spPr>
          <a:xfrm>
            <a:off x="525781" y="10015655"/>
            <a:ext cx="93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DF22F3-9DBF-4DE5-8204-3590864A9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677" y="22821927"/>
            <a:ext cx="6541074" cy="1071276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02F0E9-7F07-4A4F-8BAF-2435CA0F3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480" y="16455867"/>
            <a:ext cx="9360000" cy="445638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33BFE5F-E258-42ED-AE8E-0FF96D924B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49" y="29007944"/>
            <a:ext cx="9360000" cy="446838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7B0A35A-5586-455F-AF1A-2E443BE276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0637" y="22944052"/>
            <a:ext cx="9360000" cy="445437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72D1DE-4E7C-4011-ACE4-6F822874E025}"/>
              </a:ext>
            </a:extLst>
          </p:cNvPr>
          <p:cNvSpPr txBox="1"/>
          <p:nvPr/>
        </p:nvSpPr>
        <p:spPr>
          <a:xfrm>
            <a:off x="10512480" y="10015656"/>
            <a:ext cx="93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Протонная опция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114DC-912E-47E7-8579-C40C54B510EE}"/>
                  </a:ext>
                </a:extLst>
              </p:cNvPr>
              <p:cNvSpPr txBox="1"/>
              <p:nvPr/>
            </p:nvSpPr>
            <p:spPr>
              <a:xfrm>
                <a:off x="10498250" y="11477638"/>
                <a:ext cx="9360000" cy="47564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ru-RU" sz="3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Поднятие критической энергии возможно при вариации дисперсии и кривизны. Коэффициент уплотнения орбиты для суперпериода при суперпериодической модуляции градиента квадрупольных линз в первом порядке даётся уравнением </a:t>
                </a:r>
                <a:r>
                  <a:rPr lang="en-US" sz="3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[1]</a:t>
                </a:r>
                <a:endParaRPr lang="ru-RU" sz="3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ru-RU" sz="2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𝜈</m:t>
                                  </m:r>
                                </m:e>
                                <m:sub>
                                  <m:r>
                                    <a:rPr lang="en-US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{"/>
                          <m:endChr m:val=""/>
                          <m:ctrlP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ru-RU" sz="2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1−</m:t>
                                  </m:r>
                                  <m: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𝑆</m:t>
                                  </m:r>
                                  <m: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𝜈</m:t>
                                      </m:r>
                                    </m:e>
                                    <m:sub>
                                      <m:r>
                                        <a:rPr lang="en-US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̅"/>
                                          <m:ctrlP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</m:acc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𝜈</m:t>
                                          </m:r>
                                        </m:e>
                                        <m:sub>
                                          <m:r>
                                            <a:rPr lang="en-US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sup>
                          </m:sSup>
                          <m:d>
                            <m:dPr>
                              <m:begChr m:val=""/>
                              <m:endChr m:val="}"/>
                              <m:ctrlPr>
                                <a:rPr lang="ru-RU" sz="2800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800" i="1" kern="10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ru-RU" sz="2800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k</m:t>
                                      </m:r>
                                    </m:sub>
                                    <m:sup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p>
                                    <m:sSupPr>
                                      <m:ctrlP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1−(1−</m:t>
                                          </m:r>
                                          <m: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  <m:r>
                                            <a:rPr lang="ru-RU" sz="2800" i="1" kern="100">
                                              <a:effectLst/>
                                              <a:latin typeface="Cambria Math" panose="02040503050406030204" pitchFamily="18" charset="0"/>
                                              <a:ea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/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  <m:sSup>
                                            <m:sSupPr>
                                              <m:ctrlPr>
                                                <a:rPr lang="ru-RU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ru-RU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  <m:sup>
                                              <m:r>
                                                <a:rPr lang="ru-RU" sz="2800" i="1" kern="100">
                                                  <a:effectLst/>
                                                  <a:latin typeface="Cambria Math" panose="02040503050406030204" pitchFamily="18" charset="0"/>
                                                  <a:ea typeface="Times New Roman" panose="020206030504050203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ru-RU" sz="2800" i="1" kern="100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lang="ru-RU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D114DC-912E-47E7-8579-C40C54B51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250" y="11477638"/>
                <a:ext cx="9360000" cy="4756430"/>
              </a:xfrm>
              <a:prstGeom prst="rect">
                <a:avLst/>
              </a:prstGeom>
              <a:blipFill>
                <a:blip r:embed="rId7"/>
                <a:stretch>
                  <a:fillRect l="-1953" t="-2179" r="-1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93E2A8C-309E-47C8-9513-DC7EA4CC6A5A}"/>
              </a:ext>
            </a:extLst>
          </p:cNvPr>
          <p:cNvSpPr txBox="1"/>
          <p:nvPr/>
        </p:nvSpPr>
        <p:spPr>
          <a:xfrm>
            <a:off x="20330637" y="10014892"/>
            <a:ext cx="93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Тяжелоионная опция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04960-D181-408A-BE52-EA845CC6717D}"/>
              </a:ext>
            </a:extLst>
          </p:cNvPr>
          <p:cNvSpPr txBox="1"/>
          <p:nvPr/>
        </p:nvSpPr>
        <p:spPr>
          <a:xfrm>
            <a:off x="10512480" y="21246618"/>
            <a:ext cx="93600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Квази-замороженная</a:t>
            </a:r>
            <a:r>
              <a:rPr lang="ru-RU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опция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DCF696-4E05-4FF8-A41C-365E6F5F522D}"/>
              </a:ext>
            </a:extLst>
          </p:cNvPr>
          <p:cNvSpPr txBox="1"/>
          <p:nvPr/>
        </p:nvSpPr>
        <p:spPr>
          <a:xfrm>
            <a:off x="20373415" y="28768656"/>
            <a:ext cx="936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Благодарности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43E5D1-B26C-4E88-8B15-0C2B86424615}"/>
              </a:ext>
            </a:extLst>
          </p:cNvPr>
          <p:cNvSpPr txBox="1"/>
          <p:nvPr/>
        </p:nvSpPr>
        <p:spPr>
          <a:xfrm>
            <a:off x="20370677" y="30148706"/>
            <a:ext cx="936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выполнено при поддержке гранта Российского Научного Фонда №25-72-30005.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9C5C72-ED73-424F-97DB-EB8CCE4625CE}"/>
              </a:ext>
            </a:extLst>
          </p:cNvPr>
          <p:cNvSpPr txBox="1"/>
          <p:nvPr/>
        </p:nvSpPr>
        <p:spPr>
          <a:xfrm>
            <a:off x="15303583" y="33732214"/>
            <a:ext cx="144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литературы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92A4AB-D695-48FE-AC11-8BF0528AFB40}"/>
              </a:ext>
            </a:extLst>
          </p:cNvPr>
          <p:cNvSpPr txBox="1"/>
          <p:nvPr/>
        </p:nvSpPr>
        <p:spPr>
          <a:xfrm>
            <a:off x="15316817" y="35107245"/>
            <a:ext cx="14400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buAutoNum type="arabicPeriod"/>
            </a:pP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Senichev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Y.V.,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Chechenin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A.N. Theory of “Resonant” lattices for synchrotrons with negative momentum compaction factor. J. Exp.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Phys. 105, 988–997 (2007).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DOI:10.1134/S1063776107110118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indent="-742950" algn="just">
              <a:buAutoNum type="arabicPeriod"/>
            </a:pP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А. А. Мельников, Ю. В. Сеничев, А. Е. Аксентьев, С. Д. Колокольчиков, Природа спиновой декогеренции поляризованного пучка легких ядер в накопительном кольце для поиска ЭДМ, Том 118, № 9-10 (11), стр. 713-720 (2023). DOI: 10.31857/S1234567823220020</a:t>
            </a:r>
          </a:p>
          <a:p>
            <a:pPr marL="742950" indent="-742950" algn="just"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Kolokolchikov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Yu.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Senichev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Aksentev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Melnikov, Features of dual-purpose structure for heavy ion and light particles,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Sci. and Tech., DOI: 10.1007/s41365-025-01791-4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1C3633-8756-43CA-909A-E53AC6AF41A0}"/>
              </a:ext>
            </a:extLst>
          </p:cNvPr>
          <p:cNvSpPr txBox="1"/>
          <p:nvPr/>
        </p:nvSpPr>
        <p:spPr>
          <a:xfrm>
            <a:off x="558091" y="35106242"/>
            <a:ext cx="14400000" cy="6842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Рассмотрены особенности магнитооптической структуры кольца в форме 8. Показана возможность использования кольца для решения различных физических программ. Для протонного поляризованного пучка предложен метод резонансного поднятия критической энергии. Для накопления ЭДМ-сигнала в структуре с квази-замороженным спином реализована возможность расстановки 3-х независимых семейств секступолей для коррекции равновесного уровня энергии. Для тяжелоионного пучка проведена оптимизация времени внутрипучкового рассеяния.</a:t>
            </a:r>
            <a:endParaRPr lang="ru-RU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Приведенные возможности применения кольца, а также особые свойства для поляризованных пучков делают такую установку уникальной.</a:t>
            </a:r>
            <a:endParaRPr lang="ru-RU" sz="115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668CF-9B84-4FCE-B6E2-3306AEE47860}"/>
              </a:ext>
            </a:extLst>
          </p:cNvPr>
          <p:cNvSpPr txBox="1"/>
          <p:nvPr/>
        </p:nvSpPr>
        <p:spPr>
          <a:xfrm>
            <a:off x="559921" y="33732439"/>
            <a:ext cx="14400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54E4C7-65CA-4FFA-A92C-A95F1A3E157F}"/>
              </a:ext>
            </a:extLst>
          </p:cNvPr>
          <p:cNvSpPr txBox="1"/>
          <p:nvPr/>
        </p:nvSpPr>
        <p:spPr>
          <a:xfrm>
            <a:off x="543564" y="11477638"/>
            <a:ext cx="936000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данной работе показан принципиальный подход при проектировании структуры кольца в форме 8 для выполнения нескольких физических программ. Во-первых, уникальная форма кольца позволяет решить проблему с пересечением спиновых резонансов при ускорении поляризованного пучка. Во-вторых, данная структура может быть использована для экспериментов по измерению ЭДМ и поиску аксиона. В-третьих, структура может быть адаптирована для ускорения тяжелоионного пучка.</a:t>
            </a:r>
          </a:p>
          <a:p>
            <a:pPr algn="just"/>
            <a:endParaRPr lang="ru-RU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использовании кольца в форме 8 одна арка компенсирует прецессию спина под действием Магнитного Дипольного Момента (МДМ), вызванную другой. Таким образом, частота вращения спина (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spin tune</a:t>
            </a:r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оказывается равна нулю и кольцо становится спин-прозрачным (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Spin Transparence</a:t>
            </a:r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–­­ 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59D3142-3205-4F72-B399-3287846D77A0}"/>
              </a:ext>
            </a:extLst>
          </p:cNvPr>
          <p:cNvSpPr txBox="1"/>
          <p:nvPr/>
        </p:nvSpPr>
        <p:spPr>
          <a:xfrm>
            <a:off x="20337818" y="11472245"/>
            <a:ext cx="936000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Поскольку, в рассматриваемой работе исследуется многофункциональность структуры, то расстановка элементов предполагается неизменной, что соответствует дуальной структуре 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[3].</a:t>
            </a:r>
          </a:p>
          <a:p>
            <a:pPr algn="just"/>
            <a:endParaRPr lang="en-US" sz="3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Особенность кольца, ориентированного на ускорение высоко интенсивного пучка тяжелых ионов, состоит в обеспечении высокого времени жизни. Ввиду высокой зарядности частиц, критически важным является влияние внутрипучкового рассеяния (ВПР), приводящего к увеличению эмиттанса сгустка и снижению светимости коллайдерного эксперимента.</a:t>
            </a: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36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36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бщим походом в этом случае, являются минимизация бета-функции и дисперсия, а также их регуляризация, что приводит к увеличению времени ВПР в структуре.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1979F0-3709-40DB-A485-A5F966E5C871}"/>
              </a:ext>
            </a:extLst>
          </p:cNvPr>
          <p:cNvSpPr txBox="1"/>
          <p:nvPr/>
        </p:nvSpPr>
        <p:spPr>
          <a:xfrm>
            <a:off x="10498249" y="22555200"/>
            <a:ext cx="9360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кольца в форме 8 подавление МДМ-компоненты выполняется автоматически, однако накопление ЭДМ-компоненты не происходит. Для накопления сигнала, необходимо использование как фильтра Вина, так и соленоида на каждом прямолинейном участке. </a:t>
            </a:r>
          </a:p>
          <a:p>
            <a:pPr algn="just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Поворотные арки моделируются таким образом, чтобы реализовать 3 независимых семейства секступолей для подавления декогеренции поляризованного пучка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[2]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A785DCDC-0C88-4913-8620-F6C0FC2D83CD}"/>
              </a:ext>
            </a:extLst>
          </p:cNvPr>
          <p:cNvCxnSpPr>
            <a:cxnSpLocks/>
          </p:cNvCxnSpPr>
          <p:nvPr/>
        </p:nvCxnSpPr>
        <p:spPr>
          <a:xfrm>
            <a:off x="525780" y="11163300"/>
            <a:ext cx="9360000" cy="0"/>
          </a:xfrm>
          <a:prstGeom prst="line">
            <a:avLst/>
          </a:prstGeom>
          <a:ln w="28575">
            <a:solidFill>
              <a:srgbClr val="0C476B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597AC617-6F1F-441E-BF64-A3F7BBB76BF2}"/>
              </a:ext>
            </a:extLst>
          </p:cNvPr>
          <p:cNvCxnSpPr>
            <a:cxnSpLocks/>
          </p:cNvCxnSpPr>
          <p:nvPr/>
        </p:nvCxnSpPr>
        <p:spPr>
          <a:xfrm>
            <a:off x="10512480" y="11163300"/>
            <a:ext cx="9360000" cy="0"/>
          </a:xfrm>
          <a:prstGeom prst="line">
            <a:avLst/>
          </a:prstGeom>
          <a:ln w="28575">
            <a:solidFill>
              <a:srgbClr val="0C476B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AC58B823-A951-4EB4-BC55-5C7C2CBC91DA}"/>
              </a:ext>
            </a:extLst>
          </p:cNvPr>
          <p:cNvCxnSpPr>
            <a:cxnSpLocks/>
          </p:cNvCxnSpPr>
          <p:nvPr/>
        </p:nvCxnSpPr>
        <p:spPr>
          <a:xfrm>
            <a:off x="20328389" y="11163300"/>
            <a:ext cx="9360000" cy="0"/>
          </a:xfrm>
          <a:prstGeom prst="line">
            <a:avLst/>
          </a:prstGeom>
          <a:ln w="28575">
            <a:solidFill>
              <a:srgbClr val="0C476B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>
            <a:extLst>
              <a:ext uri="{FF2B5EF4-FFF2-40B4-BE49-F238E27FC236}">
                <a16:creationId xmlns:a16="http://schemas.microsoft.com/office/drawing/2014/main" id="{FBD704C4-D0D2-4C2E-A1BE-703B0A7FA7DF}"/>
              </a:ext>
            </a:extLst>
          </p:cNvPr>
          <p:cNvCxnSpPr>
            <a:cxnSpLocks/>
          </p:cNvCxnSpPr>
          <p:nvPr/>
        </p:nvCxnSpPr>
        <p:spPr>
          <a:xfrm>
            <a:off x="10512480" y="22319286"/>
            <a:ext cx="9360000" cy="0"/>
          </a:xfrm>
          <a:prstGeom prst="line">
            <a:avLst/>
          </a:prstGeom>
          <a:ln w="28575">
            <a:solidFill>
              <a:srgbClr val="0C476B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E230FA57-E9FD-4911-8725-BFC193FE7804}"/>
              </a:ext>
            </a:extLst>
          </p:cNvPr>
          <p:cNvCxnSpPr>
            <a:cxnSpLocks/>
          </p:cNvCxnSpPr>
          <p:nvPr/>
        </p:nvCxnSpPr>
        <p:spPr>
          <a:xfrm>
            <a:off x="20376773" y="29910962"/>
            <a:ext cx="9360000" cy="0"/>
          </a:xfrm>
          <a:prstGeom prst="line">
            <a:avLst/>
          </a:prstGeom>
          <a:ln w="28575">
            <a:solidFill>
              <a:srgbClr val="0C476B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FDEBB122-57BB-4564-9E86-B2AC8E404E40}"/>
              </a:ext>
            </a:extLst>
          </p:cNvPr>
          <p:cNvCxnSpPr>
            <a:cxnSpLocks/>
          </p:cNvCxnSpPr>
          <p:nvPr/>
        </p:nvCxnSpPr>
        <p:spPr>
          <a:xfrm>
            <a:off x="15303583" y="34887724"/>
            <a:ext cx="14400000" cy="0"/>
          </a:xfrm>
          <a:prstGeom prst="line">
            <a:avLst/>
          </a:prstGeom>
          <a:ln w="28575">
            <a:solidFill>
              <a:srgbClr val="0C476B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A6FA9483-DAC6-4E32-9D52-79971D00D69B}"/>
              </a:ext>
            </a:extLst>
          </p:cNvPr>
          <p:cNvCxnSpPr>
            <a:cxnSpLocks/>
          </p:cNvCxnSpPr>
          <p:nvPr/>
        </p:nvCxnSpPr>
        <p:spPr>
          <a:xfrm>
            <a:off x="558091" y="34887724"/>
            <a:ext cx="14400000" cy="0"/>
          </a:xfrm>
          <a:prstGeom prst="line">
            <a:avLst/>
          </a:prstGeom>
          <a:ln w="28575">
            <a:solidFill>
              <a:srgbClr val="0C476B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3451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</TotalTime>
  <Words>603</Words>
  <Application>Microsoft Office PowerPoint</Application>
  <PresentationFormat>Произвольный</PresentationFormat>
  <Paragraphs>31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Сергей Колокольчиков</cp:lastModifiedBy>
  <cp:revision>28</cp:revision>
  <dcterms:created xsi:type="dcterms:W3CDTF">2025-06-24T12:31:47Z</dcterms:created>
  <dcterms:modified xsi:type="dcterms:W3CDTF">2025-08-28T09:43:34Z</dcterms:modified>
</cp:coreProperties>
</file>