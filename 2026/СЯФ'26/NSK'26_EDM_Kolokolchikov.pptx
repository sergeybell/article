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951" r:id="rId1"/>
  </p:sldMasterIdLst>
  <p:notesMasterIdLst>
    <p:notesMasterId r:id="rId34"/>
  </p:notesMasterIdLst>
  <p:handoutMasterIdLst>
    <p:handoutMasterId r:id="rId35"/>
  </p:handoutMasterIdLst>
  <p:sldIdLst>
    <p:sldId id="706" r:id="rId2"/>
    <p:sldId id="673" r:id="rId3"/>
    <p:sldId id="701" r:id="rId4"/>
    <p:sldId id="675" r:id="rId5"/>
    <p:sldId id="661" r:id="rId6"/>
    <p:sldId id="676" r:id="rId7"/>
    <p:sldId id="677" r:id="rId8"/>
    <p:sldId id="707" r:id="rId9"/>
    <p:sldId id="705" r:id="rId10"/>
    <p:sldId id="696" r:id="rId11"/>
    <p:sldId id="407" r:id="rId12"/>
    <p:sldId id="697" r:id="rId13"/>
    <p:sldId id="602" r:id="rId14"/>
    <p:sldId id="434" r:id="rId15"/>
    <p:sldId id="667" r:id="rId16"/>
    <p:sldId id="260" r:id="rId17"/>
    <p:sldId id="699" r:id="rId18"/>
    <p:sldId id="668" r:id="rId19"/>
    <p:sldId id="694" r:id="rId20"/>
    <p:sldId id="606" r:id="rId21"/>
    <p:sldId id="287" r:id="rId22"/>
    <p:sldId id="703" r:id="rId23"/>
    <p:sldId id="654" r:id="rId24"/>
    <p:sldId id="672" r:id="rId25"/>
    <p:sldId id="637" r:id="rId26"/>
    <p:sldId id="664" r:id="rId27"/>
    <p:sldId id="704" r:id="rId28"/>
    <p:sldId id="689" r:id="rId29"/>
    <p:sldId id="686" r:id="rId30"/>
    <p:sldId id="666" r:id="rId31"/>
    <p:sldId id="456" r:id="rId32"/>
    <p:sldId id="449" r:id="rId33"/>
  </p:sldIdLst>
  <p:sldSz cx="9144000" cy="6858000" type="screen4x3"/>
  <p:notesSz cx="6794500" cy="99314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4176">
          <p15:clr>
            <a:srgbClr val="A4A3A4"/>
          </p15:clr>
        </p15:guide>
        <p15:guide id="2" orient="horz" pos="1392">
          <p15:clr>
            <a:srgbClr val="A4A3A4"/>
          </p15:clr>
        </p15:guide>
        <p15:guide id="3" orient="horz" pos="144">
          <p15:clr>
            <a:srgbClr val="A4A3A4"/>
          </p15:clr>
        </p15:guide>
        <p15:guide id="4" orient="horz">
          <p15:clr>
            <a:srgbClr val="A4A3A4"/>
          </p15:clr>
        </p15:guide>
        <p15:guide id="5" orient="horz" pos="672">
          <p15:clr>
            <a:srgbClr val="A4A3A4"/>
          </p15:clr>
        </p15:guide>
        <p15:guide id="6" pos="5759">
          <p15:clr>
            <a:srgbClr val="A4A3A4"/>
          </p15:clr>
        </p15:guide>
        <p15:guide id="7" pos="480">
          <p15:clr>
            <a:srgbClr val="A4A3A4"/>
          </p15:clr>
        </p15:guide>
        <p15:guide id="8" pos="4704">
          <p15:clr>
            <a:srgbClr val="A4A3A4"/>
          </p15:clr>
        </p15:guide>
        <p15:guide id="9" pos="56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ikita Vasyukhin" initials="NV" lastIdx="4" clrIdx="0"/>
  <p:cmAuthor id="1" name="Lenovo" initials="L" lastIdx="3" clrIdx="1">
    <p:extLst>
      <p:ext uri="{19B8F6BF-5375-455C-9EA6-DF929625EA0E}">
        <p15:presenceInfo xmlns:p15="http://schemas.microsoft.com/office/powerpoint/2012/main" userId="Lenov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  <a:srgbClr val="CC0099"/>
    <a:srgbClr val="CC0066"/>
    <a:srgbClr val="FF0000"/>
    <a:srgbClr val="CC00CC"/>
    <a:srgbClr val="CF9D87"/>
    <a:srgbClr val="D60093"/>
    <a:srgbClr val="604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2" autoAdjust="0"/>
    <p:restoredTop sz="90058" autoAdjust="0"/>
  </p:normalViewPr>
  <p:slideViewPr>
    <p:cSldViewPr>
      <p:cViewPr varScale="1">
        <p:scale>
          <a:sx n="137" d="100"/>
          <a:sy n="137" d="100"/>
        </p:scale>
        <p:origin x="1162" y="91"/>
      </p:cViewPr>
      <p:guideLst>
        <p:guide orient="horz" pos="4176"/>
        <p:guide orient="horz" pos="1392"/>
        <p:guide orient="horz" pos="144"/>
        <p:guide orient="horz"/>
        <p:guide orient="horz" pos="672"/>
        <p:guide pos="5759"/>
        <p:guide pos="480"/>
        <p:guide pos="4704"/>
        <p:guide pos="56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698" y="-91"/>
      </p:cViewPr>
      <p:guideLst>
        <p:guide orient="horz" pos="3128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7" Type="http://schemas.openxmlformats.org/officeDocument/2006/relationships/image" Target="../media/image10.wmf"/><Relationship Id="rId2" Type="http://schemas.openxmlformats.org/officeDocument/2006/relationships/image" Target="../media/image5.wmf"/><Relationship Id="rId1" Type="http://schemas.openxmlformats.org/officeDocument/2006/relationships/image" Target="../media/image4.wmf"/><Relationship Id="rId6" Type="http://schemas.openxmlformats.org/officeDocument/2006/relationships/image" Target="../media/image9.wmf"/><Relationship Id="rId5" Type="http://schemas.openxmlformats.org/officeDocument/2006/relationships/image" Target="../media/image8.wmf"/><Relationship Id="rId4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image" Target="../media/image19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8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t" anchorCtr="0" compatLnSpc="1">
            <a:prstTxWarp prst="textNoShape">
              <a:avLst/>
            </a:prstTxWarp>
          </a:bodyPr>
          <a:lstStyle>
            <a:lvl1pPr algn="l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ru-RU" altLang="en-US"/>
          </a:p>
        </p:txBody>
      </p:sp>
      <p:sp>
        <p:nvSpPr>
          <p:cNvPr id="911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48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t" anchorCtr="0" compatLnSpc="1">
            <a:prstTxWarp prst="textNoShape">
              <a:avLst/>
            </a:prstTxWarp>
          </a:bodyPr>
          <a:lstStyle>
            <a:lvl1pPr algn="r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18A66159-0B3C-44D9-990D-18DB0222E8E3}" type="datetime1">
              <a:rPr lang="en-US" altLang="en-US"/>
              <a:pPr>
                <a:defRPr/>
              </a:pPr>
              <a:t>3/8/2026</a:t>
            </a:fld>
            <a:endParaRPr lang="ru-RU" altLang="en-US"/>
          </a:p>
        </p:txBody>
      </p:sp>
      <p:sp>
        <p:nvSpPr>
          <p:cNvPr id="911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4513"/>
            <a:ext cx="29448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b" anchorCtr="0" compatLnSpc="1">
            <a:prstTxWarp prst="textNoShape">
              <a:avLst/>
            </a:prstTxWarp>
          </a:bodyPr>
          <a:lstStyle>
            <a:lvl1pPr algn="l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r>
              <a:rPr lang="ru-RU" altLang="en-US"/>
              <a:t>PAC 2009, Yu. Senichev</a:t>
            </a:r>
          </a:p>
        </p:txBody>
      </p:sp>
      <p:sp>
        <p:nvSpPr>
          <p:cNvPr id="911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34513"/>
            <a:ext cx="29448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b" anchorCtr="0" compatLnSpc="1">
            <a:prstTxWarp prst="textNoShape">
              <a:avLst/>
            </a:prstTxWarp>
          </a:bodyPr>
          <a:lstStyle>
            <a:lvl1pPr algn="r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5BFBDCC8-F82F-4036-BDF4-8BFA0226C038}" type="slidenum">
              <a:rPr lang="de-DE" altLang="en-US"/>
              <a:pPr>
                <a:defRPr/>
              </a:pPr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8704475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813" cy="496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t" anchorCtr="0" compatLnSpc="1">
            <a:prstTxWarp prst="textNoShape">
              <a:avLst/>
            </a:prstTxWarp>
          </a:bodyPr>
          <a:lstStyle>
            <a:lvl1pPr algn="l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ru-RU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8100" y="0"/>
            <a:ext cx="2944813" cy="496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t" anchorCtr="0" compatLnSpc="1">
            <a:prstTxWarp prst="textNoShape">
              <a:avLst/>
            </a:prstTxWarp>
          </a:bodyPr>
          <a:lstStyle>
            <a:lvl1pPr algn="r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A2327912-36C1-4CB2-8E5A-877D5BDE0C00}" type="datetime1">
              <a:rPr lang="en-US" altLang="en-US"/>
              <a:pPr>
                <a:defRPr/>
              </a:pPr>
              <a:t>3/8/2026</a:t>
            </a:fld>
            <a:endParaRPr lang="ru-RU" altLang="en-US"/>
          </a:p>
        </p:txBody>
      </p:sp>
      <p:sp>
        <p:nvSpPr>
          <p:cNvPr id="368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8050"/>
            <a:ext cx="5435600" cy="446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4813" cy="496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b" anchorCtr="0" compatLnSpc="1">
            <a:prstTxWarp prst="textNoShape">
              <a:avLst/>
            </a:prstTxWarp>
          </a:bodyPr>
          <a:lstStyle>
            <a:lvl1pPr algn="l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r>
              <a:rPr lang="ru-RU" altLang="en-US"/>
              <a:t>PAC 2009, Yu. Senichev</a:t>
            </a: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8100" y="9432925"/>
            <a:ext cx="2944813" cy="496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873" tIns="45437" rIns="90873" bIns="45437" numCol="1" anchor="b" anchorCtr="0" compatLnSpc="1">
            <a:prstTxWarp prst="textNoShape">
              <a:avLst/>
            </a:prstTxWarp>
          </a:bodyPr>
          <a:lstStyle>
            <a:lvl1pPr algn="r" defTabSz="908050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EFDC3419-676F-4F64-A8FD-85C01B70B997}" type="slidenum">
              <a:rPr lang="de-DE" altLang="en-US"/>
              <a:pPr>
                <a:defRPr/>
              </a:pPr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438271564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A2327912-36C1-4CB2-8E5A-877D5BDE0C00}" type="datetime1">
              <a:rPr lang="en-US" altLang="en-US" smtClean="0"/>
              <a:pPr>
                <a:defRPr/>
              </a:pPr>
              <a:t>3/8/2026</a:t>
            </a:fld>
            <a:endParaRPr lang="ru-RU" alt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ru-RU" altLang="en-US"/>
              <a:t>PAC 2009, Yu. Senichev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FDC3419-676F-4F64-A8FD-85C01B70B997}" type="slidenum">
              <a:rPr lang="de-DE" altLang="en-US" smtClean="0"/>
              <a:pPr>
                <a:defRPr/>
              </a:pPr>
              <a:t>10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881425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>
            <a:extLst>
              <a:ext uri="{FF2B5EF4-FFF2-40B4-BE49-F238E27FC236}">
                <a16:creationId xmlns:a16="http://schemas.microsoft.com/office/drawing/2014/main" id="{DF41C0A2-2874-4933-A85B-0D9A925C7E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7AA4B7-D1AA-48F9-B280-64DADBDB205C}" type="slidenum">
              <a:rPr lang="de-DE" altLang="en-US"/>
              <a:pPr eaLnBrk="1" hangingPunct="1">
                <a:spcBef>
                  <a:spcPct val="0"/>
                </a:spcBef>
              </a:pPr>
              <a:t>31</a:t>
            </a:fld>
            <a:endParaRPr lang="de-DE" altLang="en-US"/>
          </a:p>
        </p:txBody>
      </p:sp>
      <p:sp>
        <p:nvSpPr>
          <p:cNvPr id="49155" name="Rectangle 2">
            <a:extLst>
              <a:ext uri="{FF2B5EF4-FFF2-40B4-BE49-F238E27FC236}">
                <a16:creationId xmlns:a16="http://schemas.microsoft.com/office/drawing/2014/main" id="{B603C08E-E4EF-48AA-87BF-C0D4C6AA2F3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A3E05523-FCAD-4211-BC53-A695BFB832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997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90963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9096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66EB69D-9BBB-45BF-B3CE-1397FB0054F1}" type="slidenum">
              <a:rPr lang="de-DE" altLang="en-US" smtClean="0">
                <a:cs typeface="Arial" pitchFamily="34" charset="0"/>
              </a:rPr>
              <a:pPr eaLnBrk="1" hangingPunct="1">
                <a:spcBef>
                  <a:spcPct val="0"/>
                </a:spcBef>
              </a:pPr>
              <a:t>32</a:t>
            </a:fld>
            <a:endParaRPr lang="de-DE" altLang="en-US">
              <a:cs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4677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466F-BDA4-4F18-9C7B-FF0A9A1B0E80}" type="datetime1">
              <a:rPr lang="en-US" smtClean="0"/>
              <a:pPr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74215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F607B-A47E-422C-9BEF-122CCDB7C526}" type="datetime1">
              <a:rPr lang="en-US" smtClean="0"/>
              <a:pPr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9833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48615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E300C-6FC5-4FC3-AF1A-075E4F50620D}" type="datetime1">
              <a:rPr lang="en-US" smtClean="0"/>
              <a:pPr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9855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07324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8685-4D0C-42D5-8013-B5904CD1FCBC}" type="datetime1">
              <a:rPr lang="en-US" smtClean="0"/>
              <a:pPr/>
              <a:t>3/8/2026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1305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42466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8472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231874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37115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74909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720000" y="1270800"/>
            <a:ext cx="8075240" cy="4824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Clr>
                <a:srgbClr val="005B82"/>
              </a:buClr>
              <a:buSzPct val="80000"/>
              <a:buFontTx/>
              <a:buNone/>
              <a:defRPr sz="2200" baseline="0">
                <a:latin typeface="Arial" pitchFamily="34" charset="0"/>
                <a:cs typeface="Arial" pitchFamily="34" charset="0"/>
              </a:defRPr>
            </a:lvl1pPr>
            <a:lvl2pPr marL="457200" indent="0">
              <a:buClr>
                <a:srgbClr val="005B82"/>
              </a:buClr>
              <a:buSzPct val="80000"/>
              <a:buFont typeface="Wingdings" pitchFamily="2" charset="2"/>
              <a:buNone/>
              <a:defRPr sz="2200">
                <a:latin typeface="Arial" pitchFamily="34" charset="0"/>
                <a:cs typeface="Arial" pitchFamily="34" charset="0"/>
              </a:defRPr>
            </a:lvl2pPr>
            <a:lvl3pPr marL="1143000" indent="-228600">
              <a:buClr>
                <a:srgbClr val="005B82"/>
              </a:buClr>
              <a:buSzPct val="80000"/>
              <a:buFont typeface="Wingdings" pitchFamily="2" charset="2"/>
              <a:buChar char="§"/>
              <a:defRPr sz="2200">
                <a:latin typeface="Arial" pitchFamily="34" charset="0"/>
                <a:cs typeface="Arial" pitchFamily="34" charset="0"/>
              </a:defRPr>
            </a:lvl3pPr>
            <a:lvl4pPr marL="1600200" indent="-228600">
              <a:buClr>
                <a:srgbClr val="005B82"/>
              </a:buClr>
              <a:buSzPct val="80000"/>
              <a:buFont typeface="Wingdings" pitchFamily="2" charset="2"/>
              <a:buChar char="§"/>
              <a:defRPr sz="2200">
                <a:latin typeface="Arial" pitchFamily="34" charset="0"/>
                <a:cs typeface="Arial" pitchFamily="34" charset="0"/>
              </a:defRPr>
            </a:lvl4pPr>
            <a:lvl5pPr marL="2057400" indent="-228600">
              <a:buClr>
                <a:srgbClr val="005B82"/>
              </a:buClr>
              <a:buSzPct val="80000"/>
              <a:buFont typeface="Wingdings" pitchFamily="2" charset="2"/>
              <a:buChar char="§"/>
              <a:defRPr sz="2200">
                <a:latin typeface="Arial" pitchFamily="34" charset="0"/>
                <a:cs typeface="Arial" pitchFamily="34" charset="0"/>
              </a:defRPr>
            </a:lvl5pPr>
          </a:lstStyle>
          <a:p>
            <a:r>
              <a:rPr lang="de-DE" dirty="0"/>
              <a:t>Hier steht Blindtext zu einem Thema mit Einleitung und folgenden Aufzählungspunkten:</a:t>
            </a:r>
          </a:p>
          <a:p>
            <a:pPr marL="342900" indent="-342900">
              <a:buFont typeface="Wingdings" pitchFamily="2" charset="2"/>
              <a:buChar char="§"/>
            </a:pPr>
            <a:r>
              <a:rPr lang="de-DE" dirty="0" err="1"/>
              <a:t>Consectetuer</a:t>
            </a:r>
            <a:r>
              <a:rPr lang="de-DE" dirty="0"/>
              <a:t> </a:t>
            </a:r>
            <a:r>
              <a:rPr lang="de-DE" dirty="0" err="1"/>
              <a:t>adipiscing</a:t>
            </a:r>
            <a:r>
              <a:rPr lang="de-DE" dirty="0"/>
              <a:t> </a:t>
            </a:r>
            <a:r>
              <a:rPr lang="de-DE" dirty="0" err="1"/>
              <a:t>elit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nonummy</a:t>
            </a:r>
            <a:r>
              <a:rPr lang="de-DE" dirty="0"/>
              <a:t> </a:t>
            </a:r>
            <a:r>
              <a:rPr lang="de-DE" dirty="0" err="1"/>
              <a:t>nibh</a:t>
            </a:r>
            <a:br>
              <a:rPr lang="de-DE" dirty="0"/>
            </a:br>
            <a:r>
              <a:rPr lang="de-DE" dirty="0" err="1"/>
              <a:t>tincidunt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laoreet</a:t>
            </a:r>
            <a:r>
              <a:rPr lang="de-DE" dirty="0"/>
              <a:t>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</a:t>
            </a:r>
          </a:p>
          <a:p>
            <a:pPr marL="342900" indent="-342900">
              <a:buFont typeface="Wingdings" pitchFamily="2" charset="2"/>
              <a:buChar char="§"/>
            </a:pPr>
            <a:r>
              <a:rPr lang="de-DE" dirty="0" err="1"/>
              <a:t>Consectetuer</a:t>
            </a:r>
            <a:r>
              <a:rPr lang="de-DE" dirty="0"/>
              <a:t> </a:t>
            </a:r>
            <a:r>
              <a:rPr lang="de-DE" dirty="0" err="1"/>
              <a:t>adipiscing</a:t>
            </a:r>
            <a:r>
              <a:rPr lang="de-DE" dirty="0"/>
              <a:t> </a:t>
            </a:r>
            <a:r>
              <a:rPr lang="de-DE" dirty="0" err="1"/>
              <a:t>elit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nonummy</a:t>
            </a:r>
            <a:r>
              <a:rPr lang="de-DE" dirty="0"/>
              <a:t> </a:t>
            </a:r>
            <a:r>
              <a:rPr lang="de-DE" dirty="0" err="1"/>
              <a:t>tincidunt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laoreet</a:t>
            </a:r>
            <a:r>
              <a:rPr lang="de-DE" dirty="0"/>
              <a:t>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</a:t>
            </a:r>
            <a:r>
              <a:rPr lang="de-DE" dirty="0" err="1"/>
              <a:t>Consectetuer</a:t>
            </a:r>
            <a:r>
              <a:rPr lang="de-DE" dirty="0"/>
              <a:t> </a:t>
            </a:r>
            <a:r>
              <a:rPr lang="de-DE" dirty="0" err="1"/>
              <a:t>adipiscing</a:t>
            </a:r>
            <a:br>
              <a:rPr lang="de-DE" dirty="0"/>
            </a:br>
            <a:r>
              <a:rPr lang="de-DE" dirty="0" err="1"/>
              <a:t>elit</a:t>
            </a:r>
            <a:r>
              <a:rPr lang="de-DE" dirty="0"/>
              <a:t>, </a:t>
            </a:r>
            <a:r>
              <a:rPr lang="de-DE" dirty="0" err="1"/>
              <a:t>sed</a:t>
            </a:r>
            <a:r>
              <a:rPr lang="de-DE" dirty="0"/>
              <a:t>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nonummy</a:t>
            </a:r>
            <a:r>
              <a:rPr lang="de-DE" dirty="0"/>
              <a:t> </a:t>
            </a:r>
            <a:r>
              <a:rPr lang="de-DE" dirty="0" err="1"/>
              <a:t>nibh</a:t>
            </a:r>
            <a:r>
              <a:rPr lang="de-DE" dirty="0"/>
              <a:t> </a:t>
            </a:r>
            <a:r>
              <a:rPr lang="de-DE" dirty="0" err="1"/>
              <a:t>euismod</a:t>
            </a:r>
            <a:r>
              <a:rPr lang="de-DE" dirty="0"/>
              <a:t> </a:t>
            </a:r>
            <a:r>
              <a:rPr lang="de-DE" dirty="0" err="1"/>
              <a:t>tincidunt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laoreet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	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63015-BCCC-4276-94E6-CD41EDF32751}" type="datetime1">
              <a:rPr lang="en-US" smtClean="0"/>
              <a:t>3/8/2026</a:t>
            </a:fld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y.senichev@inr.ru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9AEA1-3281-46F0-9EDB-48FF2E5FF267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7" name="Inhaltsplatzhalter 2"/>
          <p:cNvSpPr>
            <a:spLocks noGrp="1"/>
          </p:cNvSpPr>
          <p:nvPr>
            <p:ph idx="17" hasCustomPrompt="1"/>
          </p:nvPr>
        </p:nvSpPr>
        <p:spPr>
          <a:xfrm>
            <a:off x="720000" y="432000"/>
            <a:ext cx="6588000" cy="57606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Clr>
                <a:srgbClr val="005B82"/>
              </a:buClr>
              <a:buSzPct val="80000"/>
              <a:buFontTx/>
              <a:buNone/>
              <a:defRPr sz="2800" b="1" baseline="0">
                <a:solidFill>
                  <a:srgbClr val="005B82"/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Clr>
                <a:srgbClr val="005B82"/>
              </a:buClr>
              <a:buSzPct val="80000"/>
              <a:buFont typeface="Wingdings" pitchFamily="2" charset="2"/>
              <a:buNone/>
              <a:defRPr sz="2200">
                <a:latin typeface="Arial" pitchFamily="34" charset="0"/>
                <a:cs typeface="Arial" pitchFamily="34" charset="0"/>
              </a:defRPr>
            </a:lvl2pPr>
            <a:lvl3pPr marL="1143000" indent="-228600">
              <a:buClr>
                <a:srgbClr val="005B82"/>
              </a:buClr>
              <a:buSzPct val="80000"/>
              <a:buFont typeface="Wingdings" pitchFamily="2" charset="2"/>
              <a:buChar char="§"/>
              <a:defRPr sz="2200">
                <a:latin typeface="Arial" pitchFamily="34" charset="0"/>
                <a:cs typeface="Arial" pitchFamily="34" charset="0"/>
              </a:defRPr>
            </a:lvl3pPr>
            <a:lvl4pPr marL="1600200" indent="-228600">
              <a:buClr>
                <a:srgbClr val="005B82"/>
              </a:buClr>
              <a:buSzPct val="80000"/>
              <a:buFont typeface="Wingdings" pitchFamily="2" charset="2"/>
              <a:buChar char="§"/>
              <a:defRPr sz="2200">
                <a:latin typeface="Arial" pitchFamily="34" charset="0"/>
                <a:cs typeface="Arial" pitchFamily="34" charset="0"/>
              </a:defRPr>
            </a:lvl4pPr>
            <a:lvl5pPr marL="2057400" indent="-228600">
              <a:buClr>
                <a:srgbClr val="005B82"/>
              </a:buClr>
              <a:buSzPct val="80000"/>
              <a:buFont typeface="Wingdings" pitchFamily="2" charset="2"/>
              <a:buChar char="§"/>
              <a:defRPr sz="2200">
                <a:latin typeface="Arial" pitchFamily="34" charset="0"/>
                <a:cs typeface="Arial" pitchFamily="34" charset="0"/>
              </a:defRPr>
            </a:lvl5pPr>
          </a:lstStyle>
          <a:p>
            <a:r>
              <a:rPr lang="de-DE" dirty="0"/>
              <a:t>Musterpräsentation</a:t>
            </a:r>
          </a:p>
        </p:txBody>
      </p:sp>
    </p:spTree>
    <p:extLst>
      <p:ext uri="{BB962C8B-B14F-4D97-AF65-F5344CB8AC3E}">
        <p14:creationId xmlns:p14="http://schemas.microsoft.com/office/powerpoint/2010/main" val="3590309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14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9327620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138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719138" y="19050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1538" y="19050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388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F7D34C-41FA-408F-9792-AC699D4B52AB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2D2B3B-882E-40F3-A32F-6DD51691504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3514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52" r:id="rId1"/>
    <p:sldLayoutId id="2147484953" r:id="rId2"/>
    <p:sldLayoutId id="2147484954" r:id="rId3"/>
    <p:sldLayoutId id="2147484955" r:id="rId4"/>
    <p:sldLayoutId id="2147484956" r:id="rId5"/>
    <p:sldLayoutId id="2147484957" r:id="rId6"/>
    <p:sldLayoutId id="2147484958" r:id="rId7"/>
    <p:sldLayoutId id="2147484959" r:id="rId8"/>
    <p:sldLayoutId id="2147484960" r:id="rId9"/>
    <p:sldLayoutId id="2147484961" r:id="rId10"/>
    <p:sldLayoutId id="2147484962" r:id="rId11"/>
    <p:sldLayoutId id="2147484964" r:id="rId12"/>
    <p:sldLayoutId id="2147484966" r:id="rId13"/>
    <p:sldLayoutId id="2147484967" r:id="rId14"/>
  </p:sldLayoutIdLst>
  <p:transition>
    <p:fade thruBlk="1"/>
  </p:transition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8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7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9.w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oleObject" Target="../embeddings/oleObject8.bin"/><Relationship Id="rId7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9.bin"/><Relationship Id="rId4" Type="http://schemas.openxmlformats.org/officeDocument/2006/relationships/image" Target="../media/image19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43">
            <a:extLst>
              <a:ext uri="{FF2B5EF4-FFF2-40B4-BE49-F238E27FC236}">
                <a16:creationId xmlns:a16="http://schemas.microsoft.com/office/drawing/2014/main" id="{63F3E29F-89F2-301B-1317-F512582844AF}"/>
              </a:ext>
            </a:extLst>
          </p:cNvPr>
          <p:cNvSpPr/>
          <p:nvPr/>
        </p:nvSpPr>
        <p:spPr>
          <a:xfrm>
            <a:off x="-9000" y="6561887"/>
            <a:ext cx="9153000" cy="323497"/>
          </a:xfrm>
          <a:prstGeom prst="rect">
            <a:avLst/>
          </a:prstGeom>
          <a:solidFill>
            <a:srgbClr val="160D9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4289" rIns="3428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n w="0"/>
              <a:solidFill>
                <a:srgbClr val="A6FA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4" name="88ae095048.jpg" descr="88ae095048.jpg">
            <a:extLst>
              <a:ext uri="{FF2B5EF4-FFF2-40B4-BE49-F238E27FC236}">
                <a16:creationId xmlns:a16="http://schemas.microsoft.com/office/drawing/2014/main" id="{DC26E960-FDB4-8527-3340-51FC3308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191" y="4741967"/>
            <a:ext cx="1161856" cy="11398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" name="88ae095048.jpg" descr="88ae095048.jpg">
            <a:extLst>
              <a:ext uri="{FF2B5EF4-FFF2-40B4-BE49-F238E27FC236}">
                <a16:creationId xmlns:a16="http://schemas.microsoft.com/office/drawing/2014/main" id="{C5308DBD-CF85-14C9-C3AF-92A8CDBA460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815039" y="6547953"/>
            <a:ext cx="328961" cy="337420"/>
          </a:xfrm>
          <a:prstGeom prst="rect">
            <a:avLst/>
          </a:prstGeom>
          <a:ln w="12700">
            <a:miter lim="400000"/>
          </a:ln>
        </p:spPr>
      </p:pic>
      <p:sp>
        <p:nvSpPr>
          <p:cNvPr id="16" name="スライド番号プレースホルダー 16">
            <a:extLst>
              <a:ext uri="{FF2B5EF4-FFF2-40B4-BE49-F238E27FC236}">
                <a16:creationId xmlns:a16="http://schemas.microsoft.com/office/drawing/2014/main" id="{673095D8-5889-202E-ED5B-5E8DD6034F50}"/>
              </a:ext>
            </a:extLst>
          </p:cNvPr>
          <p:cNvSpPr txBox="1">
            <a:spLocks/>
          </p:cNvSpPr>
          <p:nvPr/>
        </p:nvSpPr>
        <p:spPr>
          <a:xfrm>
            <a:off x="8625330" y="6595887"/>
            <a:ext cx="126957" cy="2308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E5B542"/>
                </a:solidFill>
                <a:effectLst/>
                <a:uFillTx/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indent="4572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2pPr>
            <a:lvl3pPr marL="0" marR="0" indent="9144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3pPr>
            <a:lvl4pPr marL="0" marR="0" indent="13716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4pPr>
            <a:lvl5pPr marL="0" marR="0" indent="18288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5pPr>
            <a:lvl6pPr marL="0" marR="0" indent="22860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6pPr>
            <a:lvl7pPr marL="0" marR="0" indent="27432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7pPr>
            <a:lvl8pPr marL="0" marR="0" indent="32004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8pPr>
            <a:lvl9pPr marL="0" marR="0" indent="36576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游ゴシック"/>
              </a:defRPr>
            </a:lvl9pPr>
          </a:lstStyle>
          <a:p>
            <a:fld id="{86CB4B4D-7CA3-9044-876B-883B54F8677D}" type="slidenum">
              <a:rPr lang="ru-RU" sz="900">
                <a:solidFill>
                  <a:srgbClr val="FFA100"/>
                </a:solidFill>
                <a:latin typeface="+mn-lt"/>
              </a:rPr>
              <a:pPr/>
              <a:t>1</a:t>
            </a:fld>
            <a:endParaRPr lang="ru-RU" sz="900" dirty="0">
              <a:solidFill>
                <a:srgbClr val="FFA100"/>
              </a:solidFill>
              <a:latin typeface="+mn-lt"/>
            </a:endParaRPr>
          </a:p>
        </p:txBody>
      </p:sp>
      <p:sp>
        <p:nvSpPr>
          <p:cNvPr id="17" name="字幕 2">
            <a:extLst>
              <a:ext uri="{FF2B5EF4-FFF2-40B4-BE49-F238E27FC236}">
                <a16:creationId xmlns:a16="http://schemas.microsoft.com/office/drawing/2014/main" id="{5B4B4265-B9DF-949A-96CC-23323580670C}"/>
              </a:ext>
            </a:extLst>
          </p:cNvPr>
          <p:cNvSpPr txBox="1">
            <a:spLocks/>
          </p:cNvSpPr>
          <p:nvPr/>
        </p:nvSpPr>
        <p:spPr>
          <a:xfrm>
            <a:off x="1835696" y="2850288"/>
            <a:ext cx="4961100" cy="943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rIns="34289">
            <a:noAutofit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游ゴシック"/>
              </a:defRPr>
            </a:lvl9pPr>
          </a:lstStyle>
          <a:p>
            <a:pPr>
              <a:lnSpc>
                <a:spcPct val="81000"/>
              </a:lnSpc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sz="2100" b="1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Сергей Колокольчиков</a:t>
            </a:r>
            <a:r>
              <a:rPr lang="en-US" sz="2100" b="1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2100" b="1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(ИЯИ РАН</a:t>
            </a:r>
            <a:r>
              <a:rPr lang="en-US" sz="2100" b="1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sz="2100" b="1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МФТИ)</a:t>
            </a:r>
            <a:r>
              <a:rPr lang="en-US" sz="2100" b="1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lang="ru-RU" sz="2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hangingPunct="1">
              <a:lnSpc>
                <a:spcPct val="81000"/>
              </a:lnSpc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lang="en-US" sz="1200" dirty="0">
              <a:latin typeface="+mn-lt"/>
              <a:ea typeface="Times New Roman"/>
              <a:cs typeface="Times New Roman"/>
              <a:sym typeface="Times New Roman"/>
            </a:endParaRPr>
          </a:p>
          <a:p>
            <a:pPr hangingPunct="1">
              <a:lnSpc>
                <a:spcPct val="81000"/>
              </a:lnSpc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ru-RU" sz="1500" dirty="0">
                <a:latin typeface="+mn-lt"/>
                <a:ea typeface="Times New Roman"/>
                <a:cs typeface="Times New Roman"/>
                <a:sym typeface="Times New Roman"/>
              </a:rPr>
              <a:t>13</a:t>
            </a:r>
            <a:r>
              <a:rPr lang="en-US" sz="1500" dirty="0">
                <a:latin typeface="+mn-lt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1500" dirty="0">
                <a:latin typeface="+mn-lt"/>
                <a:ea typeface="Times New Roman"/>
                <a:cs typeface="Times New Roman"/>
                <a:sym typeface="Times New Roman"/>
              </a:rPr>
              <a:t>марта 2026</a:t>
            </a:r>
          </a:p>
          <a:p>
            <a:pPr hangingPunct="1">
              <a:lnSpc>
                <a:spcPct val="81000"/>
              </a:lnSpc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lang="en-US" sz="2100" dirty="0">
                <a:latin typeface="+mn-lt"/>
                <a:ea typeface="Times New Roman"/>
                <a:cs typeface="Times New Roman"/>
                <a:sym typeface="Times New Roman"/>
              </a:rPr>
              <a:t> </a:t>
            </a:r>
            <a:br>
              <a:rPr lang="ru-RU" sz="2100" dirty="0">
                <a:latin typeface="+mn-lt"/>
                <a:ea typeface="Times New Roman"/>
                <a:cs typeface="Times New Roman"/>
                <a:sym typeface="Times New Roman"/>
              </a:rPr>
            </a:br>
            <a:endParaRPr lang="ru-RU" sz="2100" dirty="0">
              <a:latin typeface="+mn-lt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263BC487-7F0C-23B0-77E1-FA6D1AB2D82D}"/>
              </a:ext>
            </a:extLst>
          </p:cNvPr>
          <p:cNvCxnSpPr>
            <a:cxnSpLocks/>
          </p:cNvCxnSpPr>
          <p:nvPr/>
        </p:nvCxnSpPr>
        <p:spPr>
          <a:xfrm>
            <a:off x="-12233" y="4365104"/>
            <a:ext cx="9156233" cy="0"/>
          </a:xfrm>
          <a:prstGeom prst="line">
            <a:avLst/>
          </a:prstGeom>
          <a:ln w="28575">
            <a:solidFill>
              <a:srgbClr val="EF4D0E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日付プレースホルダー 14">
            <a:extLst>
              <a:ext uri="{FF2B5EF4-FFF2-40B4-BE49-F238E27FC236}">
                <a16:creationId xmlns:a16="http://schemas.microsoft.com/office/drawing/2014/main" id="{27E10A01-D153-DDB6-A5E8-B904CD0C7451}"/>
              </a:ext>
            </a:extLst>
          </p:cNvPr>
          <p:cNvSpPr txBox="1"/>
          <p:nvPr/>
        </p:nvSpPr>
        <p:spPr>
          <a:xfrm>
            <a:off x="81969" y="6593393"/>
            <a:ext cx="645395" cy="2308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4289" rIns="34289" anchor="ctr">
            <a:spAutoFit/>
          </a:bodyPr>
          <a:lstStyle>
            <a:lvl1pPr>
              <a:defRPr sz="1200">
                <a:solidFill>
                  <a:srgbClr val="E5B44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rPr lang="en-US" sz="900" dirty="0">
                <a:solidFill>
                  <a:srgbClr val="FFA100"/>
                </a:solidFill>
                <a:latin typeface="+mn-lt"/>
              </a:rPr>
              <a:t>1</a:t>
            </a:r>
            <a:r>
              <a:rPr lang="ru-RU" sz="900" dirty="0">
                <a:solidFill>
                  <a:srgbClr val="FFA100"/>
                </a:solidFill>
                <a:latin typeface="+mn-lt"/>
              </a:rPr>
              <a:t>3</a:t>
            </a:r>
            <a:r>
              <a:rPr sz="900" dirty="0">
                <a:solidFill>
                  <a:srgbClr val="FFA100"/>
                </a:solidFill>
                <a:latin typeface="+mn-lt"/>
              </a:rPr>
              <a:t>/</a:t>
            </a:r>
            <a:r>
              <a:rPr lang="ru-RU" sz="900" dirty="0">
                <a:solidFill>
                  <a:srgbClr val="FFA100"/>
                </a:solidFill>
                <a:latin typeface="+mn-lt"/>
              </a:rPr>
              <a:t>03</a:t>
            </a:r>
            <a:r>
              <a:rPr sz="900" dirty="0">
                <a:solidFill>
                  <a:srgbClr val="FFA100"/>
                </a:solidFill>
                <a:latin typeface="+mn-lt"/>
              </a:rPr>
              <a:t>/</a:t>
            </a:r>
            <a:r>
              <a:rPr lang="ru-RU" sz="900" dirty="0">
                <a:solidFill>
                  <a:srgbClr val="FFA100"/>
                </a:solidFill>
                <a:latin typeface="+mn-lt"/>
              </a:rPr>
              <a:t>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1EEFF7-FD0B-435D-B150-B1F462584C39}"/>
              </a:ext>
            </a:extLst>
          </p:cNvPr>
          <p:cNvSpPr txBox="1"/>
          <p:nvPr/>
        </p:nvSpPr>
        <p:spPr>
          <a:xfrm>
            <a:off x="611560" y="111204"/>
            <a:ext cx="8280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effectLst/>
              </a:rPr>
              <a:t>Сессия-конференция</a:t>
            </a:r>
            <a:r>
              <a:rPr lang="ru-RU" b="1" dirty="0">
                <a:solidFill>
                  <a:srgbClr val="FF0000"/>
                </a:solidFill>
                <a:effectLst/>
              </a:rPr>
              <a:t> Секции ядерной физики ОФН РАН Новосибирск </a:t>
            </a:r>
          </a:p>
          <a:p>
            <a:r>
              <a:rPr lang="ru-RU" b="1" dirty="0">
                <a:solidFill>
                  <a:srgbClr val="FF0000"/>
                </a:solidFill>
                <a:effectLst/>
              </a:rPr>
              <a:t>«Физика фундаментальных взаимодействий»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E516C4-89FD-4BA1-9CE6-296FA2A3FA35}"/>
              </a:ext>
            </a:extLst>
          </p:cNvPr>
          <p:cNvSpPr txBox="1"/>
          <p:nvPr/>
        </p:nvSpPr>
        <p:spPr>
          <a:xfrm>
            <a:off x="-128937" y="1664053"/>
            <a:ext cx="92890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ru-RU" sz="2400" b="1" dirty="0"/>
              <a:t>Предполагаемые эксперименты по поиску электрического дипольного момента на установках комплекса </a:t>
            </a:r>
            <a:r>
              <a:rPr lang="en-US" sz="2400" b="1" dirty="0"/>
              <a:t>NICA</a:t>
            </a:r>
            <a:endParaRPr lang="ru-RU" sz="2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EFAA64-8C91-4F93-A52C-7ED267A1656F}"/>
              </a:ext>
            </a:extLst>
          </p:cNvPr>
          <p:cNvSpPr txBox="1"/>
          <p:nvPr/>
        </p:nvSpPr>
        <p:spPr>
          <a:xfrm>
            <a:off x="2463350" y="5807242"/>
            <a:ext cx="41044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ru-RU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Исследование выполнено при поддержке гранта Российского Научного Фонда №25-72-30005.</a:t>
            </a:r>
            <a:endParaRPr lang="ru-RU" sz="1050" b="1" dirty="0"/>
          </a:p>
        </p:txBody>
      </p:sp>
    </p:spTree>
    <p:extLst>
      <p:ext uri="{BB962C8B-B14F-4D97-AF65-F5344CB8AC3E}">
        <p14:creationId xmlns:p14="http://schemas.microsoft.com/office/powerpoint/2010/main" val="3025560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236C92-1F8D-2830-3453-304287A4C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dirty="0"/>
              <a:t>EDM today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B62B74-668B-7C52-C5B8-E233A66BC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36712"/>
            <a:ext cx="8229600" cy="5289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SM vs SUSY</a:t>
            </a:r>
            <a:endParaRPr lang="ru-RU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EA41CD-C7F3-6CE5-92C8-E2CDDBFD6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290" y="731836"/>
            <a:ext cx="8162614" cy="53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72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1E632578-0855-4577-B3CB-58AACEDA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80728"/>
            <a:ext cx="8484954" cy="1143000"/>
          </a:xfrm>
        </p:spPr>
        <p:txBody>
          <a:bodyPr>
            <a:normAutofit/>
          </a:bodyPr>
          <a:lstStyle/>
          <a:p>
            <a:r>
              <a:rPr lang="en-GB" altLang="en-US" sz="1350" u="sng" dirty="0"/>
              <a:t>First message </a:t>
            </a:r>
            <a:r>
              <a:rPr lang="en-GB" altLang="en-US" sz="1350" dirty="0"/>
              <a:t>to search for </a:t>
            </a:r>
            <a:r>
              <a:rPr lang="en-GB" altLang="en-US" sz="1350" dirty="0">
                <a:solidFill>
                  <a:srgbClr val="FF0000"/>
                </a:solidFill>
              </a:rPr>
              <a:t>Electric Dipole Moments(EDM) </a:t>
            </a:r>
            <a:r>
              <a:rPr lang="en-GB" altLang="en-US" sz="1350" dirty="0"/>
              <a:t>of fundamental particles: </a:t>
            </a:r>
            <a:r>
              <a:rPr lang="en-GB" altLang="en-US" sz="1200" i="1" dirty="0"/>
              <a:t>it came to understand the CP violation</a:t>
            </a:r>
            <a:br>
              <a:rPr lang="en-GB" altLang="en-US" sz="1200" i="1" dirty="0"/>
            </a:br>
            <a:br>
              <a:rPr lang="en-GB" altLang="en-US" sz="1200" i="1" dirty="0"/>
            </a:br>
            <a:r>
              <a:rPr lang="ru-RU" altLang="en-US" sz="1200" i="1" dirty="0"/>
              <a:t>  </a:t>
            </a:r>
            <a:r>
              <a:rPr lang="en-GB" altLang="en-US" sz="1350" u="sng" dirty="0"/>
              <a:t>Second message</a:t>
            </a:r>
            <a:r>
              <a:rPr lang="en-GB" altLang="en-US" sz="1350" dirty="0"/>
              <a:t> for </a:t>
            </a:r>
            <a:r>
              <a:rPr lang="en-GB" altLang="en-US" sz="1350" dirty="0">
                <a:solidFill>
                  <a:srgbClr val="FF0000"/>
                </a:solidFill>
              </a:rPr>
              <a:t>Electric Dipole Moments </a:t>
            </a:r>
            <a:r>
              <a:rPr lang="en-GB" altLang="en-US" sz="1350" dirty="0"/>
              <a:t>of fundamental particles</a:t>
            </a:r>
            <a:r>
              <a:rPr lang="en-GB" altLang="en-US" sz="1350" i="1" dirty="0"/>
              <a:t>: </a:t>
            </a:r>
            <a:r>
              <a:rPr lang="en-GB" altLang="en-US" sz="1200" i="1" dirty="0"/>
              <a:t>the baryon asymmetry of the Universe that represents the fact of the prevalence of matter over antimatter</a:t>
            </a:r>
            <a:endParaRPr lang="en-GB" altLang="en-US" sz="1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8B579-FFC4-4974-9F54-A9F717029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4685" y="2920565"/>
            <a:ext cx="4804817" cy="2052638"/>
          </a:xfrm>
        </p:spPr>
        <p:txBody>
          <a:bodyPr>
            <a:normAutofit/>
          </a:bodyPr>
          <a:lstStyle/>
          <a:p>
            <a:pPr marL="0" indent="0" algn="just">
              <a:defRPr/>
            </a:pPr>
            <a:r>
              <a:rPr lang="en-GB" sz="1050" b="1" dirty="0">
                <a:solidFill>
                  <a:srgbClr val="FF0000"/>
                </a:solidFill>
              </a:rPr>
              <a:t>In 1967 </a:t>
            </a:r>
            <a:r>
              <a:rPr lang="en-GB" sz="1050" b="1" dirty="0" err="1">
                <a:solidFill>
                  <a:srgbClr val="FF0000"/>
                </a:solidFill>
              </a:rPr>
              <a:t>A.Sakharov</a:t>
            </a:r>
            <a:r>
              <a:rPr lang="en-GB" sz="1050" b="1" dirty="0">
                <a:solidFill>
                  <a:srgbClr val="FF0000"/>
                </a:solidFill>
              </a:rPr>
              <a:t> </a:t>
            </a:r>
            <a:r>
              <a:rPr lang="en-GB" sz="1050" dirty="0"/>
              <a:t>has shown three necessary conditions for </a:t>
            </a:r>
            <a:r>
              <a:rPr lang="en-GB" sz="1050" dirty="0" err="1"/>
              <a:t>baryogenesis</a:t>
            </a:r>
            <a:r>
              <a:rPr lang="en-GB" sz="1050" dirty="0"/>
              <a:t> (initial creation of baryons)</a:t>
            </a:r>
          </a:p>
          <a:p>
            <a:pPr marL="214313" indent="-214313" algn="just">
              <a:defRPr/>
            </a:pPr>
            <a:r>
              <a:rPr lang="en-GB" sz="1050" dirty="0"/>
              <a:t>• Baryon number violation;</a:t>
            </a:r>
          </a:p>
          <a:p>
            <a:pPr marL="214313" indent="-214313" algn="just">
              <a:defRPr/>
            </a:pPr>
            <a:r>
              <a:rPr lang="en-GB" sz="1050" dirty="0"/>
              <a:t>• C-symmetry and </a:t>
            </a:r>
            <a:r>
              <a:rPr lang="en-GB" sz="1050" u="sng" dirty="0"/>
              <a:t>CP-symmetry violation</a:t>
            </a:r>
            <a:r>
              <a:rPr lang="en-GB" sz="1050" dirty="0"/>
              <a:t>;</a:t>
            </a:r>
          </a:p>
          <a:p>
            <a:pPr marL="214313" indent="-214313" algn="just">
              <a:defRPr/>
            </a:pPr>
            <a:r>
              <a:rPr lang="en-GB" sz="1050" dirty="0"/>
              <a:t>• Interactions out of thermal equilibrium</a:t>
            </a:r>
          </a:p>
          <a:p>
            <a:pPr marL="214313" indent="-214313" algn="just">
              <a:defRPr/>
            </a:pPr>
            <a:endParaRPr lang="en-GB" sz="1050" dirty="0"/>
          </a:p>
          <a:p>
            <a:pPr marL="0" indent="0" algn="just">
              <a:defRPr/>
            </a:pPr>
            <a:r>
              <a:rPr lang="en-GB" sz="1200" dirty="0"/>
              <a:t>The analysis done by the AD Sakharov, showed that this </a:t>
            </a:r>
            <a:r>
              <a:rPr lang="en-GB" sz="1200" u="sng" dirty="0"/>
              <a:t>CP-violation is absolutely necessary </a:t>
            </a:r>
            <a:r>
              <a:rPr lang="en-GB" sz="1200" dirty="0"/>
              <a:t>to explain why on earth and in the visible universe there is a </a:t>
            </a:r>
            <a:r>
              <a:rPr lang="en-GB" sz="1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MATTER</a:t>
            </a:r>
            <a:r>
              <a:rPr lang="en-GB" sz="1200" dirty="0">
                <a:solidFill>
                  <a:srgbClr val="FF0000"/>
                </a:solidFill>
              </a:rPr>
              <a:t>, </a:t>
            </a:r>
            <a:r>
              <a:rPr lang="en-GB" sz="1200" dirty="0"/>
              <a:t>but there is practically no </a:t>
            </a:r>
            <a:r>
              <a:rPr lang="en-GB" sz="1200" b="1" dirty="0">
                <a:solidFill>
                  <a:srgbClr val="D60093"/>
                </a:solidFill>
              </a:rPr>
              <a:t>ANTIMATTER</a:t>
            </a:r>
            <a:r>
              <a:rPr lang="en-GB" sz="1050" dirty="0"/>
              <a:t>.</a:t>
            </a:r>
          </a:p>
          <a:p>
            <a:pPr marL="0" indent="0" algn="just">
              <a:defRPr/>
            </a:pPr>
            <a:endParaRPr lang="en-US" sz="1050" dirty="0"/>
          </a:p>
          <a:p>
            <a:pPr marL="0" indent="0" algn="just">
              <a:defRPr/>
            </a:pPr>
            <a:endParaRPr lang="en-GB" sz="1050" dirty="0"/>
          </a:p>
          <a:p>
            <a:pPr>
              <a:defRPr/>
            </a:pP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1A6AB3-C0EF-4F02-8483-9B9519D00734}"/>
              </a:ext>
            </a:extLst>
          </p:cNvPr>
          <p:cNvSpPr/>
          <p:nvPr/>
        </p:nvSpPr>
        <p:spPr>
          <a:xfrm>
            <a:off x="3864685" y="4054040"/>
            <a:ext cx="5077469" cy="919163"/>
          </a:xfrm>
          <a:prstGeom prst="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EDC258A-CC44-402E-AE58-81B5B0F022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09" y="2753727"/>
            <a:ext cx="3247024" cy="324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391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34A154-772D-4C49-A009-511509B24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57199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Цель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9DCC2A-2C89-4EEA-BC31-A7838A8ED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3096344"/>
          </a:xfrm>
        </p:spPr>
        <p:txBody>
          <a:bodyPr>
            <a:normAutofit/>
          </a:bodyPr>
          <a:lstStyle/>
          <a:p>
            <a:pPr marL="0" indent="0">
              <a:buSzPts val="1400"/>
              <a:buNone/>
            </a:pPr>
            <a:r>
              <a:rPr lang="ru-RU" sz="1800" b="1" spc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Рассмотрение  специализированных </a:t>
            </a:r>
            <a:r>
              <a:rPr lang="ru-RU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«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frozen</a:t>
            </a:r>
            <a:r>
              <a:rPr lang="ru-RU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» и «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quasi-frozen spin</a:t>
            </a:r>
            <a:r>
              <a:rPr lang="ru-RU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»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 </a:t>
            </a:r>
            <a:r>
              <a:rPr lang="ru-RU" sz="18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магнитооптических </a:t>
            </a:r>
            <a:r>
              <a:rPr lang="ru-RU" sz="1800" b="1" spc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структур для  пучка  поляризованных  дейтронов с энергией 135 МэВ/нуклон и протонов 250 МэВ</a:t>
            </a:r>
            <a:r>
              <a:rPr lang="ru-RU" sz="1800" b="1" spc="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Cambria" panose="02040503050406030204" pitchFamily="18" charset="0"/>
              </a:rPr>
              <a:t>. </a:t>
            </a:r>
          </a:p>
          <a:p>
            <a:pPr marL="0" indent="0" algn="just">
              <a:buSzPts val="1400"/>
              <a:buNone/>
            </a:pPr>
            <a:endParaRPr lang="ru-RU" sz="1800" b="1" dirty="0">
              <a:solidFill>
                <a:schemeClr val="accent1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 algn="just">
              <a:buSzPts val="1400"/>
              <a:buNone/>
            </a:pPr>
            <a:r>
              <a:rPr lang="ru-RU" sz="2100" b="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 докладе представлены три возможные физические </a:t>
            </a:r>
            <a:r>
              <a:rPr lang="ru-RU" sz="21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установки, использующие поляризованные пучки протонов и дейтронов в режиме «замороженного» и «квази-замороженного спина», </a:t>
            </a:r>
            <a:r>
              <a:rPr lang="ru-RU" sz="2100" b="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которые могли бы быть адаптированы</a:t>
            </a:r>
            <a:r>
              <a:rPr lang="en-US" sz="2100" b="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/</a:t>
            </a:r>
            <a:r>
              <a:rPr lang="ru-RU" sz="2100" b="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разработаны для поиска электрического дипольного момента. </a:t>
            </a:r>
          </a:p>
          <a:p>
            <a:pPr marL="0" indent="0" algn="just">
              <a:buSzPts val="1400"/>
              <a:buNone/>
            </a:pPr>
            <a:endParaRPr lang="ru-RU" sz="2100" b="0" dirty="0">
              <a:solidFill>
                <a:srgbClr val="00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 algn="just">
              <a:buSzPts val="1400"/>
              <a:buNone/>
            </a:pPr>
            <a:endParaRPr lang="ru-RU" sz="1800" b="1" spc="0" dirty="0">
              <a:solidFill>
                <a:schemeClr val="accent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Cambria" panose="02040503050406030204" pitchFamily="18" charset="0"/>
            </a:endParaRPr>
          </a:p>
          <a:p>
            <a:pPr marL="0" lvl="0" indent="0" algn="just">
              <a:buSzPts val="1400"/>
              <a:buNone/>
            </a:pPr>
            <a:endParaRPr lang="ru-RU" sz="1800" b="1" spc="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Cambria" panose="02040503050406030204" pitchFamily="18" charset="0"/>
            </a:endParaRPr>
          </a:p>
          <a:p>
            <a:pPr marL="342900" lvl="0" indent="-342900" algn="just">
              <a:buSzPts val="1400"/>
              <a:buFont typeface="Cambria" panose="02040503050406030204" pitchFamily="18" charset="0"/>
              <a:buChar char="–"/>
            </a:pPr>
            <a:endParaRPr lang="ru-RU" sz="1800" b="1" spc="0" dirty="0">
              <a:solidFill>
                <a:schemeClr val="accent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6818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0EC923-012C-4425-FB1A-D270A819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Autofit/>
          </a:bodyPr>
          <a:lstStyle/>
          <a:p>
            <a:r>
              <a:rPr lang="ru-RU" sz="2800" b="1" dirty="0">
                <a:solidFill>
                  <a:srgbClr val="FF0000"/>
                </a:solidFill>
              </a:rPr>
              <a:t>Как мы собираемся мерить ЭДМ на установках НИКА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9FAD26-390D-360A-3B42-25B5848F1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328591"/>
          </a:xfrm>
        </p:spPr>
        <p:txBody>
          <a:bodyPr>
            <a:normAutofit/>
          </a:bodyPr>
          <a:lstStyle/>
          <a:p>
            <a:r>
              <a:rPr lang="ru-RU" sz="2000" dirty="0"/>
              <a:t>В соответствии с теоремой Эренфеста, которая гласит: «В квантовой механике средние значения координат и импульсов частицы, а также действующих на нее сил связаны между собой уравнениями, подобными соответствующим уравнениям классической механики». </a:t>
            </a:r>
          </a:p>
          <a:p>
            <a:endParaRPr lang="ru-RU" sz="2000" dirty="0"/>
          </a:p>
          <a:p>
            <a:r>
              <a:rPr lang="ru-RU" sz="2000" dirty="0"/>
              <a:t>Ю. Узиков (ОИЯИ) специально обосновал этот переход для спина, согласно которому в представлении классической физики «спин» означает среднее значение квантово-механического оператора спина.</a:t>
            </a:r>
            <a:endParaRPr lang="ru-RU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356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54F2CA-B2FB-49ED-AD64-D31C2A82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82154"/>
          </a:xfrm>
        </p:spPr>
        <p:txBody>
          <a:bodyPr>
            <a:normAutofit fontScale="90000"/>
          </a:bodyPr>
          <a:lstStyle/>
          <a:p>
            <a:r>
              <a:rPr lang="ru-RU" sz="1800" b="1" cap="all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ОСНОВНОЙ ПРИНЦИП построения магнитооптической структуры накопительного кольца для исследования ЭДМ ЗАРЯЖЕННОЙ ЧАСТИЦЫ </a:t>
            </a:r>
            <a:br>
              <a:rPr lang="ru-RU" sz="1800" cap="all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477C72A-DF86-4334-89D5-89F4BD2C9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5242594"/>
              </a:xfrm>
            </p:spPr>
            <p:txBody>
              <a:bodyPr>
                <a:normAutofit lnSpcReduction="10000"/>
              </a:bodyPr>
              <a:lstStyle/>
              <a:p>
                <a:pPr indent="0" algn="just">
                  <a:buNone/>
                </a:pPr>
                <a:r>
                  <a:rPr lang="ru-RU" sz="22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Основная идея измерения EDM с использованием ускорительного кольца следует из уравнения "Thomas-</a:t>
                </a:r>
                <a:r>
                  <a:rPr lang="ru-RU" sz="2200" b="1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Bargmann</a:t>
                </a:r>
                <a:r>
                  <a:rPr lang="ru-RU" sz="22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ru-RU" sz="2200" b="1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Michel</a:t>
                </a:r>
                <a:r>
                  <a:rPr lang="ru-RU" sz="22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ru-RU" sz="2200" b="1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Telegdy</a:t>
                </a:r>
                <a:r>
                  <a:rPr lang="ru-RU" sz="22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":</a:t>
                </a:r>
                <a:endParaRPr lang="ru-RU" sz="2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99160" indent="12700" algn="r"/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𝑑</m:t>
                        </m:r>
                        <m:limUpp>
                          <m:limUpp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limUpp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𝑆</m:t>
                            </m:r>
                          </m:e>
                          <m:lim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→</m:t>
                            </m:r>
                          </m:lim>
                        </m:limUpp>
                      </m:num>
                      <m:den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𝑑𝑡</m:t>
                        </m:r>
                      </m:den>
                    </m:f>
                    <m:r>
                      <a:rPr lang="ru-RU" sz="2200" b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limUpp>
                      <m:limUpp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limUppPr>
                      <m:e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𝑆</m:t>
                        </m:r>
                      </m:e>
                      <m:lim>
                        <m:r>
                          <a:rPr lang="ru-RU" sz="2200" b="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→</m:t>
                        </m:r>
                      </m:lim>
                    </m:limUpp>
                    <m:r>
                      <a:rPr lang="ru-RU" sz="2200" b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×</m:t>
                    </m:r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limUpp>
                              <m:limUppPr>
                                <m:ctrlPr>
                                  <a:rPr lang="ru-RU" sz="22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</m:ctrlPr>
                              </m:limUppPr>
                              <m:e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𝛺</m:t>
                                </m:r>
                              </m:e>
                              <m:lim>
                                <m:r>
                                  <a:rPr lang="ru-RU" sz="2200" b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→</m:t>
                                </m:r>
                              </m:lim>
                            </m:limUpp>
                          </m:e>
                          <m:sub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𝑚𝑑𝑚</m:t>
                            </m:r>
                          </m:sub>
                        </m:sSub>
                        <m:r>
                          <a:rPr lang="ru-RU" sz="2200" b="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+</m:t>
                        </m:r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limUpp>
                              <m:limUppPr>
                                <m:ctrlPr>
                                  <a:rPr lang="ru-RU" sz="22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</m:ctrlPr>
                              </m:limUppPr>
                              <m:e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𝛺</m:t>
                                </m:r>
                              </m:e>
                              <m:lim>
                                <m:r>
                                  <a:rPr lang="ru-RU" sz="2200" b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→</m:t>
                                </m:r>
                              </m:lim>
                            </m:limUpp>
                          </m:e>
                          <m:sub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𝑒𝑑𝑚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						</a:t>
                </a:r>
                <a:endParaRPr lang="ru-RU" sz="22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indent="0" algn="r">
                  <a:buNone/>
                </a:pP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limUpp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𝛺</m:t>
                            </m:r>
                          </m:e>
                          <m:lim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→</m:t>
                            </m:r>
                          </m:lim>
                        </m:limUpp>
                      </m:e>
                      <m:sub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𝑚𝑑𝑚</m:t>
                        </m:r>
                      </m:sub>
                    </m:sSub>
                    <m:r>
                      <a:rPr lang="ru-RU" sz="2200" b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𝑒</m:t>
                        </m:r>
                      </m:num>
                      <m:den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𝑚</m:t>
                        </m:r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𝛾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𝛾</m:t>
                            </m:r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𝐺</m:t>
                            </m:r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+</m:t>
                            </m:r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1</m:t>
                            </m:r>
                          </m:e>
                        </m:d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⊥</m:t>
                            </m:r>
                          </m:sub>
                        </m:sSub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−</m:t>
                        </m:r>
                        <m:d>
                          <m:d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𝛾</m:t>
                            </m:r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𝐺</m:t>
                            </m:r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ru-RU" sz="22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𝛾</m:t>
                                </m:r>
                              </m:num>
                              <m:den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𝛾</m:t>
                                </m:r>
                                <m:r>
                                  <a:rPr lang="ru-RU" sz="2200" b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+</m:t>
                                </m:r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1</m:t>
                                </m:r>
                              </m:den>
                            </m:f>
                          </m:e>
                        </m:d>
                        <m:f>
                          <m:f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fPr>
                          <m:num>
                            <m:limUpp>
                              <m:limUppPr>
                                <m:ctrlPr>
                                  <a:rPr lang="ru-RU" sz="22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</m:ctrlPr>
                              </m:limUppPr>
                              <m:e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𝛽</m:t>
                                </m:r>
                              </m:e>
                              <m:lim>
                                <m:r>
                                  <a:rPr lang="ru-RU" sz="2200" b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→</m:t>
                                </m:r>
                              </m:lim>
                            </m:limUpp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×</m:t>
                            </m:r>
                            <m:limUpp>
                              <m:limUppPr>
                                <m:ctrlPr>
                                  <a:rPr lang="ru-RU" sz="22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</m:ctrlPr>
                              </m:limUppPr>
                              <m:e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𝐸</m:t>
                                </m:r>
                              </m:e>
                              <m:lim>
                                <m:r>
                                  <a:rPr lang="ru-RU" sz="2200" b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→</m:t>
                                </m:r>
                              </m:lim>
                            </m:limUpp>
                          </m:num>
                          <m:den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      			   (1)</a:t>
                </a:r>
                <a:endParaRPr lang="ru-RU" sz="22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99160" indent="0" algn="r">
                  <a:buNone/>
                </a:pP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limUpp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𝛺</m:t>
                            </m:r>
                          </m:e>
                          <m:lim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→</m:t>
                            </m:r>
                          </m:lim>
                        </m:limUpp>
                      </m:e>
                      <m:sub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𝑒𝑑𝑚</m:t>
                        </m:r>
                      </m:sub>
                    </m:sSub>
                    <m:r>
                      <a:rPr lang="ru-RU" sz="2200" b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𝑒</m:t>
                        </m:r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𝜂</m:t>
                        </m:r>
                      </m:num>
                      <m:den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2</m:t>
                        </m:r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𝑚</m:t>
                        </m:r>
                      </m:den>
                    </m:f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limUpp>
                          <m:limUpp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limUpp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𝛽</m:t>
                            </m:r>
                          </m:e>
                          <m:lim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→</m:t>
                            </m:r>
                          </m:lim>
                        </m:limUpp>
                        <m:r>
                          <a:rPr lang="ru-RU" sz="2200" b="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×</m:t>
                        </m:r>
                        <m:limUpp>
                          <m:limUpp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limUppPr>
                          <m:e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𝐵</m:t>
                            </m:r>
                          </m:e>
                          <m:lim>
                            <m:r>
                              <a:rPr lang="ru-RU" sz="2200" b="0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→</m:t>
                            </m:r>
                          </m:lim>
                        </m:limUpp>
                        <m:r>
                          <a:rPr lang="ru-RU" sz="2200" b="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+</m:t>
                        </m:r>
                        <m:f>
                          <m:f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fPr>
                          <m:num>
                            <m:limUpp>
                              <m:limUppPr>
                                <m:ctrlPr>
                                  <a:rPr lang="ru-RU" sz="22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</m:ctrlPr>
                              </m:limUppPr>
                              <m:e>
                                <m:r>
                                  <a:rPr lang="ru-RU" sz="22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𝐸</m:t>
                                </m:r>
                              </m:e>
                              <m:lim>
                                <m:r>
                                  <a:rPr lang="ru-RU" sz="2200" b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→</m:t>
                                </m:r>
                              </m:lim>
                            </m:limUpp>
                          </m:num>
                          <m:den>
                            <m:r>
                              <a:rPr lang="ru-RU" sz="2200" b="0" i="1" smtClean="0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							</a:t>
                </a:r>
                <a:endParaRPr lang="ru-RU" sz="22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99160" indent="0" algn="r">
                  <a:buNone/>
                </a:pPr>
                <a14:m>
                  <m:oMath xmlns:m="http://schemas.openxmlformats.org/officeDocument/2006/math">
                    <m:r>
                      <a:rPr lang="ru-RU" sz="22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𝐺</m:t>
                    </m:r>
                    <m:r>
                      <a:rPr lang="ru-RU" sz="2200" b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𝑔</m:t>
                        </m:r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−2</m:t>
                        </m:r>
                      </m:num>
                      <m:den>
                        <m:r>
                          <a:rPr lang="ru-RU" sz="22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2</m:t>
                        </m:r>
                      </m:den>
                    </m:f>
                    <m:r>
                      <a:rPr lang="ru-RU" sz="2200" b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,</m:t>
                    </m:r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						</a:t>
                </a:r>
                <a:endParaRPr lang="ru-RU" sz="22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477C72A-DF86-4334-89D5-89F4BD2C9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5242594"/>
              </a:xfrm>
              <a:blipFill>
                <a:blip r:embed="rId2"/>
                <a:stretch>
                  <a:fillRect t="-1395" r="-9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345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A7F674-73D3-4956-8256-80D26E44A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1800" b="1" cap="all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ПРИНЦИП построения магнитооптической структуры</a:t>
            </a:r>
            <a:endParaRPr lang="ru-RU" sz="1800" dirty="0">
              <a:solidFill>
                <a:srgbClr val="FF0000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73151F-CDBB-4545-82C4-D5BB8DF6C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525963"/>
          </a:xfrm>
        </p:spPr>
        <p:txBody>
          <a:bodyPr/>
          <a:lstStyle/>
          <a:p>
            <a:pPr indent="0" algn="just">
              <a:lnSpc>
                <a:spcPts val="2400"/>
              </a:lnSpc>
              <a:buNone/>
            </a:pPr>
            <a:r>
              <a:rPr lang="ru-RU" sz="2200" b="1" dirty="0">
                <a:latin typeface="Times New Roman" panose="02020603050405020304" pitchFamily="18" charset="0"/>
                <a:ea typeface="Calibri" panose="020F0502020204030204" pitchFamily="34" charset="0"/>
              </a:rPr>
              <a:t>Для </a:t>
            </a:r>
            <a:r>
              <a:rPr lang="ru-RU" sz="2200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накапления</a:t>
            </a:r>
            <a:r>
              <a:rPr lang="ru-RU" sz="2200" b="1" dirty="0">
                <a:latin typeface="Times New Roman" panose="02020603050405020304" pitchFamily="18" charset="0"/>
                <a:ea typeface="Calibri" panose="020F0502020204030204" pitchFamily="34" charset="0"/>
              </a:rPr>
              <a:t> сигнала ЭДМ </a:t>
            </a: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ориентация векторов спина и продольного импульса должны быть постоянно (или в среднем по времени) </a:t>
            </a:r>
            <a:r>
              <a:rPr lang="ru-RU" sz="22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сонаправлены</a:t>
            </a: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S → ↑↑ p. </a:t>
            </a:r>
          </a:p>
          <a:p>
            <a:pPr indent="0" algn="just">
              <a:lnSpc>
                <a:spcPts val="2400"/>
              </a:lnSpc>
              <a:buNone/>
            </a:pPr>
            <a:endParaRPr lang="ru-RU" sz="2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 algn="just">
              <a:lnSpc>
                <a:spcPts val="2400"/>
              </a:lnSpc>
              <a:buNone/>
            </a:pP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Это условие называется </a:t>
            </a:r>
            <a:r>
              <a:rPr lang="ru-RU" sz="2200" b="1" dirty="0">
                <a:solidFill>
                  <a:srgbClr val="CC009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«замороженностью» </a:t>
            </a: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или в общем случае </a:t>
            </a:r>
            <a:r>
              <a:rPr lang="ru-RU" sz="2200" b="1" dirty="0">
                <a:solidFill>
                  <a:srgbClr val="0070C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«квази-замороженностью» </a:t>
            </a: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спина в зависимости от точности и способа его выполнения.</a:t>
            </a:r>
          </a:p>
          <a:p>
            <a:pPr indent="0" algn="just">
              <a:lnSpc>
                <a:spcPts val="2400"/>
              </a:lnSpc>
              <a:buNone/>
            </a:pPr>
            <a:endParaRPr lang="ru-RU" sz="2200" b="1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indent="0" algn="just">
              <a:lnSpc>
                <a:spcPts val="2400"/>
              </a:lnSpc>
              <a:buNone/>
            </a:pP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Исходя из этих условий все структуры могут быть отнесены</a:t>
            </a:r>
          </a:p>
          <a:p>
            <a:pPr indent="0" algn="just">
              <a:lnSpc>
                <a:spcPts val="2400"/>
              </a:lnSpc>
              <a:buNone/>
            </a:pPr>
            <a:r>
              <a:rPr lang="ru-RU" sz="2200" b="1" dirty="0">
                <a:latin typeface="Times New Roman" panose="02020603050405020304" pitchFamily="18" charset="0"/>
                <a:ea typeface="Calibri" panose="020F0502020204030204" pitchFamily="34" charset="0"/>
              </a:rPr>
              <a:t>к двум классам</a:t>
            </a:r>
            <a:r>
              <a:rPr lang="en-US" sz="2200" b="1" dirty="0"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ru-RU" sz="2200" b="1" dirty="0">
                <a:latin typeface="Times New Roman" panose="02020603050405020304" pitchFamily="18" charset="0"/>
                <a:ea typeface="Calibri" panose="020F0502020204030204" pitchFamily="34" charset="0"/>
              </a:rPr>
              <a:t>структуры с «замороженным» и «квази-замороженным» спином</a:t>
            </a:r>
            <a:endParaRPr lang="ru-RU" sz="2200" b="1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indent="0" algn="just">
              <a:lnSpc>
                <a:spcPct val="150000"/>
              </a:lnSpc>
              <a:buNone/>
            </a:pPr>
            <a:endParaRPr lang="ru-RU" sz="22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5941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FCCBAA-DBBC-463C-95D5-2183D3D3B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6792"/>
            <a:ext cx="8229600" cy="5400600"/>
          </a:xfrm>
        </p:spPr>
        <p:txBody>
          <a:bodyPr>
            <a:normAutofit fontScale="90000"/>
          </a:bodyPr>
          <a:lstStyle/>
          <a:p>
            <a:pPr algn="l"/>
            <a:br>
              <a:rPr lang="ru-RU" sz="2700" dirty="0"/>
            </a:br>
            <a:br>
              <a:rPr lang="ru-RU" sz="2700" dirty="0"/>
            </a:br>
            <a:r>
              <a:rPr lang="ru-RU" sz="2700" dirty="0"/>
              <a:t>Для поиска ЭДМ разработан </a:t>
            </a:r>
            <a:r>
              <a:rPr lang="en-US" sz="2700" b="1" dirty="0">
                <a:solidFill>
                  <a:srgbClr val="0033CC"/>
                </a:solidFill>
              </a:rPr>
              <a:t>F</a:t>
            </a:r>
            <a:r>
              <a:rPr lang="en-US" sz="2700" dirty="0"/>
              <a:t>requency </a:t>
            </a:r>
            <a:r>
              <a:rPr lang="en-US" sz="2700" b="1" dirty="0">
                <a:solidFill>
                  <a:srgbClr val="0033CC"/>
                </a:solidFill>
              </a:rPr>
              <a:t>D</a:t>
            </a:r>
            <a:r>
              <a:rPr lang="en-US" sz="2700" dirty="0"/>
              <a:t>omain </a:t>
            </a:r>
            <a:r>
              <a:rPr lang="en-US" sz="2700" b="1" dirty="0">
                <a:solidFill>
                  <a:srgbClr val="0033CC"/>
                </a:solidFill>
              </a:rPr>
              <a:t>M</a:t>
            </a:r>
            <a:r>
              <a:rPr lang="en-US" sz="2700" dirty="0"/>
              <a:t>ethod </a:t>
            </a:r>
            <a:r>
              <a:rPr lang="ru-RU" sz="2700" dirty="0"/>
              <a:t>основанный исключительно на измерении частоты прецессии спина</a:t>
            </a:r>
            <a:br>
              <a:rPr lang="ru-RU" sz="3200" dirty="0"/>
            </a:br>
            <a:br>
              <a:rPr lang="en-US" sz="3200" dirty="0"/>
            </a:br>
            <a:r>
              <a:rPr lang="ru-RU" sz="2000" dirty="0"/>
              <a:t> </a:t>
            </a:r>
            <a:r>
              <a:rPr lang="en-US" sz="2000" b="1" dirty="0">
                <a:solidFill>
                  <a:srgbClr val="0033CC"/>
                </a:solidFill>
              </a:rPr>
              <a:t>FDM</a:t>
            </a:r>
            <a:r>
              <a:rPr lang="en-US" sz="2000" dirty="0"/>
              <a:t> </a:t>
            </a:r>
            <a:r>
              <a:rPr lang="ru-RU" sz="2000" dirty="0"/>
              <a:t>основан на четырех фундаментальных особенностях: </a:t>
            </a:r>
            <a:br>
              <a:rPr lang="en-US" sz="2000" dirty="0"/>
            </a:br>
            <a:br>
              <a:rPr lang="ru-RU" sz="2000" dirty="0"/>
            </a:br>
            <a:r>
              <a:rPr lang="ru-RU" sz="2000" dirty="0"/>
              <a:t>- измерение полной частоты прецессии спина, обусловленной электрическим и магнитным дипольными моментами в несовершенном кольце в вертикальной плоскости, с абсолютной статистической погрешностью ~10⁻⁷ рад/с для одного заполнения кольца; </a:t>
            </a:r>
            <a:br>
              <a:rPr lang="ru-RU" sz="2000" dirty="0"/>
            </a:br>
            <a:br>
              <a:rPr lang="ru-RU" sz="2000" dirty="0"/>
            </a:br>
            <a:r>
              <a:rPr lang="ru-RU" sz="2000" dirty="0"/>
              <a:t>- положение элементов кольца остается неизменным при переходе от вращения по часовой стрелке (CW) к вращению против часовой стрелки (CCW); </a:t>
            </a:r>
            <a:br>
              <a:rPr lang="ru-RU" sz="2000" dirty="0"/>
            </a:br>
            <a:br>
              <a:rPr lang="ru-RU" sz="2000" dirty="0"/>
            </a:br>
            <a:r>
              <a:rPr lang="ru-RU" sz="2000" dirty="0"/>
              <a:t>-калибровка эффективного фактора Лоренца с использованием измерения частоты прецессии спина в горизонтальной плоскости проводится попеременно в каждом вращении по часовой и против часовой стрелки; </a:t>
            </a:r>
            <a:br>
              <a:rPr lang="ru-RU" sz="2000" dirty="0"/>
            </a:br>
            <a:br>
              <a:rPr lang="ru-RU" sz="2000" dirty="0"/>
            </a:br>
            <a:r>
              <a:rPr lang="ru-RU" sz="2000" dirty="0"/>
              <a:t>- устанавливается приблизительное соотношение между частотами спина в разных плоскостях таким образом, чтобы исключить их смешивание с вертикальной частотой ожидаемого сигнала ЭДМ на уровне статистической чувствительности, приближающемся к 10⁻²⁹ е см⁻¹.</a:t>
            </a:r>
            <a:br>
              <a:rPr lang="ru-RU" sz="3200" dirty="0"/>
            </a:br>
            <a:br>
              <a:rPr lang="ru-RU" sz="3200" dirty="0"/>
            </a:br>
            <a:br>
              <a:rPr lang="ru-RU" sz="3200" dirty="0"/>
            </a:br>
            <a:br>
              <a:rPr lang="ru-RU" sz="3200" dirty="0"/>
            </a:br>
            <a:r>
              <a:rPr lang="ru-RU" sz="3200" dirty="0"/>
              <a:t> </a:t>
            </a:r>
            <a:br>
              <a:rPr lang="ru-RU" sz="3200" dirty="0"/>
            </a:br>
            <a:r>
              <a:rPr lang="en-US" sz="3200" dirty="0"/>
              <a:t> 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2986508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162676"/>
            <a:ext cx="7772400" cy="515144"/>
          </a:xfrm>
        </p:spPr>
        <p:txBody>
          <a:bodyPr>
            <a:normAutofit/>
          </a:bodyPr>
          <a:lstStyle/>
          <a:p>
            <a:r>
              <a:rPr lang="en-GB" sz="2600" u="sng" dirty="0">
                <a:latin typeface="Arial" panose="020B0604020202020204" pitchFamily="34" charset="0"/>
                <a:cs typeface="Arial" panose="020B0604020202020204" pitchFamily="34" charset="0"/>
              </a:rPr>
              <a:t>Frequency Domain Method:</a:t>
            </a:r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 basic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552" y="1268760"/>
            <a:ext cx="8208912" cy="4751040"/>
          </a:xfrm>
        </p:spPr>
        <p:txBody>
          <a:bodyPr>
            <a:normAutofit fontScale="85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                            finally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  <a:p>
            <a:pPr marL="0" indent="0">
              <a:buNone/>
            </a:pPr>
            <a:r>
              <a:rPr lang="en-GB" sz="2400" b="1" u="sng" dirty="0">
                <a:latin typeface="Arial" panose="020B0604020202020204" pitchFamily="34" charset="0"/>
                <a:cs typeface="Arial" panose="020B0604020202020204" pitchFamily="34" charset="0"/>
              </a:rPr>
              <a:t>Main idea</a:t>
            </a:r>
            <a:r>
              <a:rPr lang="en-GB" sz="2400" b="1" dirty="0">
                <a:latin typeface="Arial" panose="020B0604020202020204" pitchFamily="34" charset="0"/>
                <a:cs typeface="Arial" panose="020B0604020202020204" pitchFamily="34" charset="0"/>
              </a:rPr>
              <a:t>:     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to make the contribution from EDM frequency into</a:t>
            </a:r>
          </a:p>
          <a:p>
            <a:pPr marL="0" indent="0">
              <a:buNone/>
            </a:pP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total  frequency          bigger than from MDM  additions           </a:t>
            </a:r>
          </a:p>
          <a:p>
            <a:endParaRPr lang="en-GB" dirty="0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755576" y="1844848"/>
          <a:ext cx="4081463" cy="1008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54" name="Equation" r:id="rId3" imgW="2108160" imgH="520560" progId="Equation.3">
                  <p:embed/>
                </p:oleObj>
              </mc:Choice>
              <mc:Fallback>
                <p:oleObj name="Equation" r:id="rId3" imgW="2108160" imgH="520560" progId="Equation.3">
                  <p:embed/>
                  <p:pic>
                    <p:nvPicPr>
                      <p:cNvPr id="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576" y="1844848"/>
                        <a:ext cx="4081463" cy="1008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ight Arrow 4"/>
          <p:cNvSpPr/>
          <p:nvPr/>
        </p:nvSpPr>
        <p:spPr>
          <a:xfrm>
            <a:off x="4932040" y="2276872"/>
            <a:ext cx="288032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5220072" y="1809353"/>
          <a:ext cx="3540125" cy="935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55" name="Equation" r:id="rId5" imgW="1828800" imgH="482400" progId="Equation.3">
                  <p:embed/>
                </p:oleObj>
              </mc:Choice>
              <mc:Fallback>
                <p:oleObj name="Equation" r:id="rId5" imgW="1828800" imgH="482400" progId="Equation.3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1809353"/>
                        <a:ext cx="3540125" cy="9350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827584" y="3426212"/>
          <a:ext cx="2482850" cy="935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56" name="Equation" r:id="rId7" imgW="1282680" imgH="482400" progId="Equation.3">
                  <p:embed/>
                </p:oleObj>
              </mc:Choice>
              <mc:Fallback>
                <p:oleObj name="Equation" r:id="rId7" imgW="1282680" imgH="48240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3426212"/>
                        <a:ext cx="2482850" cy="935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5582577" y="3643984"/>
          <a:ext cx="2360612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57" name="Equation" r:id="rId9" imgW="1218960" imgH="457200" progId="Equation.3">
                  <p:embed/>
                </p:oleObj>
              </mc:Choice>
              <mc:Fallback>
                <p:oleObj name="Equation" r:id="rId9" imgW="1218960" imgH="457200" progId="Equation.3">
                  <p:embed/>
                  <p:pic>
                    <p:nvPicPr>
                      <p:cNvPr id="8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2577" y="3643984"/>
                        <a:ext cx="2360612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/>
          <p:cNvSpPr/>
          <p:nvPr/>
        </p:nvSpPr>
        <p:spPr>
          <a:xfrm>
            <a:off x="5580112" y="3582841"/>
            <a:ext cx="2664296" cy="1008112"/>
          </a:xfrm>
          <a:prstGeom prst="rect">
            <a:avLst/>
          </a:prstGeom>
          <a:solidFill>
            <a:srgbClr val="FF0000">
              <a:alpha val="12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Arrow 9"/>
          <p:cNvSpPr/>
          <p:nvPr/>
        </p:nvSpPr>
        <p:spPr>
          <a:xfrm>
            <a:off x="4689621" y="3776007"/>
            <a:ext cx="262694" cy="31089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2915816" y="5589240"/>
          <a:ext cx="362899" cy="4320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58" name="Equation" r:id="rId11" imgW="139680" imgH="139680" progId="Equation.3">
                  <p:embed/>
                </p:oleObj>
              </mc:Choice>
              <mc:Fallback>
                <p:oleObj name="Equation" r:id="rId11" imgW="139680" imgH="139680" progId="Equation.3">
                  <p:embed/>
                  <p:pic>
                    <p:nvPicPr>
                      <p:cNvPr id="11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15816" y="5589240"/>
                        <a:ext cx="362899" cy="43204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11"/>
          <p:cNvGraphicFramePr>
            <a:graphicFrameLocks noChangeAspect="1"/>
          </p:cNvGraphicFramePr>
          <p:nvPr/>
        </p:nvGraphicFramePr>
        <p:xfrm>
          <a:off x="7308304" y="5589240"/>
          <a:ext cx="1260475" cy="50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59" name="Equation" r:id="rId13" imgW="698500" imgH="279400" progId="Equation.3">
                  <p:embed/>
                </p:oleObj>
              </mc:Choice>
              <mc:Fallback>
                <p:oleObj name="Equation" r:id="rId13" imgW="698500" imgH="279400" progId="Equation.3">
                  <p:embed/>
                  <p:pic>
                    <p:nvPicPr>
                      <p:cNvPr id="1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08304" y="5589240"/>
                        <a:ext cx="1260475" cy="503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4">
            <a:extLst>
              <a:ext uri="{FF2B5EF4-FFF2-40B4-BE49-F238E27FC236}">
                <a16:creationId xmlns:a16="http://schemas.microsoft.com/office/drawing/2014/main" id="{8DE65B92-84D8-7BCD-B569-694A8CC4BE1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39752" y="1092066"/>
          <a:ext cx="345757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60" name="Equation" r:id="rId15" imgW="1981080" imgH="330120" progId="Equation.3">
                  <p:embed/>
                </p:oleObj>
              </mc:Choice>
              <mc:Fallback>
                <p:oleObj name="Equation" r:id="rId15" imgW="1981080" imgH="330120" progId="Equation.3">
                  <p:embed/>
                  <p:pic>
                    <p:nvPicPr>
                      <p:cNvPr id="13" name="Object 4">
                        <a:extLst>
                          <a:ext uri="{FF2B5EF4-FFF2-40B4-BE49-F238E27FC236}">
                            <a16:creationId xmlns:a16="http://schemas.microsoft.com/office/drawing/2014/main" id="{8DE65B92-84D8-7BCD-B569-694A8CC4BE1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9752" y="1092066"/>
                        <a:ext cx="345757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49633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7"/>
          </p:nvPr>
        </p:nvSpPr>
        <p:spPr/>
        <p:txBody>
          <a:bodyPr>
            <a:normAutofit fontScale="47500" lnSpcReduction="20000"/>
          </a:bodyPr>
          <a:lstStyle/>
          <a:p>
            <a:endParaRPr lang="ru-RU" dirty="0"/>
          </a:p>
          <a:p>
            <a:r>
              <a:rPr lang="ru-RU" dirty="0"/>
              <a:t>Для измерения частоты прецессии спина использовался </a:t>
            </a:r>
            <a:r>
              <a:rPr lang="en-US" dirty="0"/>
              <a:t>EDDA Polarimeter</a:t>
            </a:r>
          </a:p>
        </p:txBody>
      </p:sp>
      <p:pic>
        <p:nvPicPr>
          <p:cNvPr id="7" name="Inhaltsplatzhalter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8" y="1187394"/>
            <a:ext cx="3960440" cy="216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chemeClr val="tx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t="5055" r="4435" b="6817"/>
          <a:stretch/>
        </p:blipFill>
        <p:spPr bwMode="auto">
          <a:xfrm>
            <a:off x="4932040" y="3888321"/>
            <a:ext cx="3915513" cy="2529638"/>
          </a:xfrm>
          <a:prstGeom prst="rect">
            <a:avLst/>
          </a:prstGeom>
          <a:solidFill>
            <a:srgbClr val="FFFFFF">
              <a:shade val="85000"/>
            </a:srgbClr>
          </a:solidFill>
          <a:ln w="9525">
            <a:solidFill>
              <a:schemeClr val="bg1"/>
            </a:solidFill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9"/>
              <p:cNvSpPr txBox="1">
                <a:spLocks/>
              </p:cNvSpPr>
              <p:nvPr/>
            </p:nvSpPr>
            <p:spPr>
              <a:xfrm>
                <a:off x="529207" y="1772816"/>
                <a:ext cx="3898776" cy="3531929"/>
              </a:xfrm>
              <a:prstGeom prst="rect">
                <a:avLst/>
              </a:prstGeom>
            </p:spPr>
            <p:txBody>
              <a:bodyPr>
                <a:sp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GB" sz="1800" b="1" i="1" dirty="0"/>
              </a:p>
              <a:p>
                <a:r>
                  <a:rPr lang="en-GB" sz="1800" b="1" i="1" dirty="0"/>
                  <a:t>Left-Right</a:t>
                </a:r>
                <a:r>
                  <a:rPr lang="en-GB" sz="1800" dirty="0"/>
                  <a:t> asymmetry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de-DE" sz="1800" i="1" smtClean="0">
                        <a:latin typeface="Cambria Math"/>
                      </a:rPr>
                      <m:t>⇒ </m:t>
                    </m:r>
                  </m:oMath>
                </a14:m>
                <a:r>
                  <a:rPr lang="en-GB" sz="1800" b="1" i="1" dirty="0"/>
                  <a:t>vertical</a:t>
                </a:r>
                <a:r>
                  <a:rPr lang="en-GB" sz="1800" dirty="0"/>
                  <a:t> polarization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/>
                            </a:rPr>
                            <m:t>𝑉</m:t>
                          </m:r>
                        </m:sub>
                      </m:sSub>
                      <m:r>
                        <a:rPr lang="de-DE" sz="1800" b="0" i="1" smtClean="0">
                          <a:latin typeface="Cambria Math"/>
                        </a:rPr>
                        <m:t>∝</m:t>
                      </m:r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/>
                            </a:rPr>
                            <m:t>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/>
                            </a:rPr>
                            <m:t>𝑣𝑒𝑟</m:t>
                          </m:r>
                        </m:sub>
                      </m:sSub>
                      <m:r>
                        <a:rPr lang="de-DE" sz="18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𝑙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1800" i="1" dirty="0"/>
              </a:p>
              <a:p>
                <a:endParaRPr lang="en-GB" sz="1800" b="1" i="1" dirty="0"/>
              </a:p>
              <a:p>
                <a:endParaRPr lang="en-GB" sz="1800" b="1" i="1" dirty="0"/>
              </a:p>
              <a:p>
                <a:r>
                  <a:rPr lang="en-GB" sz="1800" b="1" i="1" dirty="0"/>
                  <a:t>Up-Down</a:t>
                </a:r>
                <a:r>
                  <a:rPr lang="en-GB" sz="1800" dirty="0"/>
                  <a:t> asymmetry </a:t>
                </a:r>
                <a:endParaRPr lang="de-DE" sz="1800" i="1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de-DE" sz="1800" i="1" smtClean="0">
                        <a:latin typeface="Cambria Math"/>
                      </a:rPr>
                      <m:t>⇒</m:t>
                    </m:r>
                  </m:oMath>
                </a14:m>
                <a:r>
                  <a:rPr lang="en-GB" sz="1800" dirty="0"/>
                  <a:t> </a:t>
                </a:r>
                <a:r>
                  <a:rPr lang="en-GB" sz="1800" b="1" i="1" dirty="0"/>
                  <a:t>horizontal</a:t>
                </a:r>
                <a:r>
                  <a:rPr lang="en-GB" sz="1800" dirty="0"/>
                  <a:t> polarization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/>
                            </a:rPr>
                            <m:t>𝐻</m:t>
                          </m:r>
                        </m:sub>
                      </m:sSub>
                      <m:r>
                        <a:rPr lang="de-DE" sz="1800" b="0" i="1">
                          <a:latin typeface="Cambria Math"/>
                        </a:rPr>
                        <m:t>∝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/>
                            </a:rPr>
                            <m:t>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/>
                            </a:rPr>
                            <m:t>h𝑜𝑟</m:t>
                          </m:r>
                        </m:sub>
                      </m:sSub>
                      <m:r>
                        <a:rPr lang="de-DE" sz="1800" b="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𝑑𝑛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/>
                                </a:rPr>
                                <m:t>𝑑𝑛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1800" i="1" dirty="0"/>
              </a:p>
            </p:txBody>
          </p:sp>
        </mc:Choice>
        <mc:Fallback xmlns="">
          <p:sp>
            <p:nvSpPr>
              <p:cNvPr id="10" name="Textplatzhalter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7" y="1772816"/>
                <a:ext cx="3898776" cy="3531929"/>
              </a:xfrm>
              <a:prstGeom prst="rect">
                <a:avLst/>
              </a:prstGeom>
              <a:blipFill>
                <a:blip r:embed="rId5"/>
                <a:stretch>
                  <a:fillRect l="-10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603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5"/>
    </mc:Choice>
    <mc:Fallback xmlns="">
      <p:transition spd="slow" advTm="585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08C625C8-4C81-4BC2-B20B-78413F7E39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60648"/>
            <a:ext cx="7772400" cy="587375"/>
          </a:xfrm>
        </p:spPr>
        <p:txBody>
          <a:bodyPr/>
          <a:lstStyle/>
          <a:p>
            <a:pPr algn="ctr"/>
            <a:r>
              <a:rPr lang="en-US" altLang="en-US" sz="1800" dirty="0"/>
              <a:t>Figure Of Merit vs Energy: </a:t>
            </a:r>
            <a:r>
              <a:rPr lang="en-US" altLang="en-US" sz="1800" dirty="0">
                <a:solidFill>
                  <a:srgbClr val="FF0000"/>
                </a:solidFill>
              </a:rPr>
              <a:t>choice of energy</a:t>
            </a:r>
            <a:endParaRPr lang="en-GB" altLang="en-US" sz="1800" dirty="0">
              <a:solidFill>
                <a:srgbClr val="FF0000"/>
              </a:solidFill>
            </a:endParaRPr>
          </a:p>
        </p:txBody>
      </p:sp>
      <p:sp>
        <p:nvSpPr>
          <p:cNvPr id="13315" name="Content Placeholder 2">
            <a:extLst>
              <a:ext uri="{FF2B5EF4-FFF2-40B4-BE49-F238E27FC236}">
                <a16:creationId xmlns:a16="http://schemas.microsoft.com/office/drawing/2014/main" id="{B1A67738-A856-47C9-A6D1-CFEF067C5A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39552" y="1089819"/>
            <a:ext cx="8333059" cy="4643437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/>
              <a:t>			</a:t>
            </a:r>
            <a:endParaRPr lang="en-GB" altLang="en-US" dirty="0"/>
          </a:p>
        </p:txBody>
      </p:sp>
      <p:pic>
        <p:nvPicPr>
          <p:cNvPr id="13316" name="Picture 4">
            <a:extLst>
              <a:ext uri="{FF2B5EF4-FFF2-40B4-BE49-F238E27FC236}">
                <a16:creationId xmlns:a16="http://schemas.microsoft.com/office/drawing/2014/main" id="{3BE2CC97-A0BE-4A3D-85C1-5045A4E832C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1" y="920927"/>
            <a:ext cx="3727916" cy="260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7" name="Picture 5">
            <a:extLst>
              <a:ext uri="{FF2B5EF4-FFF2-40B4-BE49-F238E27FC236}">
                <a16:creationId xmlns:a16="http://schemas.microsoft.com/office/drawing/2014/main" id="{9A948D59-6AB1-4CED-ACF8-A5DEF05BDA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3" y="775118"/>
            <a:ext cx="3727916" cy="27253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8" name="Picture 6">
            <a:extLst>
              <a:ext uri="{FF2B5EF4-FFF2-40B4-BE49-F238E27FC236}">
                <a16:creationId xmlns:a16="http://schemas.microsoft.com/office/drawing/2014/main" id="{9AFCEB21-3F10-4E4F-B065-7D6EFADDCF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2966" y="3708492"/>
            <a:ext cx="4466229" cy="26980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8616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742A5D-194C-48A6-84BC-F67B06E94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8858" y="263419"/>
            <a:ext cx="5421493" cy="645301"/>
          </a:xfrm>
        </p:spPr>
        <p:txBody>
          <a:bodyPr>
            <a:normAutofit/>
          </a:bodyPr>
          <a:lstStyle/>
          <a:p>
            <a:r>
              <a:rPr lang="en-US" sz="2400" dirty="0"/>
              <a:t>Measurement of polarization</a:t>
            </a:r>
            <a:r>
              <a:rPr lang="ru-RU" sz="2400" dirty="0"/>
              <a:t> </a:t>
            </a:r>
            <a:r>
              <a:rPr lang="en-US" sz="2400" dirty="0"/>
              <a:t>asymmetry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74CFA1F-38C2-4DD5-B880-406ECE76D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1372" y="889856"/>
            <a:ext cx="4176464" cy="5813244"/>
          </a:xfrm>
        </p:spPr>
      </p:pic>
    </p:spTree>
    <p:extLst>
      <p:ext uri="{BB962C8B-B14F-4D97-AF65-F5344CB8AC3E}">
        <p14:creationId xmlns:p14="http://schemas.microsoft.com/office/powerpoint/2010/main" val="326789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869560"/>
            <a:ext cx="8074025" cy="4719680"/>
          </a:xfr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746AA-E6AB-4D1E-860C-E7DFAB0C1CB8}" type="datetime1">
              <a:rPr lang="en-US" smtClean="0"/>
              <a:t>3/8/2026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9AEA1-3281-46F0-9EDB-48FF2E5FF267}" type="slidenum">
              <a:rPr lang="de-DE" smtClean="0"/>
              <a:t>13</a:t>
            </a:fld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8" name="Textfeld 7"/>
          <p:cNvSpPr txBox="1"/>
          <p:nvPr/>
        </p:nvSpPr>
        <p:spPr>
          <a:xfrm>
            <a:off x="1273371" y="4602614"/>
            <a:ext cx="11383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600" dirty="0"/>
              <a:t>preliminary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/>
              <p:cNvSpPr txBox="1"/>
              <p:nvPr/>
            </p:nvSpPr>
            <p:spPr>
              <a:xfrm>
                <a:off x="7308304" y="2996952"/>
                <a:ext cx="1703223" cy="65665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Polarization</a:t>
                </a:r>
                <a:r>
                  <a:rPr lang="de-DE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fit: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/>
                        </a:rPr>
                        <m:t>𝑝</m:t>
                      </m:r>
                      <m:r>
                        <a:rPr lang="de-DE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/>
                                </a:rPr>
                                <m:t>𝑆𝐶𝑇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feld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304" y="2996952"/>
                <a:ext cx="1703223" cy="656655"/>
              </a:xfrm>
              <a:prstGeom prst="rect">
                <a:avLst/>
              </a:prstGeom>
              <a:blipFill rotWithShape="1">
                <a:blip r:embed="rId3"/>
                <a:stretch>
                  <a:fillRect l="-2473" t="-2703" r="-1767" b="-1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/>
              <p:cNvSpPr txBox="1"/>
              <p:nvPr/>
            </p:nvSpPr>
            <p:spPr>
              <a:xfrm>
                <a:off x="2597325" y="5723964"/>
                <a:ext cx="4394216" cy="36933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Best Spin Coherence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/>
                          </a:rPr>
                          <m:t>𝜏</m:t>
                        </m:r>
                      </m:e>
                      <m:sub>
                        <m:r>
                          <a:rPr lang="de-DE" b="0" i="1" smtClean="0">
                            <a:latin typeface="Cambria Math"/>
                          </a:rPr>
                          <m:t>𝑆𝐶𝑇</m:t>
                        </m:r>
                      </m:sub>
                    </m:sSub>
                    <m:r>
                      <a:rPr lang="de-DE" b="0" i="1" smtClean="0">
                        <a:latin typeface="Cambria Math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de-DE" b="0" i="1" smtClean="0">
                        <a:latin typeface="Cambria Math"/>
                      </a:rPr>
                      <m:t>00</m:t>
                    </m:r>
                    <m:r>
                      <a:rPr lang="de-DE" b="0" i="1" smtClean="0">
                        <a:latin typeface="Cambria Math"/>
                      </a:rPr>
                      <m:t>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feld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7325" y="5723964"/>
                <a:ext cx="4394216" cy="369332"/>
              </a:xfrm>
              <a:prstGeom prst="rect">
                <a:avLst/>
              </a:prstGeom>
              <a:blipFill>
                <a:blip r:embed="rId4"/>
                <a:stretch>
                  <a:fillRect l="-828" t="-615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464770-5059-4FE8-BC91-AA1944BA63A2}"/>
              </a:ext>
            </a:extLst>
          </p:cNvPr>
          <p:cNvSpPr/>
          <p:nvPr/>
        </p:nvSpPr>
        <p:spPr>
          <a:xfrm>
            <a:off x="2339752" y="271391"/>
            <a:ext cx="3888432" cy="9866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Coherence time</a:t>
            </a:r>
          </a:p>
        </p:txBody>
      </p:sp>
    </p:spTree>
    <p:extLst>
      <p:ext uri="{BB962C8B-B14F-4D97-AF65-F5344CB8AC3E}">
        <p14:creationId xmlns:p14="http://schemas.microsoft.com/office/powerpoint/2010/main" val="2906543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7"/>
    </mc:Choice>
    <mc:Fallback xmlns="">
      <p:transition spd="slow" advTm="627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0A9A226F-F622-4857-8641-62D4EFEEA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sz="3200" dirty="0">
                <a:solidFill>
                  <a:srgbClr val="FF0000"/>
                </a:solidFill>
              </a:rPr>
              <a:t>Two types lattices: </a:t>
            </a:r>
            <a:r>
              <a:rPr lang="en-US" altLang="en-US" sz="3200" b="1" dirty="0">
                <a:solidFill>
                  <a:srgbClr val="0033CC"/>
                </a:solidFill>
              </a:rPr>
              <a:t>frozen</a:t>
            </a:r>
            <a:r>
              <a:rPr lang="en-US" altLang="en-US" sz="3200" dirty="0">
                <a:solidFill>
                  <a:srgbClr val="FF0000"/>
                </a:solidFill>
              </a:rPr>
              <a:t> and </a:t>
            </a:r>
            <a:r>
              <a:rPr lang="en-US" altLang="en-US" sz="3200" b="1" dirty="0">
                <a:solidFill>
                  <a:srgbClr val="CC0099"/>
                </a:solidFill>
              </a:rPr>
              <a:t>quasi-frozen spin</a:t>
            </a:r>
            <a:endParaRPr lang="en-GB" altLang="en-US" sz="3200" b="1" dirty="0">
              <a:solidFill>
                <a:srgbClr val="CC0099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6D229-A7F6-43DF-816C-C953174AF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" y="1905000"/>
            <a:ext cx="8353425" cy="4619625"/>
          </a:xfrm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1800" b="1" dirty="0">
                <a:solidFill>
                  <a:srgbClr val="0000FF"/>
                </a:solidFill>
              </a:rPr>
              <a:t>“Frozen” spin lattice for deuteron based on the </a:t>
            </a:r>
            <a:r>
              <a:rPr lang="ru-RU" sz="1800" b="1" dirty="0">
                <a:solidFill>
                  <a:srgbClr val="0000FF"/>
                </a:solidFill>
              </a:rPr>
              <a:t>«</a:t>
            </a:r>
            <a:r>
              <a:rPr lang="en-US" sz="1800" b="1" dirty="0">
                <a:solidFill>
                  <a:srgbClr val="0000FF"/>
                </a:solidFill>
              </a:rPr>
              <a:t>E+B</a:t>
            </a:r>
            <a:r>
              <a:rPr lang="ru-RU" sz="1800" b="1" dirty="0">
                <a:solidFill>
                  <a:srgbClr val="0000FF"/>
                </a:solidFill>
              </a:rPr>
              <a:t>»</a:t>
            </a:r>
            <a:r>
              <a:rPr lang="en-US" sz="1800" b="1" dirty="0">
                <a:solidFill>
                  <a:srgbClr val="0000FF"/>
                </a:solidFill>
              </a:rPr>
              <a:t> elements: </a:t>
            </a:r>
          </a:p>
          <a:p>
            <a:pPr>
              <a:buFontTx/>
              <a:buChar char="-"/>
              <a:defRPr/>
            </a:pPr>
            <a:r>
              <a:rPr lang="en-US" sz="1800" dirty="0"/>
              <a:t>the </a:t>
            </a:r>
            <a:r>
              <a:rPr lang="en-GB" sz="1800" dirty="0"/>
              <a:t>spin of the referent particle is always oriented along the momentum </a:t>
            </a:r>
          </a:p>
          <a:p>
            <a:pPr marL="0" indent="0">
              <a:defRPr/>
            </a:pPr>
            <a:endParaRPr lang="en-US" dirty="0"/>
          </a:p>
          <a:p>
            <a:pPr marL="0" indent="0">
              <a:defRPr/>
            </a:pPr>
            <a:endParaRPr lang="en-GB" dirty="0"/>
          </a:p>
          <a:p>
            <a:pPr>
              <a:buFontTx/>
              <a:buChar char="-"/>
              <a:defRPr/>
            </a:pPr>
            <a:r>
              <a:rPr lang="en-GB" sz="1800" dirty="0"/>
              <a:t>The spin of non-referent particles make incoherent rotation relative to the referent particle spin</a:t>
            </a:r>
          </a:p>
          <a:p>
            <a:pPr marL="0" indent="0">
              <a:buNone/>
              <a:defRPr/>
            </a:pPr>
            <a:r>
              <a:rPr lang="en-US" sz="1800" b="1" dirty="0">
                <a:solidFill>
                  <a:srgbClr val="0000FF"/>
                </a:solidFill>
              </a:rPr>
              <a:t>      or for proton based on the </a:t>
            </a:r>
            <a:r>
              <a:rPr lang="ru-RU" sz="1800" b="1" dirty="0">
                <a:solidFill>
                  <a:srgbClr val="0000FF"/>
                </a:solidFill>
              </a:rPr>
              <a:t>«</a:t>
            </a:r>
            <a:r>
              <a:rPr lang="en-US" sz="1800" b="1" dirty="0">
                <a:solidFill>
                  <a:srgbClr val="0000FF"/>
                </a:solidFill>
              </a:rPr>
              <a:t>E</a:t>
            </a:r>
            <a:r>
              <a:rPr lang="ru-RU" sz="1800" b="1" dirty="0">
                <a:solidFill>
                  <a:srgbClr val="0000FF"/>
                </a:solidFill>
              </a:rPr>
              <a:t>»</a:t>
            </a:r>
            <a:r>
              <a:rPr lang="en-US" sz="1800" b="1" dirty="0">
                <a:solidFill>
                  <a:srgbClr val="0000FF"/>
                </a:solidFill>
              </a:rPr>
              <a:t> elements:</a:t>
            </a:r>
          </a:p>
          <a:p>
            <a:pPr marL="0" indent="0">
              <a:buNone/>
              <a:defRPr/>
            </a:pPr>
            <a:endParaRPr lang="en-GB" sz="1800" dirty="0"/>
          </a:p>
          <a:p>
            <a:pPr marL="0" indent="0">
              <a:defRPr/>
            </a:pPr>
            <a:endParaRPr lang="en-US" sz="1800" b="1" dirty="0">
              <a:solidFill>
                <a:srgbClr val="0000FF"/>
              </a:solidFill>
            </a:endParaRPr>
          </a:p>
          <a:p>
            <a:pPr marL="0" indent="0">
              <a:defRPr/>
            </a:pPr>
            <a:endParaRPr lang="en-US" sz="1800" b="1" dirty="0">
              <a:solidFill>
                <a:srgbClr val="0000FF"/>
              </a:solidFill>
            </a:endParaRPr>
          </a:p>
          <a:p>
            <a:pPr marL="0" indent="0">
              <a:defRPr/>
            </a:pPr>
            <a:r>
              <a:rPr lang="en-US" sz="1800" b="1" dirty="0">
                <a:solidFill>
                  <a:srgbClr val="CC0099"/>
                </a:solidFill>
              </a:rPr>
              <a:t>Quasi-Frozen spin lattice consists of n E-parts and n B-parts of ring:</a:t>
            </a:r>
          </a:p>
          <a:p>
            <a:pPr>
              <a:buFontTx/>
              <a:buChar char="-"/>
              <a:defRPr/>
            </a:pPr>
            <a:r>
              <a:rPr lang="en-US" sz="1800" dirty="0"/>
              <a:t>The </a:t>
            </a:r>
            <a:r>
              <a:rPr lang="en-GB" sz="1800" dirty="0"/>
              <a:t>spin of the referent particle oscillates within a small angle ±</a:t>
            </a:r>
            <a:r>
              <a:rPr lang="el-GR" sz="1800" dirty="0"/>
              <a:t>γ</a:t>
            </a:r>
            <a:r>
              <a:rPr lang="en-US" sz="1800" dirty="0"/>
              <a:t>G/</a:t>
            </a:r>
            <a:r>
              <a:rPr lang="ru-RU" sz="1800" dirty="0"/>
              <a:t>4</a:t>
            </a:r>
            <a:r>
              <a:rPr lang="en-US" sz="1800" dirty="0"/>
              <a:t>n</a:t>
            </a:r>
            <a:r>
              <a:rPr lang="en-GB" sz="1800" dirty="0"/>
              <a:t> relative to the direction of motion </a:t>
            </a:r>
          </a:p>
          <a:p>
            <a:pPr>
              <a:buFontTx/>
              <a:buChar char="-"/>
              <a:defRPr/>
            </a:pPr>
            <a:r>
              <a:rPr lang="en-US" sz="1800" dirty="0"/>
              <a:t>                                                                                                </a:t>
            </a:r>
          </a:p>
          <a:p>
            <a:pPr marL="0" indent="0">
              <a:defRPr/>
            </a:pPr>
            <a:endParaRPr lang="en-US" sz="1800" b="1" dirty="0">
              <a:solidFill>
                <a:srgbClr val="0000FF"/>
              </a:solidFill>
            </a:endParaRPr>
          </a:p>
          <a:p>
            <a:pPr marL="0" indent="0">
              <a:defRPr/>
            </a:pPr>
            <a:r>
              <a:rPr lang="en-US" sz="1800" b="1" dirty="0">
                <a:solidFill>
                  <a:srgbClr val="0000FF"/>
                </a:solidFill>
              </a:rPr>
              <a:t> </a:t>
            </a:r>
          </a:p>
          <a:p>
            <a:pPr marL="0" indent="0">
              <a:defRPr/>
            </a:pPr>
            <a:endParaRPr lang="en-GB" sz="1800" dirty="0"/>
          </a:p>
        </p:txBody>
      </p:sp>
      <p:graphicFrame>
        <p:nvGraphicFramePr>
          <p:cNvPr id="5124" name="Object 3">
            <a:extLst>
              <a:ext uri="{FF2B5EF4-FFF2-40B4-BE49-F238E27FC236}">
                <a16:creationId xmlns:a16="http://schemas.microsoft.com/office/drawing/2014/main" id="{0FBD1656-31A0-461A-93CC-D6B195CF1C8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2513013"/>
          <a:ext cx="3251200" cy="823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0" name="Equation" r:id="rId3" imgW="2108200" imgH="533400" progId="Equation.3">
                  <p:embed/>
                </p:oleObj>
              </mc:Choice>
              <mc:Fallback>
                <p:oleObj name="Equation" r:id="rId3" imgW="2108200" imgH="533400" progId="Equation.3">
                  <p:embed/>
                  <p:pic>
                    <p:nvPicPr>
                      <p:cNvPr id="5124" name="Object 3">
                        <a:extLst>
                          <a:ext uri="{FF2B5EF4-FFF2-40B4-BE49-F238E27FC236}">
                            <a16:creationId xmlns:a16="http://schemas.microsoft.com/office/drawing/2014/main" id="{0FBD1656-31A0-461A-93CC-D6B195CF1C8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513013"/>
                        <a:ext cx="3251200" cy="823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26293F9D-CD55-4929-A095-70278AAF42DC}"/>
              </a:ext>
            </a:extLst>
          </p:cNvPr>
          <p:cNvSpPr/>
          <p:nvPr/>
        </p:nvSpPr>
        <p:spPr>
          <a:xfrm>
            <a:off x="5003800" y="2781300"/>
            <a:ext cx="287338" cy="144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endParaRPr lang="en-GB" baseline="0" dirty="0"/>
          </a:p>
        </p:txBody>
      </p:sp>
      <p:graphicFrame>
        <p:nvGraphicFramePr>
          <p:cNvPr id="5126" name="Object 5">
            <a:extLst>
              <a:ext uri="{FF2B5EF4-FFF2-40B4-BE49-F238E27FC236}">
                <a16:creationId xmlns:a16="http://schemas.microsoft.com/office/drawing/2014/main" id="{FE0CEC30-115A-42A0-B520-25DD661BB3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97538" y="2611438"/>
          <a:ext cx="17605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1" name="Equation" r:id="rId5" imgW="964781" imgH="304668" progId="Equation.3">
                  <p:embed/>
                </p:oleObj>
              </mc:Choice>
              <mc:Fallback>
                <p:oleObj name="Equation" r:id="rId5" imgW="964781" imgH="304668" progId="Equation.3">
                  <p:embed/>
                  <p:pic>
                    <p:nvPicPr>
                      <p:cNvPr id="5126" name="Object 5">
                        <a:extLst>
                          <a:ext uri="{FF2B5EF4-FFF2-40B4-BE49-F238E27FC236}">
                            <a16:creationId xmlns:a16="http://schemas.microsoft.com/office/drawing/2014/main" id="{FE0CEC30-115A-42A0-B520-25DD661BB3F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7538" y="2611438"/>
                        <a:ext cx="17605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32A1208-7935-4EF4-BA99-6CFECA1BBBA7}"/>
              </a:ext>
            </a:extLst>
          </p:cNvPr>
          <p:cNvSpPr txBox="1">
            <a:spLocks noRot="1" noChangeAspect="1" noMove="1" noResize="1" noEditPoints="1" noAdjustHandles="1" noChangeArrowheads="1" noChangeShapeType="1" noTextEdit="1"/>
          </p:cNvSpPr>
          <p:nvPr/>
        </p:nvSpPr>
        <p:spPr>
          <a:xfrm>
            <a:off x="827584" y="5805264"/>
            <a:ext cx="2719080" cy="466200"/>
          </a:xfrm>
          <a:prstGeom prst="rect">
            <a:avLst/>
          </a:prstGeom>
          <a:blipFill rotWithShape="1">
            <a:blip r:embed="rId7"/>
            <a:stretch>
              <a:fillRect l="-3587" t="-3896" r="-673" b="-10390"/>
            </a:stretch>
          </a:blipFill>
          <a:ln>
            <a:noFill/>
          </a:ln>
        </p:spPr>
        <p:txBody>
          <a:bodyPr/>
          <a:lstStyle/>
          <a:p>
            <a:pPr>
              <a:defRPr/>
            </a:pPr>
            <a:r>
              <a:rPr lang="en-GB" baseline="0">
                <a:noFill/>
                <a:latin typeface="Arial" charset="0"/>
                <a:cs typeface="Arial" charset="0"/>
              </a:rPr>
              <a:t>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3">
                <a:extLst>
                  <a:ext uri="{FF2B5EF4-FFF2-40B4-BE49-F238E27FC236}">
                    <a16:creationId xmlns:a16="http://schemas.microsoft.com/office/drawing/2014/main" id="{5596131E-CE53-4D04-B2DB-B9832E9D30FA}"/>
                  </a:ext>
                </a:extLst>
              </p:cNvPr>
              <p:cNvSpPr txBox="1"/>
              <p:nvPr/>
            </p:nvSpPr>
            <p:spPr bwMode="auto">
              <a:xfrm>
                <a:off x="2187124" y="3944938"/>
                <a:ext cx="3251200" cy="823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groupChr>
                                <m:groupChrPr>
                                  <m:chr m:val="→"/>
                                  <m:pos m:val="top"/>
                                  <m:vertJc m:val="bot"/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e>
                              </m:groupChr>
                            </m:num>
                            <m:den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den>
                          </m:f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groupChr>
                            <m:groupChrPr>
                              <m:chr m:val="→"/>
                              <m:pos m:val="top"/>
                              <m:vertJc m:val="bot"/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Object 3">
                <a:extLst>
                  <a:ext uri="{FF2B5EF4-FFF2-40B4-BE49-F238E27FC236}">
                    <a16:creationId xmlns:a16="http://schemas.microsoft.com/office/drawing/2014/main" id="{5596131E-CE53-4D04-B2DB-B9832E9D3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87124" y="3944938"/>
                <a:ext cx="3251200" cy="8239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DEC7D9-1112-5C65-A081-AE24FCE54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Векторная диаграмма полей и частот</a:t>
            </a:r>
          </a:p>
        </p:txBody>
      </p:sp>
      <p:pic>
        <p:nvPicPr>
          <p:cNvPr id="13" name="Объект 12">
            <a:extLst>
              <a:ext uri="{FF2B5EF4-FFF2-40B4-BE49-F238E27FC236}">
                <a16:creationId xmlns:a16="http://schemas.microsoft.com/office/drawing/2014/main" id="{9A69E107-075A-E0B6-09D5-14D1C00D51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403" y="1600200"/>
            <a:ext cx="6607193" cy="4525963"/>
          </a:xfr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6045B67-793A-3538-F0FD-E7D27393FE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8987453" cy="6336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81089E-717B-7974-DA49-9F338796645B}"/>
                  </a:ext>
                </a:extLst>
              </p:cNvPr>
              <p:cNvSpPr txBox="1"/>
              <p:nvPr/>
            </p:nvSpPr>
            <p:spPr>
              <a:xfrm>
                <a:off x="-684585" y="2420888"/>
                <a:ext cx="5256583" cy="5955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sz="1200" b="1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𝜴</m:t>
                          </m:r>
                        </m:e>
                      </m:acc>
                      <m:r>
                        <a:rPr lang="ru-RU" sz="1200" b="1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200" b="1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𝒆</m:t>
                          </m:r>
                        </m:num>
                        <m:den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ru-RU" sz="1200" b="1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𝑮</m:t>
                          </m:r>
                          <m:groupChr>
                            <m:groupChrPr>
                              <m:chr m:val="→"/>
                              <m:pos m:val="top"/>
                              <m:vertJc m:val="bot"/>
                              <m:ctrlPr>
                                <a:rPr lang="ru-RU" sz="1200" b="1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groupChr>
                          <m:r>
                            <a:rPr lang="ru-RU" sz="1200" b="1" i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sz="1200" b="1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200" b="1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200" b="1" i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sz="1200" b="1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200" b="1" i="1">
                                          <a:latin typeface="Cambria Math" panose="02040503050406030204" pitchFamily="18" charset="0"/>
                                        </a:rPr>
                                        <m:t>𝜸</m:t>
                                      </m:r>
                                    </m:e>
                                    <m:sup>
                                      <m:r>
                                        <a:rPr lang="ru-RU" sz="1200" b="1" i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  <m:r>
                                    <a:rPr lang="ru-RU" sz="1200" b="1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sz="1200" b="1" i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den>
                              </m:f>
                              <m:r>
                                <a:rPr lang="ru-RU" sz="1200" b="1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</m:d>
                          <m:d>
                            <m:dPr>
                              <m:ctrlPr>
                                <a:rPr lang="ru-RU" sz="1200" b="1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200" b="1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groupChr>
                                    <m:groupChrPr>
                                      <m:chr m:val="→"/>
                                      <m:pos m:val="top"/>
                                      <m:vertJc m:val="bot"/>
                                      <m:ctrlPr>
                                        <a:rPr lang="ru-RU" sz="1200" b="1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ru-RU" sz="1200" b="1" i="1">
                                          <a:latin typeface="Cambria Math" panose="02040503050406030204" pitchFamily="18" charset="0"/>
                                        </a:rPr>
                                        <m:t>𝜷</m:t>
                                      </m:r>
                                    </m:e>
                                  </m:groupChr>
                                  <m:r>
                                    <a:rPr lang="ru-RU" sz="1200" b="1" i="0">
                                      <a:latin typeface="Cambria Math" panose="02040503050406030204" pitchFamily="18" charset="0"/>
                                    </a:rPr>
                                    <m:t>×</m:t>
                                  </m:r>
                                  <m:groupChr>
                                    <m:groupChrPr>
                                      <m:chr m:val="→"/>
                                      <m:pos m:val="top"/>
                                      <m:vertJc m:val="bot"/>
                                      <m:ctrlPr>
                                        <a:rPr lang="ru-RU" sz="1200" b="1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ru-RU" sz="1200" b="1" i="1">
                                          <a:latin typeface="Cambria Math" panose="02040503050406030204" pitchFamily="18" charset="0"/>
                                        </a:rPr>
                                        <m:t>𝑬</m:t>
                                      </m:r>
                                    </m:e>
                                  </m:groupChr>
                                </m:num>
                                <m:den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den>
                              </m:f>
                            </m:e>
                          </m:d>
                          <m:r>
                            <a:rPr lang="ru-RU" sz="1200" b="1" i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200" b="1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𝜼</m:t>
                              </m:r>
                            </m:num>
                            <m:den>
                              <m:r>
                                <a:rPr lang="ru-RU" sz="1200" b="1" i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d>
                            <m:dPr>
                              <m:ctrlPr>
                                <a:rPr lang="ru-RU" sz="1200" b="1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200" b="1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acc>
                                    <m:accPr>
                                      <m:chr m:val="⃗"/>
                                      <m:ctrlPr>
                                        <a:rPr lang="ru-RU" sz="1200" b="1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sz="1200" b="1" i="1">
                                          <a:latin typeface="Cambria Math" panose="02040503050406030204" pitchFamily="18" charset="0"/>
                                        </a:rPr>
                                        <m:t>𝑬</m:t>
                                      </m:r>
                                    </m:e>
                                  </m:acc>
                                </m:num>
                                <m:den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den>
                              </m:f>
                              <m:r>
                                <a:rPr lang="ru-RU" sz="1200" b="1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sz="1200" b="1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𝜷</m:t>
                                  </m:r>
                                </m:e>
                              </m:acc>
                              <m:r>
                                <a:rPr lang="ru-RU" sz="1200" b="1" i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sz="1200" b="1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𝑩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ru-RU" sz="12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81089E-717B-7974-DA49-9F338796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84585" y="2420888"/>
                <a:ext cx="5256583" cy="5955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F1CEF24-D0EC-BF70-30DF-88BF12895646}"/>
                  </a:ext>
                </a:extLst>
              </p:cNvPr>
              <p:cNvSpPr txBox="1"/>
              <p:nvPr/>
            </p:nvSpPr>
            <p:spPr>
              <a:xfrm>
                <a:off x="-512577" y="604134"/>
                <a:ext cx="4912566" cy="7795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𝜴</m:t>
                              </m:r>
                            </m:e>
                          </m:acc>
                        </m:e>
                        <m:sub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𝑴𝑫𝑴</m:t>
                          </m:r>
                        </m:sub>
                      </m:sSub>
                      <m:r>
                        <a:rPr lang="ru-RU" sz="1200" b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ru-RU" sz="1200" b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2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num>
                        <m:den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ru-RU" sz="1200" b="1" i="1">
                              <a:latin typeface="Cambria Math" panose="02040503050406030204" pitchFamily="18" charset="0"/>
                            </a:rPr>
                            <m:t>𝜸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ru-RU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sSub>
                            <m:sSubPr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𝑩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  <m:r>
                            <a:rPr lang="ru-RU" sz="1200" b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sSub>
                            <m:sSubPr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𝑩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ru-RU" sz="1200" b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𝜸</m:t>
                                  </m:r>
                                </m:num>
                                <m:den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𝜸</m:t>
                                  </m:r>
                                  <m:r>
                                    <a:rPr lang="ru-RU" sz="1200" b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ru-RU" sz="1200" b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den>
                              </m:f>
                            </m:e>
                          </m:d>
                          <m:f>
                            <m:fPr>
                              <m:ctrlPr>
                                <a:rPr lang="ru-RU" sz="12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𝜷</m:t>
                                  </m:r>
                                </m:e>
                              </m:acc>
                              <m:r>
                                <a:rPr lang="ru-RU" sz="1200" b="1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200" b="1" i="1">
                                      <a:latin typeface="Cambria Math" panose="02040503050406030204" pitchFamily="18" charset="0"/>
                                    </a:rPr>
                                    <m:t>𝑬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ru-RU" sz="12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F1CEF24-D0EC-BF70-30DF-88BF12895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12577" y="604134"/>
                <a:ext cx="4912566" cy="7795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CA63F94-4D1B-4B01-86CC-77DA72FE7542}"/>
              </a:ext>
            </a:extLst>
          </p:cNvPr>
          <p:cNvSpPr txBox="1"/>
          <p:nvPr/>
        </p:nvSpPr>
        <p:spPr>
          <a:xfrm>
            <a:off x="5537590" y="274638"/>
            <a:ext cx="22862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for “Frozen” spin</a:t>
            </a:r>
            <a:endParaRPr lang="ru-RU" sz="2000" b="1" dirty="0"/>
          </a:p>
        </p:txBody>
      </p:sp>
    </p:spTree>
    <p:extLst>
      <p:ext uri="{BB962C8B-B14F-4D97-AF65-F5344CB8AC3E}">
        <p14:creationId xmlns:p14="http://schemas.microsoft.com/office/powerpoint/2010/main" val="1961278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E778D6B-9314-41BE-B6F6-E4E5240313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690" y="1091363"/>
            <a:ext cx="6978620" cy="4675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53A9A4-5DF4-4267-B367-4FBC346DCAFD}"/>
              </a:ext>
            </a:extLst>
          </p:cNvPr>
          <p:cNvSpPr txBox="1"/>
          <p:nvPr/>
        </p:nvSpPr>
        <p:spPr>
          <a:xfrm>
            <a:off x="1479839" y="906696"/>
            <a:ext cx="6184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ARC+ Wien filter, deuteron G&lt;0 for “quasi-frozen” spin</a:t>
            </a:r>
            <a:endParaRPr lang="ru-RU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8887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A64382-87A3-4D8B-B309-EC2B96B2F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Установки ОИЯИ для измерения ЭДМ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3929C4-FD13-46D4-9431-CE1CB2510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ru-RU" sz="2000" dirty="0"/>
              <a:t>Основные места расположения оборудования для поиска ЭДМ</a:t>
            </a:r>
            <a:r>
              <a:rPr lang="en-US" sz="2000" dirty="0"/>
              <a:t>: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                                 </a:t>
            </a:r>
            <a:r>
              <a:rPr lang="ru-RU" sz="2000" b="1" dirty="0">
                <a:solidFill>
                  <a:srgbClr val="CC0066"/>
                </a:solidFill>
              </a:rPr>
              <a:t>1. </a:t>
            </a:r>
            <a:r>
              <a:rPr lang="de-DE" sz="2000" b="1" dirty="0">
                <a:solidFill>
                  <a:srgbClr val="CC0066"/>
                </a:solidFill>
              </a:rPr>
              <a:t>Bypass</a:t>
            </a:r>
            <a:r>
              <a:rPr lang="ru-RU" sz="2000" b="1" dirty="0">
                <a:solidFill>
                  <a:srgbClr val="CC0066"/>
                </a:solidFill>
              </a:rPr>
              <a:t> </a:t>
            </a:r>
            <a:r>
              <a:rPr lang="ru-RU" sz="1400" b="1" dirty="0">
                <a:solidFill>
                  <a:srgbClr val="CC0066"/>
                </a:solidFill>
              </a:rPr>
              <a:t>(«квази-замороженный» спин)   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b="1" dirty="0">
                <a:solidFill>
                  <a:srgbClr val="0033CC"/>
                </a:solidFill>
              </a:rPr>
              <a:t>2. </a:t>
            </a:r>
            <a:r>
              <a:rPr lang="ru-RU" sz="2000" b="1" dirty="0" err="1">
                <a:solidFill>
                  <a:srgbClr val="0033CC"/>
                </a:solidFill>
              </a:rPr>
              <a:t>Нуклотрон</a:t>
            </a:r>
            <a:r>
              <a:rPr lang="ru-RU" sz="2000" b="1" dirty="0">
                <a:solidFill>
                  <a:srgbClr val="0033CC"/>
                </a:solidFill>
              </a:rPr>
              <a:t> </a:t>
            </a:r>
            <a:r>
              <a:rPr lang="ru-RU" sz="1600" b="1" dirty="0">
                <a:solidFill>
                  <a:srgbClr val="0033CC"/>
                </a:solidFill>
              </a:rPr>
              <a:t>(«квази-замороженный» спин)                                                                                                          </a:t>
            </a:r>
            <a:r>
              <a:rPr lang="ru-RU" sz="2000" b="1" dirty="0">
                <a:solidFill>
                  <a:srgbClr val="FF0000"/>
                </a:solidFill>
              </a:rPr>
              <a:t>3. Специализированное кольцо в  </a:t>
            </a:r>
            <a:r>
              <a:rPr lang="ru-RU" sz="2000" b="1" dirty="0" err="1">
                <a:solidFill>
                  <a:srgbClr val="FF0000"/>
                </a:solidFill>
              </a:rPr>
              <a:t>зд</a:t>
            </a:r>
            <a:r>
              <a:rPr lang="ru-RU" sz="2000" b="1" dirty="0">
                <a:solidFill>
                  <a:srgbClr val="FF0000"/>
                </a:solidFill>
              </a:rPr>
              <a:t>. Б1 </a:t>
            </a:r>
            <a:r>
              <a:rPr lang="ru-RU" sz="1600" b="1" dirty="0">
                <a:solidFill>
                  <a:srgbClr val="FF0000"/>
                </a:solidFill>
              </a:rPr>
              <a:t>(«замороженный спин»)</a:t>
            </a:r>
          </a:p>
        </p:txBody>
      </p:sp>
      <p:pic>
        <p:nvPicPr>
          <p:cNvPr id="4" name="Объект 4">
            <a:extLst>
              <a:ext uri="{FF2B5EF4-FFF2-40B4-BE49-F238E27FC236}">
                <a16:creationId xmlns:a16="http://schemas.microsoft.com/office/drawing/2014/main" id="{82D6F84B-41A0-430C-BABA-2FCE3D8D5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2636912"/>
            <a:ext cx="7000663" cy="3281560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0AA166E8-D99F-46DC-95B4-390862534EC3}"/>
              </a:ext>
            </a:extLst>
          </p:cNvPr>
          <p:cNvCxnSpPr/>
          <p:nvPr/>
        </p:nvCxnSpPr>
        <p:spPr>
          <a:xfrm>
            <a:off x="4283968" y="3717032"/>
            <a:ext cx="360040" cy="7200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67C1EC3B-2B13-4BB4-AE63-7B42D0352E8A}"/>
              </a:ext>
            </a:extLst>
          </p:cNvPr>
          <p:cNvCxnSpPr/>
          <p:nvPr/>
        </p:nvCxnSpPr>
        <p:spPr>
          <a:xfrm flipV="1">
            <a:off x="4716016" y="3573016"/>
            <a:ext cx="576064" cy="2160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BCD26D5-291D-4498-9F46-DB79162E0425}"/>
              </a:ext>
            </a:extLst>
          </p:cNvPr>
          <p:cNvCxnSpPr/>
          <p:nvPr/>
        </p:nvCxnSpPr>
        <p:spPr>
          <a:xfrm>
            <a:off x="4283968" y="3717032"/>
            <a:ext cx="432048" cy="720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B65767F-9A69-4D64-A207-0A9E23E2EF95}"/>
              </a:ext>
            </a:extLst>
          </p:cNvPr>
          <p:cNvCxnSpPr/>
          <p:nvPr/>
        </p:nvCxnSpPr>
        <p:spPr>
          <a:xfrm flipV="1">
            <a:off x="5292080" y="3365325"/>
            <a:ext cx="72008" cy="20769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A1F37B6A-6520-46AC-93FC-F3AE83ABAED0}"/>
              </a:ext>
            </a:extLst>
          </p:cNvPr>
          <p:cNvCxnSpPr/>
          <p:nvPr/>
        </p:nvCxnSpPr>
        <p:spPr>
          <a:xfrm flipV="1">
            <a:off x="4932040" y="4149080"/>
            <a:ext cx="144016" cy="2160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DBB36FF2-03A8-4697-A952-ACB41BD333B5}"/>
              </a:ext>
            </a:extLst>
          </p:cNvPr>
          <p:cNvCxnSpPr/>
          <p:nvPr/>
        </p:nvCxnSpPr>
        <p:spPr>
          <a:xfrm flipV="1">
            <a:off x="5076056" y="3996731"/>
            <a:ext cx="432048" cy="15234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BB1E5F76-B1ED-4D4C-A5A3-64EE30B1D084}"/>
              </a:ext>
            </a:extLst>
          </p:cNvPr>
          <p:cNvCxnSpPr/>
          <p:nvPr/>
        </p:nvCxnSpPr>
        <p:spPr>
          <a:xfrm>
            <a:off x="5533256" y="3996731"/>
            <a:ext cx="334888" cy="8034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512F94BA-5980-4FAB-8962-B8A75E0CF1B8}"/>
              </a:ext>
            </a:extLst>
          </p:cNvPr>
          <p:cNvCxnSpPr/>
          <p:nvPr/>
        </p:nvCxnSpPr>
        <p:spPr>
          <a:xfrm>
            <a:off x="3275856" y="2276872"/>
            <a:ext cx="1368152" cy="151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FEFBB741-04CC-471B-A781-31DFD9583C66}"/>
              </a:ext>
            </a:extLst>
          </p:cNvPr>
          <p:cNvCxnSpPr/>
          <p:nvPr/>
        </p:nvCxnSpPr>
        <p:spPr>
          <a:xfrm flipV="1">
            <a:off x="1763688" y="5229200"/>
            <a:ext cx="936104" cy="864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ADC52C33-7B6C-4A84-926F-F98D3A33A6C4}"/>
              </a:ext>
            </a:extLst>
          </p:cNvPr>
          <p:cNvCxnSpPr>
            <a:cxnSpLocks/>
            <a:endCxn id="26" idx="2"/>
          </p:cNvCxnSpPr>
          <p:nvPr/>
        </p:nvCxnSpPr>
        <p:spPr>
          <a:xfrm flipH="1" flipV="1">
            <a:off x="3664496" y="5257800"/>
            <a:ext cx="115416" cy="1195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678840E9-A3C8-45FC-9107-B0E79B0830ED}"/>
              </a:ext>
            </a:extLst>
          </p:cNvPr>
          <p:cNvSpPr/>
          <p:nvPr/>
        </p:nvSpPr>
        <p:spPr>
          <a:xfrm>
            <a:off x="3549080" y="4941168"/>
            <a:ext cx="230832" cy="3166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5753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62" name="Title 1"/>
          <p:cNvSpPr>
            <a:spLocks noGrp="1"/>
          </p:cNvSpPr>
          <p:nvPr>
            <p:ph type="title"/>
          </p:nvPr>
        </p:nvSpPr>
        <p:spPr>
          <a:xfrm>
            <a:off x="684213" y="333375"/>
            <a:ext cx="7772400" cy="51435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EDM measurement precision</a:t>
            </a:r>
            <a:endParaRPr lang="en-GB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889" y="928338"/>
            <a:ext cx="7678222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4802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84F282-20F4-4A9B-92FB-222B374CB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Sensitivity of experiment</a:t>
            </a:r>
            <a:endParaRPr lang="ru-RU" sz="3200" b="1" dirty="0"/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5D2F2A11-B3CA-4DC8-8F62-0F000C1D82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5609" y="1600200"/>
            <a:ext cx="8172782" cy="4525963"/>
          </a:xfrm>
        </p:spPr>
      </p:pic>
    </p:spTree>
    <p:extLst>
      <p:ext uri="{BB962C8B-B14F-4D97-AF65-F5344CB8AC3E}">
        <p14:creationId xmlns:p14="http://schemas.microsoft.com/office/powerpoint/2010/main" val="1087693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8182" y="476672"/>
            <a:ext cx="7528273" cy="21096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sz="2400" b="1" dirty="0"/>
              <a:t>Frozen spin lattice </a:t>
            </a:r>
            <a:r>
              <a:rPr lang="en-US" sz="2400" b="1" dirty="0">
                <a:solidFill>
                  <a:srgbClr val="0033CC"/>
                </a:solidFill>
              </a:rPr>
              <a:t>for deuteron </a:t>
            </a:r>
            <a:r>
              <a:rPr lang="en-US" sz="2400" b="1" dirty="0"/>
              <a:t>at G&lt;0 based on the </a:t>
            </a:r>
            <a:r>
              <a:rPr lang="ru-RU" sz="2400" b="1" dirty="0"/>
              <a:t>«</a:t>
            </a:r>
            <a:r>
              <a:rPr lang="en-US" sz="2400" b="1" dirty="0"/>
              <a:t>B+E</a:t>
            </a:r>
            <a:r>
              <a:rPr lang="ru-RU" sz="2400" b="1" dirty="0"/>
              <a:t>»</a:t>
            </a:r>
            <a:r>
              <a:rPr lang="en-US" sz="2400" b="1" dirty="0"/>
              <a:t> elements</a:t>
            </a:r>
          </a:p>
          <a:p>
            <a:pPr marL="0" indent="0">
              <a:buNone/>
              <a:defRPr/>
            </a:pPr>
            <a:r>
              <a:rPr lang="en-US" sz="2400" b="1" dirty="0"/>
              <a:t>Frozen spin lattice </a:t>
            </a:r>
            <a:r>
              <a:rPr lang="en-US" sz="2400" b="1" dirty="0">
                <a:solidFill>
                  <a:srgbClr val="FF0000"/>
                </a:solidFill>
              </a:rPr>
              <a:t>for proton </a:t>
            </a:r>
            <a:r>
              <a:rPr lang="en-US" sz="2400" b="1" dirty="0"/>
              <a:t>at G&gt;0 based on the </a:t>
            </a:r>
            <a:r>
              <a:rPr lang="ru-RU" sz="2400" b="1" dirty="0"/>
              <a:t>«</a:t>
            </a:r>
            <a:r>
              <a:rPr lang="en-US" sz="2400" b="1" dirty="0"/>
              <a:t>E</a:t>
            </a:r>
            <a:r>
              <a:rPr lang="ru-RU" sz="2400" b="1" dirty="0"/>
              <a:t>»</a:t>
            </a:r>
            <a:r>
              <a:rPr lang="en-US" sz="2400" b="1" dirty="0"/>
              <a:t> elements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endParaRPr lang="en-US" sz="1350" b="1" dirty="0">
              <a:solidFill>
                <a:srgbClr val="0000FF"/>
              </a:solidFill>
            </a:endParaRPr>
          </a:p>
          <a:p>
            <a:pPr marL="0" indent="0">
              <a:buNone/>
              <a:defRPr/>
            </a:pPr>
            <a:endParaRPr lang="en-US" sz="1350" b="1" dirty="0">
              <a:solidFill>
                <a:srgbClr val="0000FF"/>
              </a:solidFill>
            </a:endParaRPr>
          </a:p>
          <a:p>
            <a:pPr marL="0" indent="0">
              <a:defRPr/>
            </a:pPr>
            <a:endParaRPr lang="en-GB" sz="135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5126F3A-DA50-94AA-E995-8FEDBEAA7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209" y="3533619"/>
            <a:ext cx="3497208" cy="210963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C198979-E39D-EFFF-6E88-1701C6C9DD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135" y="3284984"/>
            <a:ext cx="1867325" cy="15917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BB2712C-0770-E549-88FB-7602127771C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541" y="4904118"/>
            <a:ext cx="1751687" cy="712817"/>
          </a:xfrm>
          <a:prstGeom prst="rect">
            <a:avLst/>
          </a:prstGeom>
        </p:spPr>
      </p:pic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2F8187BA-64F0-488F-B1B5-FE637DAC313E}"/>
              </a:ext>
            </a:extLst>
          </p:cNvPr>
          <p:cNvCxnSpPr>
            <a:cxnSpLocks/>
          </p:cNvCxnSpPr>
          <p:nvPr/>
        </p:nvCxnSpPr>
        <p:spPr>
          <a:xfrm>
            <a:off x="4912318" y="836712"/>
            <a:ext cx="1258638" cy="2696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5A47E05F-1856-4DCD-8BAB-43C2EB211D5D}"/>
              </a:ext>
            </a:extLst>
          </p:cNvPr>
          <p:cNvCxnSpPr>
            <a:cxnSpLocks/>
          </p:cNvCxnSpPr>
          <p:nvPr/>
        </p:nvCxnSpPr>
        <p:spPr>
          <a:xfrm flipH="1">
            <a:off x="2339752" y="1628800"/>
            <a:ext cx="1891931" cy="16955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2324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Deflector</a:t>
            </a:r>
            <a:r>
              <a:rPr lang="de-DE" dirty="0"/>
              <a:t> w/o Shields</a:t>
            </a:r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05266"/>
            <a:ext cx="8229240" cy="3616152"/>
          </a:xfrm>
          <a:prstGeom prst="rect">
            <a:avLst/>
          </a:prstGeom>
        </p:spPr>
      </p:pic>
      <p:sp>
        <p:nvSpPr>
          <p:cNvPr id="3" name="Rechteck 2"/>
          <p:cNvSpPr/>
          <p:nvPr/>
        </p:nvSpPr>
        <p:spPr>
          <a:xfrm>
            <a:off x="5281931" y="1703312"/>
            <a:ext cx="148470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de-DE" sz="2400" b="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Actuators</a:t>
            </a:r>
            <a:endParaRPr lang="de-DE" sz="24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6" name="Gerade Verbindung mit Pfeil 5"/>
          <p:cNvCxnSpPr/>
          <p:nvPr/>
        </p:nvCxnSpPr>
        <p:spPr>
          <a:xfrm flipH="1">
            <a:off x="4285130" y="2043953"/>
            <a:ext cx="996801" cy="421341"/>
          </a:xfrm>
          <a:prstGeom prst="straightConnector1">
            <a:avLst/>
          </a:prstGeom>
          <a:ln w="28575">
            <a:solidFill>
              <a:schemeClr val="bg1"/>
            </a:solidFill>
            <a:headEnd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/>
          <p:cNvCxnSpPr/>
          <p:nvPr/>
        </p:nvCxnSpPr>
        <p:spPr>
          <a:xfrm>
            <a:off x="6766634" y="2104465"/>
            <a:ext cx="461502" cy="970429"/>
          </a:xfrm>
          <a:prstGeom prst="straightConnector1">
            <a:avLst/>
          </a:prstGeom>
          <a:ln w="28575">
            <a:solidFill>
              <a:schemeClr val="bg1"/>
            </a:solidFill>
            <a:headEnd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/>
          <p:cNvSpPr/>
          <p:nvPr/>
        </p:nvSpPr>
        <p:spPr>
          <a:xfrm>
            <a:off x="6449946" y="4597942"/>
            <a:ext cx="237597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de-DE" sz="2400" b="0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Feed-</a:t>
            </a:r>
            <a:r>
              <a:rPr lang="de-DE" sz="2400" b="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Throughs</a:t>
            </a:r>
            <a:endParaRPr lang="de-DE" sz="24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1" name="Gerade Verbindung mit Pfeil 10"/>
          <p:cNvCxnSpPr/>
          <p:nvPr/>
        </p:nvCxnSpPr>
        <p:spPr>
          <a:xfrm flipH="1" flipV="1">
            <a:off x="7153835" y="4132729"/>
            <a:ext cx="367553" cy="528918"/>
          </a:xfrm>
          <a:prstGeom prst="straightConnector1">
            <a:avLst/>
          </a:prstGeom>
          <a:ln w="28575">
            <a:solidFill>
              <a:schemeClr val="bg1"/>
            </a:solidFill>
            <a:headEnd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/>
          <p:cNvSpPr/>
          <p:nvPr/>
        </p:nvSpPr>
        <p:spPr>
          <a:xfrm>
            <a:off x="1287680" y="4430814"/>
            <a:ext cx="141737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de-DE" sz="2400" b="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Deflector</a:t>
            </a:r>
            <a:endParaRPr lang="de-DE" sz="24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6" name="Gerade Verbindung mit Pfeil 15"/>
          <p:cNvCxnSpPr/>
          <p:nvPr/>
        </p:nvCxnSpPr>
        <p:spPr>
          <a:xfrm flipV="1">
            <a:off x="2474259" y="4016189"/>
            <a:ext cx="475129" cy="493058"/>
          </a:xfrm>
          <a:prstGeom prst="straightConnector1">
            <a:avLst/>
          </a:prstGeom>
          <a:ln w="28575">
            <a:solidFill>
              <a:schemeClr val="bg1"/>
            </a:solidFill>
            <a:headEnd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/>
          <p:cNvSpPr txBox="1"/>
          <p:nvPr/>
        </p:nvSpPr>
        <p:spPr>
          <a:xfrm>
            <a:off x="708212" y="5262282"/>
            <a:ext cx="5351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Deflector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	</a:t>
            </a:r>
            <a:r>
              <a:rPr lang="de-DE" dirty="0" err="1"/>
              <a:t>Length</a:t>
            </a:r>
            <a:r>
              <a:rPr lang="de-DE" dirty="0"/>
              <a:t> 	1020 mm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	Height  	90 mm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	Gap 	40 - 80 mm (</a:t>
            </a:r>
            <a:r>
              <a:rPr lang="de-DE" dirty="0" err="1"/>
              <a:t>tbd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98452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C2821F-0196-4CBA-B184-4DBA74334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83326"/>
            <a:ext cx="8229600" cy="12101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Мы рассмотрели три возможных варианта адаптации установок 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NICA</a:t>
            </a: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для </a:t>
            </a: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исследования электрического дипольного момента легких частиц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C09E5B-94E6-49B5-9FA8-C6DA2E468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4003"/>
            <a:ext cx="8229600" cy="540535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Модернизация структуры коллайдера общей </a:t>
            </a:r>
            <a:endParaRPr lang="en-US" sz="2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  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длиной </a:t>
            </a:r>
            <a:r>
              <a:rPr lang="ru-RU" sz="26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508 м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  потребует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два обводных канала </a:t>
            </a:r>
            <a:r>
              <a:rPr lang="en-US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~60 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 </a:t>
            </a:r>
          </a:p>
          <a:p>
            <a:pPr marL="0" indent="0">
              <a:buNone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  с использованием 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метода 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квази-</a:t>
            </a:r>
            <a:r>
              <a:rPr lang="ru-RU" sz="2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фрозен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спина</a:t>
            </a: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Модернизация структуры </a:t>
            </a:r>
            <a:r>
              <a:rPr lang="ru-RU" sz="2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Нуклотрона</a:t>
            </a:r>
            <a:endParaRPr lang="ru-RU" sz="2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 с общей длиной </a:t>
            </a:r>
            <a:r>
              <a:rPr lang="ru-RU" sz="2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251</a:t>
            </a:r>
            <a:r>
              <a:rPr lang="ru-RU" sz="2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м 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методом квази-</a:t>
            </a:r>
            <a:r>
              <a:rPr lang="ru-RU" sz="2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фрозен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спин</a:t>
            </a: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пециализированное (новое) кольцо </a:t>
            </a:r>
          </a:p>
          <a:p>
            <a:pPr marL="0" indent="0" algn="just">
              <a:buNone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исследования с поляризованными </a:t>
            </a:r>
          </a:p>
          <a:p>
            <a:pPr marL="0" indent="0" algn="just">
              <a:buNone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пучками легких ядер по поиску </a:t>
            </a:r>
          </a:p>
          <a:p>
            <a:pPr marL="0" indent="0" algn="just">
              <a:buNone/>
            </a:pP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    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электрического дипольного момента общей</a:t>
            </a:r>
          </a:p>
          <a:p>
            <a:pPr marL="0" indent="0" algn="just">
              <a:buNone/>
            </a:pP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длины </a:t>
            </a:r>
            <a:r>
              <a:rPr lang="ru-RU" sz="26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146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м методом </a:t>
            </a:r>
            <a:r>
              <a:rPr lang="ru-RU" sz="2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фрозен</a:t>
            </a:r>
            <a:r>
              <a:rPr lang="ru-RU" sz="2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-</a:t>
            </a:r>
            <a:r>
              <a:rPr lang="ru-RU" sz="2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спин</a:t>
            </a:r>
            <a:endParaRPr lang="ru-RU" sz="26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Объект 4">
            <a:extLst>
              <a:ext uri="{FF2B5EF4-FFF2-40B4-BE49-F238E27FC236}">
                <a16:creationId xmlns:a16="http://schemas.microsoft.com/office/drawing/2014/main" id="{E09B2C69-9DE2-4996-9CD7-565F830FBEB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3651" y="1264003"/>
            <a:ext cx="2818656" cy="1670893"/>
          </a:xfrm>
          <a:prstGeom prst="rect">
            <a:avLst/>
          </a:prstGeom>
        </p:spPr>
      </p:pic>
      <p:pic>
        <p:nvPicPr>
          <p:cNvPr id="6" name="Объект 4">
            <a:extLst>
              <a:ext uri="{FF2B5EF4-FFF2-40B4-BE49-F238E27FC236}">
                <a16:creationId xmlns:a16="http://schemas.microsoft.com/office/drawing/2014/main" id="{384D79BE-8CF8-47FB-8B48-6827AA460B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035" y="2994972"/>
            <a:ext cx="3213765" cy="1749380"/>
          </a:xfrm>
          <a:prstGeom prst="rect">
            <a:avLst/>
          </a:prstGeom>
        </p:spPr>
      </p:pic>
      <p:pic>
        <p:nvPicPr>
          <p:cNvPr id="7" name="Объект 3">
            <a:extLst>
              <a:ext uri="{FF2B5EF4-FFF2-40B4-BE49-F238E27FC236}">
                <a16:creationId xmlns:a16="http://schemas.microsoft.com/office/drawing/2014/main" id="{E28B0EEA-93CD-4B79-B996-FCC37ACEEF1A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343" y="4972045"/>
            <a:ext cx="2592288" cy="1810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3825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D7AE90-C60C-CF10-F870-2AD8E1970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Quasi-frozen</a:t>
            </a:r>
            <a:r>
              <a:rPr lang="en-US" sz="3200" dirty="0"/>
              <a:t> spin option for </a:t>
            </a:r>
            <a:r>
              <a:rPr lang="en-US" sz="3200" dirty="0">
                <a:solidFill>
                  <a:srgbClr val="FF0000"/>
                </a:solidFill>
              </a:rPr>
              <a:t>NICA collider</a:t>
            </a:r>
            <a:endParaRPr lang="ru-RU" sz="3200" dirty="0">
              <a:solidFill>
                <a:srgbClr val="FF0000"/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1ADBB8D-DC66-4959-D8E9-0DBC9E95C5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95" y="1824547"/>
            <a:ext cx="6878010" cy="4077269"/>
          </a:xfrm>
        </p:spPr>
      </p:pic>
    </p:spTree>
    <p:extLst>
      <p:ext uri="{BB962C8B-B14F-4D97-AF65-F5344CB8AC3E}">
        <p14:creationId xmlns:p14="http://schemas.microsoft.com/office/powerpoint/2010/main" val="1310241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ACD9B-3F15-F822-F9D0-86ABB970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844E54-C337-899F-0099-1082EEA0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Quasi-frozen spin option for </a:t>
            </a:r>
            <a:r>
              <a:rPr lang="en-US" sz="3200" dirty="0">
                <a:solidFill>
                  <a:srgbClr val="FF0000"/>
                </a:solidFill>
              </a:rPr>
              <a:t>NICA collider</a:t>
            </a:r>
            <a:endParaRPr lang="ru-RU" sz="3200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39321F7-551F-177C-C40C-A15708561B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95" y="1824547"/>
            <a:ext cx="6878010" cy="4077269"/>
          </a:xfrm>
        </p:spPr>
      </p:pic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F179F510-B524-EA3A-7A79-8DFE6DF368CF}"/>
              </a:ext>
            </a:extLst>
          </p:cNvPr>
          <p:cNvCxnSpPr/>
          <p:nvPr/>
        </p:nvCxnSpPr>
        <p:spPr>
          <a:xfrm>
            <a:off x="4427984" y="3284984"/>
            <a:ext cx="792088" cy="86409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F3059A54-F226-BEBB-B943-32191860BC11}"/>
              </a:ext>
            </a:extLst>
          </p:cNvPr>
          <p:cNvCxnSpPr/>
          <p:nvPr/>
        </p:nvCxnSpPr>
        <p:spPr>
          <a:xfrm>
            <a:off x="3923928" y="3429000"/>
            <a:ext cx="1800200" cy="36004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553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581025" y="188913"/>
            <a:ext cx="7772400" cy="803275"/>
          </a:xfrm>
        </p:spPr>
        <p:txBody>
          <a:bodyPr/>
          <a:lstStyle/>
          <a:p>
            <a:pPr algn="ctr"/>
            <a:r>
              <a:rPr lang="en-US" altLang="en-US" sz="2000" b="1" dirty="0">
                <a:solidFill>
                  <a:srgbClr val="FF0000"/>
                </a:solidFill>
              </a:rPr>
              <a:t>Quasi-Frozen Spin </a:t>
            </a:r>
            <a:r>
              <a:rPr lang="en-US" altLang="en-US" sz="2000" dirty="0">
                <a:solidFill>
                  <a:srgbClr val="0033CC"/>
                </a:solidFill>
              </a:rPr>
              <a:t>option in COSY and NICA accelerators</a:t>
            </a:r>
            <a:endParaRPr lang="ru-RU" altLang="en-US" sz="2000" dirty="0">
              <a:solidFill>
                <a:srgbClr val="0033CC"/>
              </a:solidFill>
            </a:endParaRPr>
          </a:p>
        </p:txBody>
      </p:sp>
      <p:sp>
        <p:nvSpPr>
          <p:cNvPr id="20484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85" name="Rectangle 7"/>
          <p:cNvSpPr>
            <a:spLocks noChangeArrowheads="1"/>
          </p:cNvSpPr>
          <p:nvPr/>
        </p:nvSpPr>
        <p:spPr bwMode="auto">
          <a:xfrm>
            <a:off x="0" y="3173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86" name="Rectangle 9"/>
          <p:cNvSpPr>
            <a:spLocks noChangeArrowheads="1"/>
          </p:cNvSpPr>
          <p:nvPr/>
        </p:nvSpPr>
        <p:spPr bwMode="auto">
          <a:xfrm>
            <a:off x="0" y="3173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8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88" name="Rectangle 13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89" name="Rectangle 1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0" name="Rectangle 17"/>
          <p:cNvSpPr>
            <a:spLocks noChangeArrowheads="1"/>
          </p:cNvSpPr>
          <p:nvPr/>
        </p:nvSpPr>
        <p:spPr bwMode="auto">
          <a:xfrm>
            <a:off x="0" y="31623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1" name="Rectangle 19"/>
          <p:cNvSpPr>
            <a:spLocks noChangeArrowheads="1"/>
          </p:cNvSpPr>
          <p:nvPr/>
        </p:nvSpPr>
        <p:spPr bwMode="auto">
          <a:xfrm>
            <a:off x="0" y="31623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2" name="Rectangle 2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3" name="Rectangle 23"/>
          <p:cNvSpPr>
            <a:spLocks noChangeArrowheads="1"/>
          </p:cNvSpPr>
          <p:nvPr/>
        </p:nvSpPr>
        <p:spPr bwMode="auto">
          <a:xfrm>
            <a:off x="0" y="32115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4" name="Rectangle 25"/>
          <p:cNvSpPr>
            <a:spLocks noChangeArrowheads="1"/>
          </p:cNvSpPr>
          <p:nvPr/>
        </p:nvSpPr>
        <p:spPr bwMode="auto">
          <a:xfrm>
            <a:off x="0" y="31543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5" name="Rectangle 27"/>
          <p:cNvSpPr>
            <a:spLocks noChangeArrowheads="1"/>
          </p:cNvSpPr>
          <p:nvPr/>
        </p:nvSpPr>
        <p:spPr bwMode="auto">
          <a:xfrm>
            <a:off x="0" y="33035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6" name="Rectangle 29"/>
          <p:cNvSpPr>
            <a:spLocks noChangeArrowheads="1"/>
          </p:cNvSpPr>
          <p:nvPr/>
        </p:nvSpPr>
        <p:spPr bwMode="auto">
          <a:xfrm>
            <a:off x="0" y="33035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sp>
        <p:nvSpPr>
          <p:cNvPr id="20497" name="Rectangle 3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itchFamily="2" charset="2"/>
              <a:buChar char="§"/>
              <a:defRPr sz="2200" i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endParaRPr lang="en-GB" altLang="en-US" sz="1800"/>
          </a:p>
        </p:txBody>
      </p:sp>
      <p:pic>
        <p:nvPicPr>
          <p:cNvPr id="2049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848" y="2131266"/>
            <a:ext cx="1960111" cy="2790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49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1238206"/>
            <a:ext cx="2249769" cy="15078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2849" y="2993140"/>
            <a:ext cx="3641163" cy="187983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>
            <a:off x="4221152" y="2374154"/>
            <a:ext cx="2160240" cy="11521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2197715" y="2434283"/>
            <a:ext cx="1656184" cy="14401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FA17B4C-909C-42D6-941A-CA27E7F3665C}"/>
              </a:ext>
            </a:extLst>
          </p:cNvPr>
          <p:cNvSpPr txBox="1"/>
          <p:nvPr/>
        </p:nvSpPr>
        <p:spPr>
          <a:xfrm>
            <a:off x="3712261" y="853666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Wien filter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681556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E2631-CA6D-3845-3C3F-13D748AED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562074"/>
          </a:xfrm>
        </p:spPr>
        <p:txBody>
          <a:bodyPr>
            <a:normAutofit fontScale="90000"/>
          </a:bodyPr>
          <a:lstStyle/>
          <a:p>
            <a:r>
              <a:rPr lang="en-US" dirty="0"/>
              <a:t>Bypass, NICA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EDBB77E3-967E-561F-8373-3C523DBD4F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4867" y="987227"/>
            <a:ext cx="3641933" cy="5846432"/>
          </a:xfr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B6E3E91-504C-93D3-EFE4-55DE1C2E96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412776"/>
            <a:ext cx="3348226" cy="237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68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523FE-1BEC-5148-0A26-A3292656B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09D0FE-7484-F1D6-723C-29B286156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405617"/>
          </a:xfrm>
        </p:spPr>
        <p:txBody>
          <a:bodyPr>
            <a:normAutofit fontScale="90000"/>
          </a:bodyPr>
          <a:lstStyle/>
          <a:p>
            <a:r>
              <a:rPr lang="en-US" sz="2700" dirty="0" err="1"/>
              <a:t>Nuclotron</a:t>
            </a:r>
            <a:r>
              <a:rPr lang="en-US" sz="2700" dirty="0"/>
              <a:t> with “Quasi-Frozen” Spin option </a:t>
            </a:r>
            <a:endParaRPr lang="ru-RU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13EB477-B51C-E61D-4F34-74C782460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522249"/>
            <a:ext cx="8855968" cy="4785231"/>
          </a:xfrm>
          <a:prstGeom prst="rect">
            <a:avLst/>
          </a:prstGeom>
        </p:spPr>
      </p:pic>
      <p:sp>
        <p:nvSpPr>
          <p:cNvPr id="11" name="Объект 10">
            <a:extLst>
              <a:ext uri="{FF2B5EF4-FFF2-40B4-BE49-F238E27FC236}">
                <a16:creationId xmlns:a16="http://schemas.microsoft.com/office/drawing/2014/main" id="{231D38C9-1625-66FA-E1BF-260E1F754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B7A9D2A-D586-62EB-7F66-789CD008D4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12" y="3284984"/>
            <a:ext cx="3694660" cy="20882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BB50152-453C-59D2-07B4-F1876BC72810}"/>
              </a:ext>
            </a:extLst>
          </p:cNvPr>
          <p:cNvSpPr txBox="1"/>
          <p:nvPr/>
        </p:nvSpPr>
        <p:spPr>
          <a:xfrm>
            <a:off x="1907704" y="5506719"/>
            <a:ext cx="67790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Общая длина кольца 251 м</a:t>
            </a:r>
            <a:r>
              <a:rPr lang="en-US" dirty="0"/>
              <a:t>: 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Совокупная длина всех магнитов</a:t>
            </a:r>
            <a:r>
              <a:rPr lang="en-US" dirty="0"/>
              <a:t> </a:t>
            </a:r>
            <a:r>
              <a:rPr lang="ru-RU" dirty="0"/>
              <a:t>100.8 м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Max </a:t>
            </a:r>
            <a:r>
              <a:rPr lang="ru-RU" dirty="0"/>
              <a:t>магнитное поле 1.8 Тесла</a:t>
            </a:r>
          </a:p>
          <a:p>
            <a:r>
              <a:rPr lang="en-US" dirty="0"/>
              <a:t>- </a:t>
            </a:r>
            <a:r>
              <a:rPr lang="ru-RU" dirty="0"/>
              <a:t>Совокупная длина</a:t>
            </a:r>
            <a:r>
              <a:rPr lang="en-US" dirty="0"/>
              <a:t> </a:t>
            </a:r>
            <a:r>
              <a:rPr lang="ru-RU" dirty="0"/>
              <a:t>всех свободных </a:t>
            </a:r>
            <a:r>
              <a:rPr lang="en-US" dirty="0"/>
              <a:t>        </a:t>
            </a:r>
            <a:r>
              <a:rPr lang="ru-RU" dirty="0"/>
              <a:t>участков </a:t>
            </a:r>
            <a:r>
              <a:rPr lang="en-US" dirty="0"/>
              <a:t>78.6</a:t>
            </a:r>
            <a:r>
              <a:rPr lang="ru-RU" dirty="0"/>
              <a:t> м </a:t>
            </a:r>
          </a:p>
        </p:txBody>
      </p: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F1CBBCC9-A6F4-892A-0431-7312F21FE76F}"/>
              </a:ext>
            </a:extLst>
          </p:cNvPr>
          <p:cNvCxnSpPr>
            <a:cxnSpLocks/>
          </p:cNvCxnSpPr>
          <p:nvPr/>
        </p:nvCxnSpPr>
        <p:spPr>
          <a:xfrm>
            <a:off x="1403648" y="1340768"/>
            <a:ext cx="1440160" cy="1512168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7946A081-83C0-F43F-183C-67B591E21E59}"/>
              </a:ext>
            </a:extLst>
          </p:cNvPr>
          <p:cNvCxnSpPr>
            <a:cxnSpLocks/>
          </p:cNvCxnSpPr>
          <p:nvPr/>
        </p:nvCxnSpPr>
        <p:spPr>
          <a:xfrm>
            <a:off x="827584" y="2852936"/>
            <a:ext cx="201622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15176D95-8203-16B8-10FC-BE853DED5DCE}"/>
              </a:ext>
            </a:extLst>
          </p:cNvPr>
          <p:cNvCxnSpPr/>
          <p:nvPr/>
        </p:nvCxnSpPr>
        <p:spPr>
          <a:xfrm>
            <a:off x="2051720" y="2420888"/>
            <a:ext cx="4176464" cy="1368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87689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E8BFBB-5F49-4EF4-AA80-E3C33C73C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1800" b="1" cap="all" dirty="0">
                <a:latin typeface="Times New Roman" panose="02020603050405020304" pitchFamily="18" charset="0"/>
                <a:ea typeface="SimSun" panose="02010600030101010101" pitchFamily="2" charset="-122"/>
              </a:rPr>
              <a:t>Общий вид  кольца</a:t>
            </a:r>
            <a:r>
              <a:rPr lang="en-US" sz="1800" b="1" cap="all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ru-RU" sz="1800" b="1" cap="all" dirty="0">
                <a:latin typeface="Times New Roman" panose="02020603050405020304" pitchFamily="18" charset="0"/>
                <a:ea typeface="SimSun" panose="02010600030101010101" pitchFamily="2" charset="-122"/>
              </a:rPr>
              <a:t>для </a:t>
            </a:r>
            <a:r>
              <a:rPr lang="ru-RU" sz="1800" b="1" cap="all" dirty="0">
                <a:solidFill>
                  <a:srgbClr val="0070C0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дейтронов</a:t>
            </a:r>
            <a:r>
              <a:rPr lang="en-US" sz="1800" b="1" cap="all" dirty="0">
                <a:solidFill>
                  <a:srgbClr val="0070C0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 “frozen spin” </a:t>
            </a:r>
            <a:r>
              <a:rPr lang="ru-RU" sz="1800" b="1" cap="all" dirty="0">
                <a:solidFill>
                  <a:srgbClr val="0070C0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опция</a:t>
            </a:r>
            <a:endParaRPr lang="ru-RU" sz="1800" b="1" dirty="0">
              <a:solidFill>
                <a:srgbClr val="0070C0"/>
              </a:solidFill>
            </a:endParaRP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A23C4C3D-0A89-4449-8C29-B8E3E630C4A0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175816"/>
            <a:ext cx="7488832" cy="543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38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3BCA78-E721-4D43-AC8D-38709CB83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18058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Параметры «</a:t>
            </a:r>
            <a:r>
              <a:rPr lang="ru-RU" sz="3200" dirty="0" err="1"/>
              <a:t>фрозен</a:t>
            </a:r>
            <a:r>
              <a:rPr lang="ru-RU" sz="3200" dirty="0"/>
              <a:t>» структуры для </a:t>
            </a:r>
            <a:r>
              <a:rPr lang="ru-RU" sz="3200" b="1" dirty="0">
                <a:solidFill>
                  <a:srgbClr val="0070C0"/>
                </a:solidFill>
              </a:rPr>
              <a:t>дейтронов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306B992-5CEB-468A-BD47-320323D035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836712"/>
                <a:ext cx="8507288" cy="6021287"/>
              </a:xfrm>
            </p:spPr>
            <p:txBody>
              <a:bodyPr>
                <a:normAutofit lnSpcReduction="10000"/>
              </a:bodyPr>
              <a:lstStyle/>
              <a:p>
                <a:pPr marL="0" indent="0" algn="just"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При разработке «</a:t>
                </a:r>
                <a:r>
                  <a:rPr lang="ru-RU" sz="1800" dirty="0" err="1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фрозен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» спин магнитооптической структуры ускорителя для исследования ЭДМ необходимо выполнение двух условий. </a:t>
                </a:r>
              </a:p>
              <a:p>
                <a:pPr marL="0" indent="0" algn="just">
                  <a:buNone/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Первое условие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определяет соотношение внешних полей и радиуса кривизны орбиты </a:t>
                </a:r>
              </a:p>
              <a:p>
                <a:pPr marL="0" indent="0" algn="just">
                  <a:buNone/>
                </a:pPr>
                <a:r>
                  <a:rPr lang="ru-RU" sz="1800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торое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следует из условия равенства нулю частоты прецессии спина относительно направления движения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limUpp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𝛺</m:t>
                            </m:r>
                          </m:e>
                          <m:lim>
                            <m:r>
                              <a:rPr lang="ru-RU" sz="18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→</m:t>
                            </m:r>
                          </m:lim>
                        </m:limUpp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𝑚𝑑𝑚</m:t>
                        </m:r>
                      </m:sub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𝑝</m:t>
                        </m:r>
                      </m:sup>
                    </m:sSub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, то есть </a:t>
                </a:r>
              </a:p>
              <a:p>
                <a:pPr marL="0" indent="0" algn="just">
                  <a:buNone/>
                </a:pPr>
                <a:r>
                  <a:rPr lang="ru-RU" sz="1800" dirty="0">
                    <a:effectLst/>
                    <a:ea typeface="Times New Roman" panose="02020603050405020304" pitchFamily="18" charset="0"/>
                  </a:rPr>
                  <a:t>		</a:t>
                </a:r>
                <a:r>
                  <a:rPr lang="ru-RU" sz="1800" b="1" dirty="0">
                    <a:effectLst/>
                    <a:ea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𝜸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𝑮</m:t>
                    </m:r>
                    <m:limUpp>
                      <m:limUpp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limUppPr>
                      <m:e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𝑩</m:t>
                        </m:r>
                      </m:e>
                      <m:lim>
                        <m:r>
                          <a:rPr lang="ru-RU" sz="1800" b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→</m:t>
                        </m:r>
                      </m:lim>
                    </m:limUpp>
                    <m:r>
                      <a:rPr lang="ru-RU" sz="1800" b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</m:t>
                    </m:r>
                    <m:d>
                      <m:d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𝟏</m:t>
                            </m:r>
                          </m:num>
                          <m:den>
                            <m:sSup>
                              <m:sSupPr>
                                <m:ctrlP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𝜸</m:t>
                                </m:r>
                              </m:e>
                              <m:sup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𝟏</m:t>
                            </m:r>
                          </m:den>
                        </m:f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𝑮</m:t>
                        </m:r>
                      </m:e>
                    </m:d>
                    <m:f>
                      <m:f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limUpp>
                          <m:limUpp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limUpp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𝜷</m:t>
                            </m:r>
                          </m:e>
                          <m:lim>
                            <m:r>
                              <a:rPr lang="ru-RU" sz="1800" b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→</m:t>
                            </m:r>
                          </m:lim>
                        </m:limUpp>
                        <m:r>
                          <a:rPr lang="ru-RU" sz="1800" b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×</m:t>
                        </m:r>
                        <m:limUpp>
                          <m:limUpp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limUpp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𝑬</m:t>
                            </m:r>
                          </m:e>
                          <m:lim>
                            <m:r>
                              <a:rPr lang="ru-RU" sz="1800" b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→</m:t>
                            </m:r>
                          </m:lim>
                        </m:limUpp>
                      </m:num>
                      <m:den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𝒄</m:t>
                        </m:r>
                      </m:den>
                    </m:f>
                  </m:oMath>
                </a14:m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.</a:t>
                </a:r>
              </a:p>
              <a:p>
                <a:pPr marL="0" indent="0" algn="just"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Последнее определяет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соотношение между полями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limUppPr>
                      <m:e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𝑬</m:t>
                        </m:r>
                      </m:e>
                      <m:lim>
                        <m:r>
                          <a:rPr lang="ru-RU" sz="1800" b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→</m:t>
                        </m:r>
                      </m:lim>
                    </m:limUpp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и </m:t>
                    </m:r>
                    <m:limUpp>
                      <m:limUpp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limUppPr>
                      <m:e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𝑩</m:t>
                        </m:r>
                      </m:e>
                      <m:lim>
                        <m:r>
                          <a:rPr lang="ru-RU" sz="1800" b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→</m:t>
                        </m:r>
                      </m:lim>
                    </m:limUpp>
                  </m:oMath>
                </a14:m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 </a:t>
                </a:r>
              </a:p>
              <a:p>
                <a:pPr marL="0" indent="0" algn="r">
                  <a:buNone/>
                </a:pPr>
                <a:r>
                  <a:rPr lang="ru-RU" sz="1800" dirty="0">
                    <a:effectLst/>
                    <a:ea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limUppPr>
                      <m:e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𝑬</m:t>
                        </m:r>
                      </m:e>
                      <m:lim>
                        <m:r>
                          <a:rPr lang="ru-RU" sz="1800" b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→</m:t>
                        </m:r>
                      </m:lim>
                    </m:limUpp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=−</m:t>
                    </m:r>
                    <m:f>
                      <m:f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𝑮</m:t>
                        </m:r>
                        <m:limUpp>
                          <m:limUpp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limUpp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𝑩</m:t>
                            </m:r>
                          </m:e>
                          <m:lim>
                            <m:r>
                              <a:rPr lang="ru-RU" sz="1800" b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→</m:t>
                            </m:r>
                          </m:lim>
                        </m:limUpp>
                        <m:r>
                          <a:rPr lang="en-US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𝒄</m:t>
                        </m:r>
                        <m:sSup>
                          <m:sSup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𝜸</m:t>
                            </m:r>
                          </m:e>
                          <m:sup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  <m:sSup>
                          <m:sSup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𝜷</m:t>
                            </m:r>
                          </m:e>
                          <m:sup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𝜷</m:t>
                        </m:r>
                        <m:d>
                          <m:d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𝟏</m:t>
                            </m:r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𝜸</m:t>
                                </m:r>
                              </m:e>
                              <m:sup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𝟐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𝜷</m:t>
                                </m:r>
                              </m:e>
                              <m:sup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𝑮</m:t>
                            </m:r>
                          </m:e>
                        </m:d>
                      </m:den>
                    </m:f>
                  </m:oMath>
                </a14:m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					</a:t>
                </a:r>
              </a:p>
              <a:p>
                <a:pPr marL="0" indent="0" algn="just"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и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радиус кривизны поворотного дефлектора</a:t>
                </a:r>
              </a:p>
              <a:p>
                <a:pPr marL="0" indent="0" algn="r">
                  <a:buNone/>
                </a:pPr>
                <a:r>
                  <a:rPr lang="ru-RU" sz="1800" dirty="0">
                    <a:effectLst/>
                    <a:ea typeface="Times New Roman" panose="02020603050405020304" pitchFamily="18" charset="0"/>
                  </a:rPr>
                  <a:t>			</a:t>
                </a:r>
                <a14:m>
                  <m:oMath xmlns:m="http://schemas.openxmlformats.org/officeDocument/2006/math">
                    <m:r>
                      <a:rPr lang="en-US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𝑹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𝜸</m:t>
                        </m:r>
                        <m:sSub>
                          <m:sSub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𝟎</m:t>
                            </m:r>
                          </m:sub>
                        </m:sSub>
                        <m:sSup>
                          <m:sSup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𝒗</m:t>
                            </m:r>
                          </m:e>
                          <m:sup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𝐞𝐄</m:t>
                        </m:r>
                        <m:d>
                          <m:dPr>
                            <m:ctrlP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𝟏</m:t>
                            </m:r>
                            <m:r>
                              <a:rPr lang="ru-RU" sz="1800" b="1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sz="1800" b="1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𝟏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ru-RU" sz="1800" b="1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800" b="1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𝑮</m:t>
                                    </m:r>
                                    <m:r>
                                      <a:rPr lang="ru-RU" sz="1800" b="1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𝜸</m:t>
                                    </m:r>
                                  </m:e>
                                  <m:sup>
                                    <m:r>
                                      <a:rPr lang="ru-RU" sz="1800" b="1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							</a:t>
                </a:r>
              </a:p>
              <a:p>
                <a:pPr marL="0" indent="0"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В нашем случае для энергии 270 МэВ радиус кривизны дефлектора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R=9.20706347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и суммарная длина всех дефлекторов составит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57.8496859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м</a:t>
                </a:r>
              </a:p>
              <a:p>
                <a:pPr marL="0" indent="0"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При общем числе дефлекторов 32 длина одного дефлектора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𝑑𝑒𝑓</m:t>
                        </m:r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𝛴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/(16*2)=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1.8078026 метра</a:t>
                </a:r>
                <a:endParaRPr lang="ru-RU" b="1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306B992-5CEB-468A-BD47-320323D035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36712"/>
                <a:ext cx="8507288" cy="6021287"/>
              </a:xfrm>
              <a:blipFill>
                <a:blip r:embed="rId2"/>
                <a:stretch>
                  <a:fillRect l="-573" t="-911" r="-501" b="-9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2663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6B88842-B56F-ABBD-B09F-A7C4AC4F82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224644"/>
                <a:ext cx="8229600" cy="6408712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ru-RU" sz="1800" b="1" dirty="0">
                    <a:solidFill>
                      <a:srgbClr val="0070C0"/>
                    </a:solidFill>
                  </a:rPr>
                  <a:t>ЗАКЛЮЧЕНИЕ</a:t>
                </a:r>
                <a:r>
                  <a:rPr lang="en-US" sz="1800" b="1" dirty="0">
                    <a:solidFill>
                      <a:srgbClr val="0070C0"/>
                    </a:solidFill>
                  </a:rPr>
                  <a:t>:</a:t>
                </a:r>
              </a:p>
              <a:p>
                <a:pPr marL="0" indent="0" algn="ctr">
                  <a:buNone/>
                </a:pPr>
                <a:r>
                  <a:rPr lang="ru-RU" sz="1800" b="1" dirty="0">
                    <a:solidFill>
                      <a:srgbClr val="0070C0"/>
                    </a:solidFill>
                  </a:rPr>
                  <a:t>Фундаментальные основы, позволяющие говорить о</a:t>
                </a:r>
                <a:r>
                  <a:rPr lang="en-US" sz="1800" b="1" dirty="0">
                    <a:solidFill>
                      <a:srgbClr val="0070C0"/>
                    </a:solidFill>
                  </a:rPr>
                  <a:t> </a:t>
                </a:r>
                <a:r>
                  <a:rPr lang="ru-RU" sz="1800" b="1" dirty="0">
                    <a:solidFill>
                      <a:srgbClr val="0070C0"/>
                    </a:solidFill>
                  </a:rPr>
                  <a:t>реализуемости эксперимента по изучению 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ЭДМ</a:t>
                </a:r>
                <a:endParaRPr lang="en-US" sz="1800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1800" b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SPRINT</a:t>
                </a:r>
                <a:r>
                  <a:rPr lang="ru-RU" sz="1800" b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1800" b="1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</a:t>
                </a:r>
                <a:r>
                  <a:rPr lang="en-US" sz="1800" b="1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pin </a:t>
                </a:r>
                <a:r>
                  <a:rPr lang="en-US" sz="1800" b="1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</a:t>
                </a:r>
                <a:r>
                  <a:rPr lang="en-US" sz="1800" b="1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hysics </a:t>
                </a:r>
                <a:r>
                  <a:rPr lang="en-US" sz="1800" b="1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R</a:t>
                </a:r>
                <a:r>
                  <a:rPr lang="en-US" sz="1800" b="1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esearch </a:t>
                </a:r>
                <a:r>
                  <a:rPr lang="en-US" sz="1800" b="1" dirty="0" err="1">
                    <a:solidFill>
                      <a:srgbClr val="C0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IN</a:t>
                </a:r>
                <a:r>
                  <a:rPr lang="en-US" sz="1800" b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frastructure</a:t>
                </a:r>
                <a:r>
                  <a:rPr lang="en-US" sz="1800" b="1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and </a:t>
                </a:r>
                <a:r>
                  <a:rPr lang="en-US" sz="1800" b="1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en-US" sz="1800" b="1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echnologies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 </a:t>
                </a:r>
                <a:endParaRPr lang="ru-RU" sz="1800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1800" b="1" dirty="0">
                    <a:solidFill>
                      <a:srgbClr val="FF0000"/>
                    </a:solidFill>
                  </a:rPr>
                  <a:t>collaboration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 </a:t>
                </a:r>
                <a:r>
                  <a:rPr lang="ru-RU" sz="1800" b="1" dirty="0">
                    <a:solidFill>
                      <a:srgbClr val="0070C0"/>
                    </a:solidFill>
                  </a:rPr>
                  <a:t>ОИЯИ+ИЯИ+ИТФ+МФТИ+МИФИ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 </a:t>
                </a:r>
                <a:endParaRPr lang="en-US" sz="1800" b="1" dirty="0">
                  <a:solidFill>
                    <a:srgbClr val="0070C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=================================================</a:t>
                </a:r>
                <a:endParaRPr lang="ru-RU" sz="2400" b="1" dirty="0">
                  <a:solidFill>
                    <a:srgbClr val="0070C0"/>
                  </a:solidFill>
                </a:endParaRPr>
              </a:p>
              <a:p>
                <a:pPr>
                  <a:lnSpc>
                    <a:spcPts val="1900"/>
                  </a:lnSpc>
                </a:pPr>
                <a:r>
                  <a:rPr lang="ru-RU" sz="1800" b="1" dirty="0">
                    <a:solidFill>
                      <a:srgbClr val="FF0000"/>
                    </a:solidFill>
                  </a:rPr>
                  <a:t>Экспериментально</a:t>
                </a:r>
                <a:r>
                  <a:rPr lang="ru-RU" sz="1800" dirty="0"/>
                  <a:t> достигнуто время </a:t>
                </a:r>
                <a:r>
                  <a:rPr lang="ru-RU" sz="1800" b="1" dirty="0"/>
                  <a:t>сохранения поляризации порядка 1000 секунд </a:t>
                </a:r>
                <a:r>
                  <a:rPr lang="ru-RU" sz="1800" dirty="0"/>
                  <a:t>за счет подавления </a:t>
                </a:r>
                <a:r>
                  <a:rPr lang="ru-RU" sz="1800" dirty="0" err="1"/>
                  <a:t>декогеренции</a:t>
                </a:r>
                <a:r>
                  <a:rPr lang="ru-RU" sz="1800" dirty="0"/>
                  <a:t> спина методом введения нелинейных магнитооптических элементов</a:t>
                </a:r>
              </a:p>
              <a:p>
                <a:pPr>
                  <a:lnSpc>
                    <a:spcPts val="1900"/>
                  </a:lnSpc>
                </a:pPr>
                <a:r>
                  <a:rPr lang="ru-RU" sz="1800" dirty="0"/>
                  <a:t>Экспериментально достигнута 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абсолютная точность измерения частоты </a:t>
                </a:r>
                <a:r>
                  <a:rPr lang="ru-RU" sz="1800" dirty="0"/>
                  <a:t>прецессии спина  уровне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b="1" i="1"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ru-RU" sz="1800" b="1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ru-RU" sz="1800" b="1" i="1">
                            <a:latin typeface="Cambria Math" panose="02040503050406030204" pitchFamily="18" charset="0"/>
                          </a:rPr>
                          <m:t>𝟕</m:t>
                        </m:r>
                      </m:sup>
                    </m:sSup>
                  </m:oMath>
                </a14:m>
                <a:r>
                  <a:rPr lang="ru-RU" sz="1800" b="1" dirty="0"/>
                  <a:t> </a:t>
                </a:r>
                <a:r>
                  <a:rPr lang="ru-RU" sz="1800" dirty="0"/>
                  <a:t>за один </a:t>
                </a:r>
                <a:r>
                  <a:rPr lang="en-US" sz="1800" dirty="0"/>
                  <a:t>run</a:t>
                </a:r>
              </a:p>
              <a:p>
                <a:pPr>
                  <a:lnSpc>
                    <a:spcPts val="1900"/>
                  </a:lnSpc>
                </a:pPr>
                <a:r>
                  <a:rPr lang="ru-RU" sz="1800" b="1" dirty="0">
                    <a:solidFill>
                      <a:srgbClr val="FF0000"/>
                    </a:solidFill>
                  </a:rPr>
                  <a:t>Разработана концепция квази-замороженного спина (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QFS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)</a:t>
                </a:r>
                <a:r>
                  <a:rPr lang="ru-RU" sz="1800" dirty="0"/>
                  <a:t> для измерения ЭДМ на установках NICA (коллайдер + </a:t>
                </a:r>
                <a:r>
                  <a:rPr lang="ru-RU" sz="1800" dirty="0" err="1"/>
                  <a:t>Нуклотрон</a:t>
                </a:r>
                <a:r>
                  <a:rPr lang="ru-RU" sz="1800" dirty="0"/>
                  <a:t>) изначально неориентированных на ЭДМ с использованием фильтров Вина</a:t>
                </a:r>
              </a:p>
              <a:p>
                <a:pPr>
                  <a:lnSpc>
                    <a:spcPts val="1900"/>
                  </a:lnSpc>
                </a:pPr>
                <a:r>
                  <a:rPr lang="ru-RU" sz="1800" b="1" dirty="0">
                    <a:solidFill>
                      <a:srgbClr val="FF0000"/>
                    </a:solidFill>
                  </a:rPr>
                  <a:t>Разработаны магнитооптические структуры </a:t>
                </a:r>
                <a:r>
                  <a:rPr lang="ru-RU" sz="1800" dirty="0"/>
                  <a:t>специализированного кольца для измерения ЭДМ протона и дейтрона  </a:t>
                </a:r>
              </a:p>
              <a:p>
                <a:pPr>
                  <a:lnSpc>
                    <a:spcPts val="1900"/>
                  </a:lnSpc>
                </a:pPr>
                <a:r>
                  <a:rPr lang="ru-RU" sz="1800" b="1" dirty="0">
                    <a:solidFill>
                      <a:srgbClr val="FF0000"/>
                    </a:solidFill>
                  </a:rPr>
                  <a:t>Разработан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FDM 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метод (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Frequency Domain Method</a:t>
                </a:r>
                <a:r>
                  <a:rPr lang="ru-RU" sz="1800" b="1" dirty="0">
                    <a:solidFill>
                      <a:srgbClr val="FF0000"/>
                    </a:solidFill>
                  </a:rPr>
                  <a:t>) </a:t>
                </a:r>
                <a:r>
                  <a:rPr lang="ru-RU" sz="1800" dirty="0"/>
                  <a:t>измерения ЭДМ на основе измерения частоты прецессии спина, который позволит получить чувствительность измерения ЭДМ на уровне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ru-RU" sz="18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ru-RU" sz="1800" b="1" i="1" smtClean="0">
                            <a:latin typeface="Cambria Math" panose="02040503050406030204" pitchFamily="18" charset="0"/>
                          </a:rPr>
                          <m:t>𝟐𝟗</m:t>
                        </m:r>
                      </m:sup>
                    </m:sSup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𝒄𝒎</m:t>
                    </m:r>
                  </m:oMath>
                </a14:m>
                <a:endParaRPr lang="en-US" sz="1800" b="1" dirty="0"/>
              </a:p>
              <a:p>
                <a:pPr>
                  <a:lnSpc>
                    <a:spcPts val="1900"/>
                  </a:lnSpc>
                </a:pPr>
                <a:endParaRPr lang="ru-RU" sz="1800" dirty="0"/>
              </a:p>
              <a:p>
                <a:pPr>
                  <a:lnSpc>
                    <a:spcPts val="1900"/>
                  </a:lnSpc>
                </a:pPr>
                <a:endParaRPr lang="ru-RU" sz="1800" dirty="0"/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rgbClr val="0070C0"/>
                    </a:solidFill>
                  </a:rPr>
                  <a:t>=======================</a:t>
                </a:r>
                <a:r>
                  <a:rPr lang="ru-RU" sz="1800" b="1" dirty="0">
                    <a:solidFill>
                      <a:srgbClr val="0070C0"/>
                    </a:solidFill>
                  </a:rPr>
                  <a:t> ==</a:t>
                </a:r>
                <a:r>
                  <a:rPr lang="en-US" sz="1800" b="1" dirty="0">
                    <a:solidFill>
                      <a:srgbClr val="0070C0"/>
                    </a:solidFill>
                  </a:rPr>
                  <a:t>================</a:t>
                </a:r>
                <a:endParaRPr lang="ru-RU" sz="1800" b="1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6B88842-B56F-ABBD-B09F-A7C4AC4F82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24644"/>
                <a:ext cx="8229600" cy="6408712"/>
              </a:xfrm>
              <a:blipFill>
                <a:blip r:embed="rId2"/>
                <a:stretch>
                  <a:fillRect l="-593" t="-571" r="-741" b="-1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30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291D6899-D85B-40C2-84CF-1E6EFE7A721A}"/>
              </a:ext>
            </a:extLst>
          </p:cNvPr>
          <p:cNvSpPr txBox="1"/>
          <p:nvPr/>
        </p:nvSpPr>
        <p:spPr>
          <a:xfrm>
            <a:off x="1095375" y="5187950"/>
            <a:ext cx="6959600" cy="11080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de-DE" sz="6600" dirty="0" err="1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Highest</a:t>
            </a:r>
            <a:r>
              <a:rPr lang="de-DE" sz="66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6600" dirty="0" err="1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sensitivity</a:t>
            </a:r>
            <a:endParaRPr lang="de-DE" sz="66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E9B55B2F-02F0-41E6-B5E9-6259CA2D7F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-171450"/>
            <a:ext cx="7772400" cy="1143000"/>
          </a:xfrm>
        </p:spPr>
        <p:txBody>
          <a:bodyPr/>
          <a:lstStyle/>
          <a:p>
            <a:pPr algn="ctr" eaLnBrk="1" hangingPunct="1"/>
            <a:r>
              <a:rPr lang="de-DE" altLang="en-US"/>
              <a:t>Storage Ring EDM Project</a:t>
            </a:r>
            <a:endParaRPr lang="de-DE" altLang="en-US">
              <a:solidFill>
                <a:srgbClr val="C00000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4EB0469-F9F8-4986-939C-2F1092E88AC0}"/>
              </a:ext>
            </a:extLst>
          </p:cNvPr>
          <p:cNvSpPr/>
          <p:nvPr/>
        </p:nvSpPr>
        <p:spPr bwMode="auto">
          <a:xfrm>
            <a:off x="323850" y="692150"/>
            <a:ext cx="8569325" cy="4537075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90000" tIns="46800" rIns="90000" bIns="46800">
            <a:spAutoFit/>
          </a:bodyPr>
          <a:lstStyle/>
          <a:p>
            <a:pPr>
              <a:defRPr/>
            </a:pPr>
            <a:endParaRPr lang="de-DE">
              <a:latin typeface="Arial" charset="0"/>
            </a:endParaRPr>
          </a:p>
        </p:txBody>
      </p:sp>
      <p:pic>
        <p:nvPicPr>
          <p:cNvPr id="40965" name="Picture 2">
            <a:extLst>
              <a:ext uri="{FF2B5EF4-FFF2-40B4-BE49-F238E27FC236}">
                <a16:creationId xmlns:a16="http://schemas.microsoft.com/office/drawing/2014/main" id="{27838974-05ED-4C68-B055-2445AF161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32" r="29541"/>
          <a:stretch>
            <a:fillRect/>
          </a:stretch>
        </p:blipFill>
        <p:spPr bwMode="auto">
          <a:xfrm>
            <a:off x="827088" y="720725"/>
            <a:ext cx="5937250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66" name="Picture 2">
            <a:extLst>
              <a:ext uri="{FF2B5EF4-FFF2-40B4-BE49-F238E27FC236}">
                <a16:creationId xmlns:a16="http://schemas.microsoft.com/office/drawing/2014/main" id="{8C543AD2-2F45-41F6-B3DC-CCFE0A58E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58" t="47318" r="36014" b="44414"/>
          <a:stretch>
            <a:fillRect/>
          </a:stretch>
        </p:blipFill>
        <p:spPr bwMode="auto">
          <a:xfrm>
            <a:off x="3492500" y="3084513"/>
            <a:ext cx="1401763" cy="46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0967" name="Gerade Verbindung mit Pfeil 2">
            <a:extLst>
              <a:ext uri="{FF2B5EF4-FFF2-40B4-BE49-F238E27FC236}">
                <a16:creationId xmlns:a16="http://schemas.microsoft.com/office/drawing/2014/main" id="{C67E053C-9E28-45E7-B0EC-DD41C486F3B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16150" y="1708150"/>
            <a:ext cx="3744913" cy="1727200"/>
          </a:xfrm>
          <a:prstGeom prst="straightConnector1">
            <a:avLst/>
          </a:prstGeom>
          <a:noFill/>
          <a:ln w="9525" algn="ctr">
            <a:solidFill>
              <a:srgbClr val="C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40968" name="Picture 2">
            <a:extLst>
              <a:ext uri="{FF2B5EF4-FFF2-40B4-BE49-F238E27FC236}">
                <a16:creationId xmlns:a16="http://schemas.microsoft.com/office/drawing/2014/main" id="{5177D554-21AE-43D3-A2B4-5EF8E0B99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35" t="56583" r="42677" b="32079"/>
          <a:stretch>
            <a:fillRect/>
          </a:stretch>
        </p:blipFill>
        <p:spPr bwMode="auto">
          <a:xfrm>
            <a:off x="4575175" y="2111375"/>
            <a:ext cx="1700213" cy="652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69" name="Rechteck 1">
            <a:extLst>
              <a:ext uri="{FF2B5EF4-FFF2-40B4-BE49-F238E27FC236}">
                <a16:creationId xmlns:a16="http://schemas.microsoft.com/office/drawing/2014/main" id="{0F057D7F-DFEC-4392-9B88-EEBCFD6AFC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0438" y="2763838"/>
            <a:ext cx="144462" cy="1968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 i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</a:pPr>
            <a:endParaRPr lang="ru-RU" altLang="en-US" sz="3200"/>
          </a:p>
        </p:txBody>
      </p:sp>
      <p:cxnSp>
        <p:nvCxnSpPr>
          <p:cNvPr id="40970" name="Gerade Verbindung mit Pfeil 2">
            <a:extLst>
              <a:ext uri="{FF2B5EF4-FFF2-40B4-BE49-F238E27FC236}">
                <a16:creationId xmlns:a16="http://schemas.microsoft.com/office/drawing/2014/main" id="{EC379DD0-EDCF-4893-92E6-4E1BB4B15E0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022975" y="2803525"/>
            <a:ext cx="552450" cy="995363"/>
          </a:xfrm>
          <a:prstGeom prst="straightConnector1">
            <a:avLst/>
          </a:prstGeom>
          <a:noFill/>
          <a:ln w="38100" algn="ctr">
            <a:solidFill>
              <a:srgbClr val="C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0971" name="Textfeld 3">
            <a:extLst>
              <a:ext uri="{FF2B5EF4-FFF2-40B4-BE49-F238E27FC236}">
                <a16:creationId xmlns:a16="http://schemas.microsoft.com/office/drawing/2014/main" id="{54F45C43-C72C-40C8-A04D-FE8EDFAF72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1338" y="2036763"/>
            <a:ext cx="754062" cy="584200"/>
          </a:xfrm>
          <a:prstGeom prst="rect">
            <a:avLst/>
          </a:prstGeom>
          <a:solidFill>
            <a:srgbClr val="C00000"/>
          </a:solidFill>
          <a:ln w="9525">
            <a:solidFill>
              <a:srgbClr val="C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 i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</a:pPr>
            <a:r>
              <a:rPr lang="de-DE" altLang="en-US" sz="1600">
                <a:solidFill>
                  <a:schemeClr val="bg1"/>
                </a:solidFill>
              </a:rPr>
              <a:t>pEDM</a:t>
            </a:r>
          </a:p>
          <a:p>
            <a:pPr eaLnBrk="1" hangingPunct="1">
              <a:spcBef>
                <a:spcPct val="0"/>
              </a:spcBef>
              <a:buClrTx/>
            </a:pPr>
            <a:r>
              <a:rPr lang="de-DE" altLang="en-US" sz="1600">
                <a:solidFill>
                  <a:schemeClr val="bg1"/>
                </a:solidFill>
              </a:rPr>
              <a:t>dEDM</a:t>
            </a:r>
          </a:p>
        </p:txBody>
      </p:sp>
      <p:sp>
        <p:nvSpPr>
          <p:cNvPr id="40972" name="Rechteck 1">
            <a:extLst>
              <a:ext uri="{FF2B5EF4-FFF2-40B4-BE49-F238E27FC236}">
                <a16:creationId xmlns:a16="http://schemas.microsoft.com/office/drawing/2014/main" id="{A531A39E-2BC7-4D28-BEAA-A973AF302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5438" y="1952625"/>
            <a:ext cx="1368425" cy="2124075"/>
          </a:xfrm>
          <a:prstGeom prst="rect">
            <a:avLst/>
          </a:prstGeom>
          <a:solidFill>
            <a:srgbClr val="FFFF00">
              <a:alpha val="2705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 i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</a:pPr>
            <a:endParaRPr lang="ru-RU" altLang="en-US" sz="3200"/>
          </a:p>
        </p:txBody>
      </p:sp>
      <p:sp>
        <p:nvSpPr>
          <p:cNvPr id="25" name="Stern mit 5 Zacken 24">
            <a:extLst>
              <a:ext uri="{FF2B5EF4-FFF2-40B4-BE49-F238E27FC236}">
                <a16:creationId xmlns:a16="http://schemas.microsoft.com/office/drawing/2014/main" id="{256689BD-0199-4C3D-BD9D-E8FAF5488B58}"/>
              </a:ext>
            </a:extLst>
          </p:cNvPr>
          <p:cNvSpPr/>
          <p:nvPr/>
        </p:nvSpPr>
        <p:spPr bwMode="auto">
          <a:xfrm>
            <a:off x="6554788" y="3778250"/>
            <a:ext cx="115887" cy="144463"/>
          </a:xfrm>
          <a:prstGeom prst="star5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lIns="90000" tIns="46800" rIns="90000" bIns="46800">
            <a:spAutoFit/>
          </a:bodyPr>
          <a:lstStyle/>
          <a:p>
            <a:pPr>
              <a:defRPr/>
            </a:pPr>
            <a:endParaRPr lang="de-DE">
              <a:latin typeface="Arial" charset="0"/>
            </a:endParaRPr>
          </a:p>
        </p:txBody>
      </p:sp>
      <p:sp>
        <p:nvSpPr>
          <p:cNvPr id="26" name="Stern mit 5 Zacken 25">
            <a:extLst>
              <a:ext uri="{FF2B5EF4-FFF2-40B4-BE49-F238E27FC236}">
                <a16:creationId xmlns:a16="http://schemas.microsoft.com/office/drawing/2014/main" id="{AA2CAB27-D8D7-42DC-AC16-DC3EAA00D6F6}"/>
              </a:ext>
            </a:extLst>
          </p:cNvPr>
          <p:cNvSpPr/>
          <p:nvPr/>
        </p:nvSpPr>
        <p:spPr bwMode="auto">
          <a:xfrm>
            <a:off x="5922963" y="2647950"/>
            <a:ext cx="117475" cy="144463"/>
          </a:xfrm>
          <a:prstGeom prst="star5">
            <a:avLst/>
          </a:prstGeom>
          <a:solidFill>
            <a:schemeClr val="tx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lIns="90000" tIns="46800" rIns="90000" bIns="46800">
            <a:spAutoFit/>
          </a:bodyPr>
          <a:lstStyle/>
          <a:p>
            <a:pPr>
              <a:defRPr/>
            </a:pPr>
            <a:endParaRPr lang="de-DE">
              <a:latin typeface="Arial" charset="0"/>
            </a:endParaRPr>
          </a:p>
        </p:txBody>
      </p:sp>
      <p:sp>
        <p:nvSpPr>
          <p:cNvPr id="40975" name="Explosion 1 3">
            <a:extLst>
              <a:ext uri="{FF2B5EF4-FFF2-40B4-BE49-F238E27FC236}">
                <a16:creationId xmlns:a16="http://schemas.microsoft.com/office/drawing/2014/main" id="{73508D10-3CE2-40D5-BCD6-C8A965F87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2588" y="2505075"/>
            <a:ext cx="2089150" cy="2436813"/>
          </a:xfrm>
          <a:prstGeom prst="irregularSeal1">
            <a:avLst/>
          </a:prstGeom>
          <a:solidFill>
            <a:srgbClr val="92D05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 i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</a:pPr>
            <a:endParaRPr lang="ru-RU" altLang="en-US" sz="3200"/>
          </a:p>
        </p:txBody>
      </p:sp>
      <p:sp>
        <p:nvSpPr>
          <p:cNvPr id="40976" name="Textfeld 1">
            <a:extLst>
              <a:ext uri="{FF2B5EF4-FFF2-40B4-BE49-F238E27FC236}">
                <a16:creationId xmlns:a16="http://schemas.microsoft.com/office/drawing/2014/main" id="{B8B35D22-CEEF-4403-9D6A-94289704C0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6288" y="3257550"/>
            <a:ext cx="1270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lr>
                <a:srgbClr val="009EE0"/>
              </a:buClr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005B82"/>
              </a:buClr>
              <a:buFont typeface="Wingdings" panose="05000000000000000000" pitchFamily="2" charset="2"/>
              <a:buChar char="§"/>
              <a:defRPr sz="2200" i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9EE0"/>
              </a:buClr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</a:pPr>
            <a:r>
              <a:rPr lang="de-DE" altLang="en-US" sz="1600" b="1">
                <a:solidFill>
                  <a:schemeClr val="bg1"/>
                </a:solidFill>
              </a:rPr>
              <a:t>Possibility </a:t>
            </a:r>
          </a:p>
          <a:p>
            <a:pPr algn="ctr" eaLnBrk="1" hangingPunct="1">
              <a:spcBef>
                <a:spcPct val="0"/>
              </a:spcBef>
              <a:buClrTx/>
            </a:pPr>
            <a:r>
              <a:rPr lang="de-DE" altLang="en-US" sz="1600" b="1">
                <a:solidFill>
                  <a:schemeClr val="bg1"/>
                </a:solidFill>
              </a:rPr>
              <a:t>of a </a:t>
            </a:r>
          </a:p>
          <a:p>
            <a:pPr algn="ctr" eaLnBrk="1" hangingPunct="1">
              <a:spcBef>
                <a:spcPct val="0"/>
              </a:spcBef>
              <a:buClrTx/>
            </a:pPr>
            <a:r>
              <a:rPr lang="de-DE" altLang="en-US" sz="1600" b="1">
                <a:solidFill>
                  <a:schemeClr val="bg1"/>
                </a:solidFill>
              </a:rPr>
              <a:t>discovery</a:t>
            </a:r>
          </a:p>
        </p:txBody>
      </p:sp>
    </p:spTree>
    <p:extLst>
      <p:ext uri="{BB962C8B-B14F-4D97-AF65-F5344CB8AC3E}">
        <p14:creationId xmlns:p14="http://schemas.microsoft.com/office/powerpoint/2010/main" val="2086714888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549" t="9096" r="-4823" b="-2145"/>
          <a:stretch>
            <a:fillRect/>
          </a:stretch>
        </p:blipFill>
        <p:spPr bwMode="auto">
          <a:xfrm>
            <a:off x="2503488" y="2092325"/>
            <a:ext cx="4167187" cy="2657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81812551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211060</TotalTime>
  <Words>1427</Words>
  <Application>Microsoft Office PowerPoint</Application>
  <PresentationFormat>Экран (4:3)</PresentationFormat>
  <Paragraphs>207</Paragraphs>
  <Slides>32</Slides>
  <Notes>3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40" baseType="lpstr">
      <vt:lpstr>Arial</vt:lpstr>
      <vt:lpstr>Calibri</vt:lpstr>
      <vt:lpstr>Cambria</vt:lpstr>
      <vt:lpstr>Cambria Math</vt:lpstr>
      <vt:lpstr>Times New Roman</vt:lpstr>
      <vt:lpstr>Wingdings</vt:lpstr>
      <vt:lpstr>Office Theme</vt:lpstr>
      <vt:lpstr>Equation</vt:lpstr>
      <vt:lpstr>Презентация PowerPoint</vt:lpstr>
      <vt:lpstr>EDM today </vt:lpstr>
      <vt:lpstr>First message to search for Electric Dipole Moments(EDM) of fundamental particles: it came to understand the CP violation    Second message for Electric Dipole Moments of fundamental particles: the baryon asymmetry of the Universe that represents the fact of the prevalence of matter over antimatter</vt:lpstr>
      <vt:lpstr>Цель работы</vt:lpstr>
      <vt:lpstr>Как мы собираемся мерить ЭДМ на установках НИКА</vt:lpstr>
      <vt:lpstr>ОСНОВНОЙ ПРИНЦИП построения магнитооптической структуры накопительного кольца для исследования ЭДМ ЗАРЯЖЕННОЙ ЧАСТИЦЫ  </vt:lpstr>
      <vt:lpstr>ПРИНЦИП построения магнитооптической структуры</vt:lpstr>
      <vt:lpstr>  Для поиска ЭДМ разработан Frequency Domain Method основанный исключительно на измерении частоты прецессии спина   FDM основан на четырех фундаментальных особенностях:   - измерение полной частоты прецессии спина, обусловленной электрическим и магнитным дипольными моментами в несовершенном кольце в вертикальной плоскости, с абсолютной статистической погрешностью ~10⁻⁷ рад/с для одного заполнения кольца;   - положение элементов кольца остается неизменным при переходе от вращения по часовой стрелке (CW) к вращению против часовой стрелки (CCW);   -калибровка эффективного фактора Лоренца с использованием измерения частоты прецессии спина в горизонтальной плоскости проводится попеременно в каждом вращении по часовой и против часовой стрелки;   - устанавливается приблизительное соотношение между частотами спина в разных плоскостях таким образом, чтобы исключить их смешивание с вертикальной частотой ожидаемого сигнала ЭДМ на уровне статистической чувствительности, приближающемся к 10⁻²⁹ е см⁻¹.       </vt:lpstr>
      <vt:lpstr>Frequency Domain Method: basic relationships</vt:lpstr>
      <vt:lpstr>Презентация PowerPoint</vt:lpstr>
      <vt:lpstr>Figure Of Merit vs Energy: choice of energy</vt:lpstr>
      <vt:lpstr>Measurement of polarization asymmetry</vt:lpstr>
      <vt:lpstr>Презентация PowerPoint</vt:lpstr>
      <vt:lpstr>Two types lattices: frozen and quasi-frozen spin</vt:lpstr>
      <vt:lpstr>Векторная диаграмма полей и частот</vt:lpstr>
      <vt:lpstr>Презентация PowerPoint</vt:lpstr>
      <vt:lpstr>Установки ОИЯИ для измерения ЭДМ</vt:lpstr>
      <vt:lpstr>EDM measurement precision</vt:lpstr>
      <vt:lpstr>Sensitivity of experiment</vt:lpstr>
      <vt:lpstr>Презентация PowerPoint</vt:lpstr>
      <vt:lpstr>Deflector w/o Shields</vt:lpstr>
      <vt:lpstr>Мы рассмотрели три возможных варианта адаптации установок NICA для исследования электрического дипольного момента легких частиц</vt:lpstr>
      <vt:lpstr>Quasi-frozen spin option for NICA collider</vt:lpstr>
      <vt:lpstr>Quasi-frozen spin option for NICA collider</vt:lpstr>
      <vt:lpstr>Quasi-Frozen Spin option in COSY and NICA accelerators</vt:lpstr>
      <vt:lpstr>Bypass, NICA</vt:lpstr>
      <vt:lpstr>Nuclotron with “Quasi-Frozen” Spin option </vt:lpstr>
      <vt:lpstr>Общий вид  кольца для дейтронов “frozen spin” опция</vt:lpstr>
      <vt:lpstr>Параметры «фрозен» структуры для дейтронов</vt:lpstr>
      <vt:lpstr>Презентация PowerPoint</vt:lpstr>
      <vt:lpstr>Storage Ring EDM Project</vt:lpstr>
      <vt:lpstr>Презентация PowerPoint</vt:lpstr>
    </vt:vector>
  </TitlesOfParts>
  <Company>Tema AG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dott</dc:creator>
  <cp:lastModifiedBy>Сергей Колокольчиков</cp:lastModifiedBy>
  <cp:revision>1069</cp:revision>
  <cp:lastPrinted>2015-03-11T14:48:56Z</cp:lastPrinted>
  <dcterms:created xsi:type="dcterms:W3CDTF">2006-01-19T12:56:44Z</dcterms:created>
  <dcterms:modified xsi:type="dcterms:W3CDTF">2026-03-08T16:11:22Z</dcterms:modified>
</cp:coreProperties>
</file>