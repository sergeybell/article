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51" r:id="rId1"/>
  </p:sldMasterIdLst>
  <p:notesMasterIdLst>
    <p:notesMasterId r:id="rId35"/>
  </p:notesMasterIdLst>
  <p:handoutMasterIdLst>
    <p:handoutMasterId r:id="rId36"/>
  </p:handoutMasterIdLst>
  <p:sldIdLst>
    <p:sldId id="706" r:id="rId2"/>
    <p:sldId id="673" r:id="rId3"/>
    <p:sldId id="701" r:id="rId4"/>
    <p:sldId id="661" r:id="rId5"/>
    <p:sldId id="675" r:id="rId6"/>
    <p:sldId id="676" r:id="rId7"/>
    <p:sldId id="677" r:id="rId8"/>
    <p:sldId id="707" r:id="rId9"/>
    <p:sldId id="705" r:id="rId10"/>
    <p:sldId id="696" r:id="rId11"/>
    <p:sldId id="407" r:id="rId12"/>
    <p:sldId id="602" r:id="rId13"/>
    <p:sldId id="434" r:id="rId14"/>
    <p:sldId id="699" r:id="rId15"/>
    <p:sldId id="694" r:id="rId16"/>
    <p:sldId id="703" r:id="rId17"/>
    <p:sldId id="654" r:id="rId18"/>
    <p:sldId id="637" r:id="rId19"/>
    <p:sldId id="664" r:id="rId20"/>
    <p:sldId id="704" r:id="rId21"/>
    <p:sldId id="689" r:id="rId22"/>
    <p:sldId id="666" r:id="rId23"/>
    <p:sldId id="456" r:id="rId24"/>
    <p:sldId id="449" r:id="rId25"/>
    <p:sldId id="708" r:id="rId26"/>
    <p:sldId id="697" r:id="rId27"/>
    <p:sldId id="667" r:id="rId28"/>
    <p:sldId id="260" r:id="rId29"/>
    <p:sldId id="668" r:id="rId30"/>
    <p:sldId id="606" r:id="rId31"/>
    <p:sldId id="287" r:id="rId32"/>
    <p:sldId id="672" r:id="rId33"/>
    <p:sldId id="686" r:id="rId34"/>
  </p:sldIdLst>
  <p:sldSz cx="9144000" cy="6858000" type="screen4x3"/>
  <p:notesSz cx="6794500" cy="99314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1392">
          <p15:clr>
            <a:srgbClr val="A4A3A4"/>
          </p15:clr>
        </p15:guide>
        <p15:guide id="3" orient="horz" pos="144">
          <p15:clr>
            <a:srgbClr val="A4A3A4"/>
          </p15:clr>
        </p15:guide>
        <p15:guide id="4" orient="horz">
          <p15:clr>
            <a:srgbClr val="A4A3A4"/>
          </p15:clr>
        </p15:guide>
        <p15:guide id="5" orient="horz" pos="672">
          <p15:clr>
            <a:srgbClr val="A4A3A4"/>
          </p15:clr>
        </p15:guide>
        <p15:guide id="6" pos="5759">
          <p15:clr>
            <a:srgbClr val="A4A3A4"/>
          </p15:clr>
        </p15:guide>
        <p15:guide id="7" pos="480">
          <p15:clr>
            <a:srgbClr val="A4A3A4"/>
          </p15:clr>
        </p15:guide>
        <p15:guide id="8" pos="4704">
          <p15:clr>
            <a:srgbClr val="A4A3A4"/>
          </p15:clr>
        </p15:guide>
        <p15:guide id="9" pos="56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kita Vasyukhin" initials="NV" lastIdx="4" clrIdx="0"/>
  <p:cmAuthor id="1" name="Lenovo" initials="L" lastIdx="3" clrIdx="1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100"/>
    <a:srgbClr val="0033CC"/>
    <a:srgbClr val="CC0099"/>
    <a:srgbClr val="CC0066"/>
    <a:srgbClr val="FF0000"/>
    <a:srgbClr val="CC00CC"/>
    <a:srgbClr val="CF9D87"/>
    <a:srgbClr val="D60093"/>
    <a:srgbClr val="604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21" autoAdjust="0"/>
    <p:restoredTop sz="90058" autoAdjust="0"/>
  </p:normalViewPr>
  <p:slideViewPr>
    <p:cSldViewPr>
      <p:cViewPr varScale="1">
        <p:scale>
          <a:sx n="124" d="100"/>
          <a:sy n="124" d="100"/>
        </p:scale>
        <p:origin x="1272" y="184"/>
      </p:cViewPr>
      <p:guideLst>
        <p:guide orient="horz" pos="4176"/>
        <p:guide orient="horz" pos="1392"/>
        <p:guide orient="horz" pos="144"/>
        <p:guide orient="horz"/>
        <p:guide orient="horz" pos="672"/>
        <p:guide pos="5759"/>
        <p:guide pos="480"/>
        <p:guide pos="4704"/>
        <p:guide pos="56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698" y="-91"/>
      </p:cViewPr>
      <p:guideLst>
        <p:guide orient="horz" pos="3128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73" tIns="45437" rIns="90873" bIns="45437" numCol="1" anchor="t" anchorCtr="0" compatLnSpc="1">
            <a:prstTxWarp prst="textNoShape">
              <a:avLst/>
            </a:prstTxWarp>
          </a:bodyPr>
          <a:lstStyle>
            <a:lvl1pPr algn="l" defTabSz="90805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48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73" tIns="45437" rIns="90873" bIns="45437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18A66159-0B3C-44D9-990D-18DB0222E8E3}" type="datetime1">
              <a:rPr lang="en-US" altLang="en-US"/>
              <a:pPr>
                <a:defRPr/>
              </a:pPr>
              <a:t>3/12/26</a:t>
            </a:fld>
            <a:endParaRPr lang="ru-RU" altLang="en-US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513"/>
            <a:ext cx="29448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73" tIns="45437" rIns="90873" bIns="45437" numCol="1" anchor="b" anchorCtr="0" compatLnSpc="1">
            <a:prstTxWarp prst="textNoShape">
              <a:avLst/>
            </a:prstTxWarp>
          </a:bodyPr>
          <a:lstStyle>
            <a:lvl1pPr algn="l" defTabSz="90805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ru-RU" altLang="en-US"/>
              <a:t>PAC 2009, Yu. Senichev</a:t>
            </a:r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34513"/>
            <a:ext cx="29448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73" tIns="45437" rIns="90873" bIns="45437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5BFBDCC8-F82F-4036-BDF4-8BFA0226C038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870447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73" tIns="45437" rIns="90873" bIns="45437" numCol="1" anchor="t" anchorCtr="0" compatLnSpc="1">
            <a:prstTxWarp prst="textNoShape">
              <a:avLst/>
            </a:prstTxWarp>
          </a:bodyPr>
          <a:lstStyle>
            <a:lvl1pPr algn="l" defTabSz="90805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100" y="0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73" tIns="45437" rIns="90873" bIns="45437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A2327912-36C1-4CB2-8E5A-877D5BDE0C00}" type="datetime1">
              <a:rPr lang="en-US" altLang="en-US"/>
              <a:pPr>
                <a:defRPr/>
              </a:pPr>
              <a:t>3/12/26</a:t>
            </a:fld>
            <a:endParaRPr lang="ru-RU" alt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8050"/>
            <a:ext cx="5435600" cy="446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73" tIns="45437" rIns="90873" bIns="4543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73" tIns="45437" rIns="90873" bIns="45437" numCol="1" anchor="b" anchorCtr="0" compatLnSpc="1">
            <a:prstTxWarp prst="textNoShape">
              <a:avLst/>
            </a:prstTxWarp>
          </a:bodyPr>
          <a:lstStyle>
            <a:lvl1pPr algn="l" defTabSz="90805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ru-RU" altLang="en-US"/>
              <a:t>PAC 2009, Yu. Senichev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100" y="9432925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73" tIns="45437" rIns="90873" bIns="45437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EFDC3419-676F-4F64-A8FD-85C01B70B997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438271564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A2327912-36C1-4CB2-8E5A-877D5BDE0C00}" type="datetime1">
              <a:rPr lang="en-US" altLang="en-US" smtClean="0"/>
              <a:pPr>
                <a:defRPr/>
              </a:pPr>
              <a:t>3/12/26</a:t>
            </a:fld>
            <a:endParaRPr lang="ru-RU" alt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ru-RU" altLang="en-US"/>
              <a:t>PAC 2009, Yu. Senichev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DC3419-676F-4F64-A8FD-85C01B70B997}" type="slidenum">
              <a:rPr lang="de-DE" altLang="en-US" smtClean="0"/>
              <a:pPr>
                <a:defRPr/>
              </a:pPr>
              <a:t>10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881425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DF41C0A2-2874-4933-A85B-0D9A925C7E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96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96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96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96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67AA4B7-D1AA-48F9-B280-64DADBDB205C}" type="slidenum">
              <a:rPr lang="de-DE" altLang="en-US"/>
              <a:pPr eaLnBrk="1" hangingPunct="1">
                <a:spcBef>
                  <a:spcPct val="0"/>
                </a:spcBef>
              </a:pPr>
              <a:t>23</a:t>
            </a:fld>
            <a:endParaRPr lang="de-DE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B603C08E-E4EF-48AA-87BF-C0D4C6AA2F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A3E05523-FCAD-4211-BC53-A695BFB832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997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096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096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096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096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66EB69D-9BBB-45BF-B3CE-1397FB0054F1}" type="slidenum">
              <a:rPr lang="de-DE" altLang="en-US" smtClean="0">
                <a:cs typeface="Arial" pitchFamily="34" charset="0"/>
              </a:rPr>
              <a:pPr eaLnBrk="1" hangingPunct="1">
                <a:spcBef>
                  <a:spcPct val="0"/>
                </a:spcBef>
              </a:pPr>
              <a:t>24</a:t>
            </a:fld>
            <a:endParaRPr lang="de-DE" altLang="en-US">
              <a:cs typeface="Arial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677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096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096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096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096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096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66EB69D-9BBB-45BF-B3CE-1397FB0054F1}" type="slidenum">
              <a:rPr lang="de-DE" altLang="en-US" smtClean="0">
                <a:cs typeface="Arial" pitchFamily="34" charset="0"/>
              </a:rPr>
              <a:pPr eaLnBrk="1" hangingPunct="1">
                <a:spcBef>
                  <a:spcPct val="0"/>
                </a:spcBef>
              </a:pPr>
              <a:t>25</a:t>
            </a:fld>
            <a:endParaRPr lang="de-DE" altLang="en-US">
              <a:cs typeface="Arial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974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466F-BDA4-4F18-9C7B-FF0A9A1B0E80}" type="datetime1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421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983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7D34C-41FA-408F-9792-AC699D4B52A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4861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9855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7D34C-41FA-408F-9792-AC699D4B52A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732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130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7D34C-41FA-408F-9792-AC699D4B52A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42466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7D34C-41FA-408F-9792-AC699D4B52A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8472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7D34C-41FA-408F-9792-AC699D4B52A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3187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7D34C-41FA-408F-9792-AC699D4B52A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3711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7D34C-41FA-408F-9792-AC699D4B52A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7490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720000" y="1270800"/>
            <a:ext cx="8075240" cy="4824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rgbClr val="005B82"/>
              </a:buClr>
              <a:buSzPct val="80000"/>
              <a:buFontTx/>
              <a:buNone/>
              <a:defRPr sz="2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Clr>
                <a:srgbClr val="005B82"/>
              </a:buClr>
              <a:buSzPct val="80000"/>
              <a:buFont typeface="Wingdings" pitchFamily="2" charset="2"/>
              <a:buNone/>
              <a:defRPr sz="2200"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5B82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5B82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5B82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5pPr>
          </a:lstStyle>
          <a:p>
            <a:r>
              <a:rPr lang="de-DE" dirty="0"/>
              <a:t>Hier steht Blindtext zu einem Thema mit Einleitung und folgenden Aufzählungspunkten: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nonummy</a:t>
            </a:r>
            <a:r>
              <a:rPr lang="de-DE" dirty="0"/>
              <a:t> </a:t>
            </a:r>
            <a:r>
              <a:rPr lang="de-DE" dirty="0" err="1"/>
              <a:t>nibh</a:t>
            </a:r>
            <a:br>
              <a:rPr lang="de-DE" dirty="0"/>
            </a:br>
            <a:r>
              <a:rPr lang="de-DE" dirty="0" err="1"/>
              <a:t>tincidunt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laoreet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nonummy</a:t>
            </a:r>
            <a:r>
              <a:rPr lang="de-DE" dirty="0"/>
              <a:t> </a:t>
            </a:r>
            <a:r>
              <a:rPr lang="de-DE" dirty="0" err="1"/>
              <a:t>tincidunt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laoreet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br>
              <a:rPr lang="de-DE" dirty="0"/>
            </a:br>
            <a:r>
              <a:rPr lang="de-DE" dirty="0" err="1"/>
              <a:t>elit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nonummy</a:t>
            </a:r>
            <a:r>
              <a:rPr lang="de-DE" dirty="0"/>
              <a:t> </a:t>
            </a:r>
            <a:r>
              <a:rPr lang="de-DE" dirty="0" err="1"/>
              <a:t>nibh</a:t>
            </a:r>
            <a:r>
              <a:rPr lang="de-DE" dirty="0"/>
              <a:t> </a:t>
            </a:r>
            <a:r>
              <a:rPr lang="de-DE" dirty="0" err="1"/>
              <a:t>euismod</a:t>
            </a:r>
            <a:r>
              <a:rPr lang="de-DE" dirty="0"/>
              <a:t> </a:t>
            </a:r>
            <a:r>
              <a:rPr lang="de-DE" dirty="0" err="1"/>
              <a:t>tincidunt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laoreet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	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3015-BCCC-4276-94E6-CD41EDF32751}" type="datetime1">
              <a:rPr lang="en-US" smtClean="0"/>
              <a:t>3/12/26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y.senichev@inr.ru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9AEA1-3281-46F0-9EDB-48FF2E5FF267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7" name="Inhaltsplatzhalter 2"/>
          <p:cNvSpPr>
            <a:spLocks noGrp="1"/>
          </p:cNvSpPr>
          <p:nvPr>
            <p:ph idx="17" hasCustomPrompt="1"/>
          </p:nvPr>
        </p:nvSpPr>
        <p:spPr>
          <a:xfrm>
            <a:off x="720000" y="432000"/>
            <a:ext cx="6588000" cy="576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rgbClr val="005B82"/>
              </a:buClr>
              <a:buSzPct val="80000"/>
              <a:buFontTx/>
              <a:buNone/>
              <a:defRPr sz="2800" b="1" baseline="0">
                <a:solidFill>
                  <a:srgbClr val="005B82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Clr>
                <a:srgbClr val="005B82"/>
              </a:buClr>
              <a:buSzPct val="80000"/>
              <a:buFont typeface="Wingdings" pitchFamily="2" charset="2"/>
              <a:buNone/>
              <a:defRPr sz="2200"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5B82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5B82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5B82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5pPr>
          </a:lstStyle>
          <a:p>
            <a:r>
              <a:rPr lang="de-DE" dirty="0"/>
              <a:t>Musterpräsentation</a:t>
            </a:r>
          </a:p>
        </p:txBody>
      </p:sp>
    </p:spTree>
    <p:extLst>
      <p:ext uri="{BB962C8B-B14F-4D97-AF65-F5344CB8AC3E}">
        <p14:creationId xmlns:p14="http://schemas.microsoft.com/office/powerpoint/2010/main" val="3590309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32762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9138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1538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388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7D34C-41FA-408F-9792-AC699D4B52A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51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2" r:id="rId1"/>
    <p:sldLayoutId id="2147484953" r:id="rId2"/>
    <p:sldLayoutId id="2147484954" r:id="rId3"/>
    <p:sldLayoutId id="2147484955" r:id="rId4"/>
    <p:sldLayoutId id="2147484956" r:id="rId5"/>
    <p:sldLayoutId id="2147484957" r:id="rId6"/>
    <p:sldLayoutId id="2147484958" r:id="rId7"/>
    <p:sldLayoutId id="2147484959" r:id="rId8"/>
    <p:sldLayoutId id="2147484960" r:id="rId9"/>
    <p:sldLayoutId id="2147484961" r:id="rId10"/>
    <p:sldLayoutId id="2147484962" r:id="rId11"/>
    <p:sldLayoutId id="2147484964" r:id="rId12"/>
    <p:sldLayoutId id="2147484966" r:id="rId13"/>
    <p:sldLayoutId id="2147484967" r:id="rId14"/>
  </p:sldLayoutIdLst>
  <p:transition>
    <p:fade thruBlk="1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jpeg"/><Relationship Id="rId5" Type="http://schemas.openxmlformats.org/officeDocument/2006/relationships/image" Target="../media/image130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jpe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18.wmf"/><Relationship Id="rId7" Type="http://schemas.openxmlformats.org/officeDocument/2006/relationships/image" Target="../media/image21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wmf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jpe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43.png"/><Relationship Id="rId4" Type="http://schemas.openxmlformats.org/officeDocument/2006/relationships/image" Target="../media/image1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43">
            <a:extLst>
              <a:ext uri="{FF2B5EF4-FFF2-40B4-BE49-F238E27FC236}">
                <a16:creationId xmlns:a16="http://schemas.microsoft.com/office/drawing/2014/main" id="{63F3E29F-89F2-301B-1317-F512582844AF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4" name="88ae095048.jpg" descr="88ae095048.jpg">
            <a:extLst>
              <a:ext uri="{FF2B5EF4-FFF2-40B4-BE49-F238E27FC236}">
                <a16:creationId xmlns:a16="http://schemas.microsoft.com/office/drawing/2014/main" id="{DC26E960-FDB4-8527-3340-51FC33087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20" y="4774033"/>
            <a:ext cx="1319857" cy="12948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88ae095048.jpg" descr="88ae095048.jpg">
            <a:extLst>
              <a:ext uri="{FF2B5EF4-FFF2-40B4-BE49-F238E27FC236}">
                <a16:creationId xmlns:a16="http://schemas.microsoft.com/office/drawing/2014/main" id="{C5308DBD-CF85-14C9-C3AF-92A8CDBA460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スライド番号プレースホルダー 16">
            <a:extLst>
              <a:ext uri="{FF2B5EF4-FFF2-40B4-BE49-F238E27FC236}">
                <a16:creationId xmlns:a16="http://schemas.microsoft.com/office/drawing/2014/main" id="{673095D8-5889-202E-ED5B-5E8DD6034F50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1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7" name="字幕 2">
            <a:extLst>
              <a:ext uri="{FF2B5EF4-FFF2-40B4-BE49-F238E27FC236}">
                <a16:creationId xmlns:a16="http://schemas.microsoft.com/office/drawing/2014/main" id="{5B4B4265-B9DF-949A-96CC-23323580670C}"/>
              </a:ext>
            </a:extLst>
          </p:cNvPr>
          <p:cNvSpPr txBox="1">
            <a:spLocks/>
          </p:cNvSpPr>
          <p:nvPr/>
        </p:nvSpPr>
        <p:spPr>
          <a:xfrm>
            <a:off x="1884556" y="3816769"/>
            <a:ext cx="4961100" cy="943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rIns="34289">
            <a:noAutofit/>
          </a:bodyPr>
          <a:lstStyle>
            <a:lvl1pPr marL="0" marR="0" indent="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游ゴシック"/>
              </a:defRPr>
            </a:lvl1pPr>
            <a:lvl2pPr marL="0" marR="0" indent="4572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pPr>
              <a:lnSpc>
                <a:spcPct val="81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2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Сергей Колокольчиков</a:t>
            </a:r>
            <a:r>
              <a:rPr lang="en-US" sz="2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(ИЯИ РАН</a:t>
            </a:r>
            <a:r>
              <a:rPr lang="en-US" sz="2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МФТИ)</a:t>
            </a:r>
            <a:r>
              <a:rPr lang="en-US" sz="2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ru-RU" sz="21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hangingPunct="1">
              <a:lnSpc>
                <a:spcPct val="81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12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hangingPunct="1">
              <a:lnSpc>
                <a:spcPct val="81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1500" dirty="0">
                <a:latin typeface="+mn-lt"/>
                <a:ea typeface="Times New Roman"/>
                <a:cs typeface="Times New Roman"/>
                <a:sym typeface="Times New Roman"/>
              </a:rPr>
              <a:t>13</a:t>
            </a:r>
            <a:r>
              <a:rPr lang="en-US" sz="1500" dirty="0">
                <a:latin typeface="+mn-lt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500" dirty="0">
                <a:latin typeface="+mn-lt"/>
                <a:ea typeface="Times New Roman"/>
                <a:cs typeface="Times New Roman"/>
                <a:sym typeface="Times New Roman"/>
              </a:rPr>
              <a:t>марта 2026</a:t>
            </a:r>
            <a:endParaRPr lang="ru-RU" sz="2100" dirty="0"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263BC487-7F0C-23B0-77E1-FA6D1AB2D82D}"/>
              </a:ext>
            </a:extLst>
          </p:cNvPr>
          <p:cNvCxnSpPr>
            <a:cxnSpLocks/>
          </p:cNvCxnSpPr>
          <p:nvPr/>
        </p:nvCxnSpPr>
        <p:spPr>
          <a:xfrm>
            <a:off x="-9000" y="3284984"/>
            <a:ext cx="9156233" cy="0"/>
          </a:xfrm>
          <a:prstGeom prst="line">
            <a:avLst/>
          </a:prstGeom>
          <a:ln w="28575">
            <a:solidFill>
              <a:srgbClr val="EF4D0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日付プレースホルダー 14">
            <a:extLst>
              <a:ext uri="{FF2B5EF4-FFF2-40B4-BE49-F238E27FC236}">
                <a16:creationId xmlns:a16="http://schemas.microsoft.com/office/drawing/2014/main" id="{27E10A01-D153-DDB6-A5E8-B904CD0C7451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EEFF7-FD0B-435D-B150-B1F462584C39}"/>
              </a:ext>
            </a:extLst>
          </p:cNvPr>
          <p:cNvSpPr txBox="1"/>
          <p:nvPr/>
        </p:nvSpPr>
        <p:spPr>
          <a:xfrm>
            <a:off x="-1" y="180655"/>
            <a:ext cx="9156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effectLst/>
                <a:latin typeface="+mn-lt"/>
              </a:rPr>
              <a:t>Сессия-конференция</a:t>
            </a:r>
            <a:r>
              <a:rPr lang="ru-RU" b="1" dirty="0">
                <a:solidFill>
                  <a:srgbClr val="FF0000"/>
                </a:solidFill>
                <a:effectLst/>
                <a:latin typeface="+mn-lt"/>
              </a:rPr>
              <a:t> Секции ядерной физики ОФН РАН </a:t>
            </a:r>
            <a:br>
              <a:rPr lang="ru-RU" b="1" dirty="0">
                <a:solidFill>
                  <a:srgbClr val="FF0000"/>
                </a:solidFill>
                <a:effectLst/>
                <a:latin typeface="+mn-lt"/>
              </a:rPr>
            </a:br>
            <a:r>
              <a:rPr lang="ru-RU" b="1" dirty="0">
                <a:solidFill>
                  <a:srgbClr val="FF0000"/>
                </a:solidFill>
                <a:effectLst/>
                <a:latin typeface="+mn-lt"/>
              </a:rPr>
              <a:t>«Физика фундаментальных взаимодействий»</a:t>
            </a:r>
            <a:endParaRPr lang="ru-RU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E516C4-89FD-4BA1-9CE6-296FA2A3FA35}"/>
              </a:ext>
            </a:extLst>
          </p:cNvPr>
          <p:cNvSpPr txBox="1"/>
          <p:nvPr/>
        </p:nvSpPr>
        <p:spPr>
          <a:xfrm>
            <a:off x="1144870" y="1358770"/>
            <a:ext cx="68452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2400" b="1" dirty="0">
                <a:latin typeface="+mn-lt"/>
              </a:rPr>
              <a:t>Предполагаемые эксперименты по поиску </a:t>
            </a:r>
            <a:br>
              <a:rPr lang="ru-RU" sz="2400" b="1" dirty="0">
                <a:latin typeface="+mn-lt"/>
              </a:rPr>
            </a:br>
            <a:r>
              <a:rPr lang="ru-RU" sz="2400" b="1" dirty="0">
                <a:latin typeface="+mn-lt"/>
              </a:rPr>
              <a:t>электрического дипольного момента на установках комплекса </a:t>
            </a:r>
            <a:r>
              <a:rPr lang="en-US" sz="2400" b="1" dirty="0">
                <a:latin typeface="+mn-lt"/>
              </a:rPr>
              <a:t>NICA</a:t>
            </a:r>
            <a:endParaRPr lang="ru-RU" sz="2400" b="1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EFAA64-8C91-4F93-A52C-7ED267A1656F}"/>
              </a:ext>
            </a:extLst>
          </p:cNvPr>
          <p:cNvSpPr txBox="1"/>
          <p:nvPr/>
        </p:nvSpPr>
        <p:spPr>
          <a:xfrm>
            <a:off x="2463350" y="5807242"/>
            <a:ext cx="41044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400" kern="100" dirty="0">
                <a:effectLst/>
                <a:latin typeface="+mn-lt"/>
                <a:ea typeface="Calibri" panose="020F0502020204030204" pitchFamily="34" charset="0"/>
              </a:rPr>
              <a:t>Исследование выполнено при поддержке гранта Российского Научного Фонда №25-72-30005.</a:t>
            </a:r>
            <a:endParaRPr lang="ru-RU" sz="1050" b="1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8D49DD-74C7-C9E6-F02C-BBB7490CEAC4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DC4D9-ABE9-5BBA-7828-75A6467B342B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5560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EA41CD-C7F3-6CE5-92C8-E2CDDBFD6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95" y="1090577"/>
            <a:ext cx="8162614" cy="5289452"/>
          </a:xfrm>
          <a:prstGeom prst="rect">
            <a:avLst/>
          </a:prstGeom>
        </p:spPr>
      </p:pic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C66FE64A-51BB-272D-00FB-194D5A4835BF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88ae095048.jpg" descr="88ae095048.jpg">
            <a:extLst>
              <a:ext uri="{FF2B5EF4-FFF2-40B4-BE49-F238E27FC236}">
                <a16:creationId xmlns:a16="http://schemas.microsoft.com/office/drawing/2014/main" id="{F1687227-7D0D-E159-DA38-04453F846F2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スライド番号プレースホルダー 16">
            <a:extLst>
              <a:ext uri="{FF2B5EF4-FFF2-40B4-BE49-F238E27FC236}">
                <a16:creationId xmlns:a16="http://schemas.microsoft.com/office/drawing/2014/main" id="{66B351BE-A568-317D-BC2A-BFA8AEC9D2E5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2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511725C9-E835-8FAE-0DE4-DF950BE1F094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EA7A2-DE43-D7CB-3C45-7D7992970229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A3DC1-497A-0CDA-335F-0AD9F2FC9942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6B2E50B3-18D7-DE10-EFEA-201BB4619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FF0000"/>
                </a:solidFill>
                <a:latin typeface="+mn-lt"/>
              </a:rPr>
              <a:t>EDM today</a:t>
            </a:r>
            <a:endParaRPr lang="ru-RU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27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1E632578-0855-4577-B3CB-58AACEDA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100" y="4714836"/>
            <a:ext cx="8351877" cy="1143000"/>
          </a:xfrm>
        </p:spPr>
        <p:txBody>
          <a:bodyPr>
            <a:noAutofit/>
          </a:bodyPr>
          <a:lstStyle/>
          <a:p>
            <a:r>
              <a:rPr lang="en-GB" altLang="en-US" sz="1400" u="sng" dirty="0">
                <a:latin typeface="+mn-lt"/>
              </a:rPr>
              <a:t>First message </a:t>
            </a:r>
            <a:r>
              <a:rPr lang="en-GB" altLang="en-US" sz="1400" dirty="0">
                <a:latin typeface="+mn-lt"/>
              </a:rPr>
              <a:t>to search for </a:t>
            </a:r>
            <a:r>
              <a:rPr lang="en-GB" altLang="en-US" sz="1400" dirty="0">
                <a:solidFill>
                  <a:srgbClr val="FF0000"/>
                </a:solidFill>
                <a:latin typeface="+mn-lt"/>
              </a:rPr>
              <a:t>Electric Dipole Moments(EDM) </a:t>
            </a:r>
            <a:r>
              <a:rPr lang="en-GB" altLang="en-US" sz="1400" dirty="0">
                <a:latin typeface="+mn-lt"/>
              </a:rPr>
              <a:t>of fundamental particles: </a:t>
            </a:r>
            <a:br>
              <a:rPr lang="ru-RU" altLang="en-US" sz="1400" dirty="0">
                <a:latin typeface="+mn-lt"/>
              </a:rPr>
            </a:br>
            <a:r>
              <a:rPr lang="en-GB" altLang="en-US" sz="1400" i="1" dirty="0">
                <a:latin typeface="+mn-lt"/>
              </a:rPr>
              <a:t>it came to understand the CP violation</a:t>
            </a:r>
            <a:br>
              <a:rPr lang="en-GB" altLang="en-US" sz="1400" i="1" dirty="0">
                <a:latin typeface="+mn-lt"/>
              </a:rPr>
            </a:br>
            <a:br>
              <a:rPr lang="en-GB" altLang="en-US" sz="1400" i="1" dirty="0">
                <a:latin typeface="+mn-lt"/>
              </a:rPr>
            </a:br>
            <a:r>
              <a:rPr lang="ru-RU" altLang="en-US" sz="1400" i="1" dirty="0">
                <a:latin typeface="+mn-lt"/>
              </a:rPr>
              <a:t>  </a:t>
            </a:r>
            <a:r>
              <a:rPr lang="en-GB" altLang="en-US" sz="1400" u="sng" dirty="0">
                <a:latin typeface="+mn-lt"/>
              </a:rPr>
              <a:t>Second message</a:t>
            </a:r>
            <a:r>
              <a:rPr lang="en-GB" altLang="en-US" sz="1400" dirty="0">
                <a:latin typeface="+mn-lt"/>
              </a:rPr>
              <a:t> for </a:t>
            </a:r>
            <a:r>
              <a:rPr lang="en-GB" altLang="en-US" sz="1400" dirty="0">
                <a:solidFill>
                  <a:srgbClr val="FF0000"/>
                </a:solidFill>
                <a:latin typeface="+mn-lt"/>
              </a:rPr>
              <a:t>Electric Dipole Moments </a:t>
            </a:r>
            <a:r>
              <a:rPr lang="en-GB" altLang="en-US" sz="1400" dirty="0">
                <a:latin typeface="+mn-lt"/>
              </a:rPr>
              <a:t>of fundamental particles</a:t>
            </a:r>
            <a:r>
              <a:rPr lang="en-GB" altLang="en-US" sz="1400" i="1" dirty="0">
                <a:latin typeface="+mn-lt"/>
              </a:rPr>
              <a:t>: </a:t>
            </a:r>
            <a:br>
              <a:rPr lang="ru-RU" altLang="en-US" sz="1400" i="1" dirty="0">
                <a:latin typeface="+mn-lt"/>
              </a:rPr>
            </a:br>
            <a:r>
              <a:rPr lang="en-GB" altLang="en-US" sz="1400" i="1" dirty="0">
                <a:latin typeface="+mn-lt"/>
              </a:rPr>
              <a:t>the baryon asymmetry of the Universe that represents the fact of the prevalence of matter over antimatter</a:t>
            </a:r>
            <a:endParaRPr lang="en-GB" altLang="en-US" sz="14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8B579-FFC4-4974-9F54-A9F717029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7776" y="1124744"/>
            <a:ext cx="4832201" cy="2052638"/>
          </a:xfrm>
        </p:spPr>
        <p:txBody>
          <a:bodyPr>
            <a:noAutofit/>
          </a:bodyPr>
          <a:lstStyle/>
          <a:p>
            <a:pPr marL="0" indent="0" algn="just">
              <a:defRPr/>
            </a:pPr>
            <a:r>
              <a:rPr lang="en-GB" sz="1400" b="1" dirty="0">
                <a:solidFill>
                  <a:srgbClr val="FF0000"/>
                </a:solidFill>
              </a:rPr>
              <a:t>In 1967 </a:t>
            </a:r>
            <a:r>
              <a:rPr lang="en-GB" sz="1400" b="1" dirty="0" err="1">
                <a:solidFill>
                  <a:srgbClr val="FF0000"/>
                </a:solidFill>
              </a:rPr>
              <a:t>A.Sakharov</a:t>
            </a:r>
            <a:r>
              <a:rPr lang="en-GB" sz="1400" b="1" dirty="0">
                <a:solidFill>
                  <a:srgbClr val="FF0000"/>
                </a:solidFill>
              </a:rPr>
              <a:t> </a:t>
            </a:r>
            <a:r>
              <a:rPr lang="en-GB" sz="1400" dirty="0"/>
              <a:t>has shown three necessary conditions for </a:t>
            </a:r>
            <a:r>
              <a:rPr lang="en-GB" sz="1400" dirty="0" err="1"/>
              <a:t>baryogenesis</a:t>
            </a:r>
            <a:r>
              <a:rPr lang="en-GB" sz="1400" dirty="0"/>
              <a:t> (initial creation of baryons)</a:t>
            </a:r>
          </a:p>
          <a:p>
            <a:pPr marL="214313" indent="-214313" algn="just">
              <a:defRPr/>
            </a:pPr>
            <a:r>
              <a:rPr lang="en-GB" sz="1400" dirty="0"/>
              <a:t>• Baryon number violation;</a:t>
            </a:r>
          </a:p>
          <a:p>
            <a:pPr marL="214313" indent="-214313" algn="just">
              <a:defRPr/>
            </a:pPr>
            <a:r>
              <a:rPr lang="en-GB" sz="1400" dirty="0"/>
              <a:t>• C-symmetry and </a:t>
            </a:r>
            <a:r>
              <a:rPr lang="en-GB" sz="1400" u="sng" dirty="0"/>
              <a:t>CP-symmetry violation</a:t>
            </a:r>
            <a:r>
              <a:rPr lang="en-GB" sz="1400" dirty="0"/>
              <a:t>;</a:t>
            </a:r>
          </a:p>
          <a:p>
            <a:pPr marL="214313" indent="-214313" algn="just">
              <a:defRPr/>
            </a:pPr>
            <a:r>
              <a:rPr lang="en-GB" sz="1400" dirty="0"/>
              <a:t>• Interactions out of thermal equilibrium</a:t>
            </a:r>
          </a:p>
          <a:p>
            <a:pPr marL="214313" indent="-214313" algn="just">
              <a:defRPr/>
            </a:pPr>
            <a:endParaRPr lang="en-GB" sz="1400" dirty="0"/>
          </a:p>
          <a:p>
            <a:pPr marL="0" indent="0" algn="just">
              <a:defRPr/>
            </a:pPr>
            <a:r>
              <a:rPr lang="en-GB" sz="1400" dirty="0"/>
              <a:t>The analysis done by the AD Sakharov, showed that this </a:t>
            </a:r>
            <a:r>
              <a:rPr lang="en-GB" sz="1400" u="sng" dirty="0"/>
              <a:t>CP-violation is absolutely necessary </a:t>
            </a:r>
            <a:r>
              <a:rPr lang="en-GB" sz="1400" dirty="0"/>
              <a:t>to explain why on earth and in the visible universe there is a </a:t>
            </a:r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MATTER</a:t>
            </a:r>
            <a:r>
              <a:rPr lang="en-GB" sz="1400" dirty="0">
                <a:solidFill>
                  <a:srgbClr val="FF0000"/>
                </a:solidFill>
              </a:rPr>
              <a:t>, </a:t>
            </a:r>
            <a:r>
              <a:rPr lang="en-GB" sz="1400" dirty="0"/>
              <a:t>but there is practically no </a:t>
            </a:r>
            <a:r>
              <a:rPr lang="en-GB" sz="1400" b="1" dirty="0">
                <a:solidFill>
                  <a:srgbClr val="D60093"/>
                </a:solidFill>
              </a:rPr>
              <a:t>ANTIMATTER</a:t>
            </a:r>
            <a:r>
              <a:rPr lang="en-GB" sz="1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1A6AB3-C0EF-4F02-8483-9B9519D00734}"/>
              </a:ext>
            </a:extLst>
          </p:cNvPr>
          <p:cNvSpPr/>
          <p:nvPr/>
        </p:nvSpPr>
        <p:spPr>
          <a:xfrm>
            <a:off x="3977776" y="2590929"/>
            <a:ext cx="4832201" cy="987042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EDC258A-CC44-402E-AE58-81B5B0F02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00" y="1067223"/>
            <a:ext cx="3247024" cy="3247024"/>
          </a:xfrm>
          <a:prstGeom prst="rect">
            <a:avLst/>
          </a:prstGeom>
        </p:spPr>
      </p:pic>
      <p:sp>
        <p:nvSpPr>
          <p:cNvPr id="2" name="正方形/長方形 43">
            <a:extLst>
              <a:ext uri="{FF2B5EF4-FFF2-40B4-BE49-F238E27FC236}">
                <a16:creationId xmlns:a16="http://schemas.microsoft.com/office/drawing/2014/main" id="{A75FB6FD-141D-A719-FE4C-60DBEF8CF24D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88ae095048.jpg" descr="88ae095048.jpg">
            <a:extLst>
              <a:ext uri="{FF2B5EF4-FFF2-40B4-BE49-F238E27FC236}">
                <a16:creationId xmlns:a16="http://schemas.microsoft.com/office/drawing/2014/main" id="{C590B189-50A9-5E90-C800-CCEEE703497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067F3C82-3DCF-1755-2F6F-9282F72CFC53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3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19794B8-0798-6B43-D5B5-C09801EE5BE6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E0536-2B08-A603-DC94-CAF207FF4267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7F94E1-2142-FEDD-CAE6-FB0179365C30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939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EC923-012C-4425-FB1A-D270A819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00" y="188640"/>
            <a:ext cx="8229600" cy="922114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FF0000"/>
                </a:solidFill>
                <a:latin typeface="+mn-lt"/>
              </a:rPr>
              <a:t>Как мы собираемся мерить </a:t>
            </a:r>
            <a:br>
              <a:rPr lang="ru-RU" sz="2800" b="1" dirty="0">
                <a:solidFill>
                  <a:srgbClr val="FF0000"/>
                </a:solidFill>
                <a:latin typeface="+mn-lt"/>
              </a:rPr>
            </a:br>
            <a:r>
              <a:rPr lang="ru-RU" sz="2800" b="1" dirty="0">
                <a:solidFill>
                  <a:srgbClr val="FF0000"/>
                </a:solidFill>
                <a:latin typeface="+mn-lt"/>
              </a:rPr>
              <a:t>ЭДМ на установках НИКА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9FAD26-390D-360A-3B42-25B5848F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00" y="1916832"/>
            <a:ext cx="8229600" cy="2736304"/>
          </a:xfrm>
        </p:spPr>
        <p:txBody>
          <a:bodyPr>
            <a:normAutofit/>
          </a:bodyPr>
          <a:lstStyle/>
          <a:p>
            <a:pPr algn="just"/>
            <a:r>
              <a:rPr lang="ru-RU" sz="2000" dirty="0"/>
              <a:t>В соответствии с теоремой Эренфеста, которая гласит: «В квантовой механике средние значения координат и импульсов частицы, а также действующих на нее сил связаны между собой уравнениями, подобными соответствующим уравнениям классической механики». </a:t>
            </a:r>
          </a:p>
          <a:p>
            <a:pPr algn="just"/>
            <a:endParaRPr lang="ru-RU" sz="2000" dirty="0"/>
          </a:p>
          <a:p>
            <a:pPr algn="just"/>
            <a:r>
              <a:rPr lang="ru-RU" sz="2000" dirty="0"/>
              <a:t>Ю. Узиков (ОИЯИ) специально обосновал этот переход для спина, согласно которому в представлении классической физики «спин» означает среднее значение квантово-механического оператора спина.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9DFB2196-4132-B741-A44F-FBBF0BC44067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88ae095048.jpg" descr="88ae095048.jpg">
            <a:extLst>
              <a:ext uri="{FF2B5EF4-FFF2-40B4-BE49-F238E27FC236}">
                <a16:creationId xmlns:a16="http://schemas.microsoft.com/office/drawing/2014/main" id="{656DD8E8-CA9F-05FE-895F-ADBD687A785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2990D881-A5C3-6163-4322-97F4B059DA92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4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日付プレースホルダー 14">
            <a:extLst>
              <a:ext uri="{FF2B5EF4-FFF2-40B4-BE49-F238E27FC236}">
                <a16:creationId xmlns:a16="http://schemas.microsoft.com/office/drawing/2014/main" id="{D2A7C87D-E79C-C699-E1D3-136DCACC585D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607C67-86A9-3AF2-FD04-BC932D382206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D46C18-123E-9567-EBCA-E42389BB4AE3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356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34A154-772D-4C49-A009-511509B24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02" y="26064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Цель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9DCC2A-2C89-4EEA-BC31-A7838A8ED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3168352"/>
          </a:xfrm>
        </p:spPr>
        <p:txBody>
          <a:bodyPr>
            <a:noAutofit/>
          </a:bodyPr>
          <a:lstStyle/>
          <a:p>
            <a:pPr marL="0" indent="0" algn="just">
              <a:buSzPts val="1400"/>
              <a:buNone/>
            </a:pPr>
            <a:r>
              <a:rPr lang="ru-RU" sz="2000" b="1" spc="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Cambria" panose="02040503050406030204" pitchFamily="18" charset="0"/>
              </a:rPr>
              <a:t>Рассмотрение  специализированных </a:t>
            </a:r>
            <a:r>
              <a:rPr lang="ru-RU" sz="2000" b="1" dirty="0">
                <a:solidFill>
                  <a:srgbClr val="FF0000"/>
                </a:solidFill>
                <a:ea typeface="Times New Roman" panose="02020603050405020304" pitchFamily="18" charset="0"/>
                <a:cs typeface="Cambria" panose="02040503050406030204" pitchFamily="18" charset="0"/>
              </a:rPr>
              <a:t>«</a:t>
            </a:r>
            <a:r>
              <a:rPr lang="en-US" sz="2000" b="1" dirty="0">
                <a:solidFill>
                  <a:srgbClr val="FF0000"/>
                </a:solidFill>
                <a:ea typeface="Times New Roman" panose="02020603050405020304" pitchFamily="18" charset="0"/>
                <a:cs typeface="Cambria" panose="02040503050406030204" pitchFamily="18" charset="0"/>
              </a:rPr>
              <a:t>frozen</a:t>
            </a:r>
            <a:r>
              <a:rPr lang="ru-RU" sz="2000" b="1" dirty="0">
                <a:solidFill>
                  <a:srgbClr val="FF0000"/>
                </a:solidFill>
                <a:ea typeface="Times New Roman" panose="02020603050405020304" pitchFamily="18" charset="0"/>
                <a:cs typeface="Cambria" panose="02040503050406030204" pitchFamily="18" charset="0"/>
              </a:rPr>
              <a:t>» и «</a:t>
            </a:r>
            <a:r>
              <a:rPr lang="en-US" sz="2000" b="1" dirty="0">
                <a:solidFill>
                  <a:srgbClr val="FF0000"/>
                </a:solidFill>
                <a:ea typeface="Times New Roman" panose="02020603050405020304" pitchFamily="18" charset="0"/>
                <a:cs typeface="Cambria" panose="02040503050406030204" pitchFamily="18" charset="0"/>
              </a:rPr>
              <a:t>quasi-frozen spin</a:t>
            </a:r>
            <a:r>
              <a:rPr lang="ru-RU" sz="2000" b="1" dirty="0">
                <a:solidFill>
                  <a:srgbClr val="FF0000"/>
                </a:solidFill>
                <a:ea typeface="Times New Roman" panose="02020603050405020304" pitchFamily="18" charset="0"/>
                <a:cs typeface="Cambria" panose="02040503050406030204" pitchFamily="18" charset="0"/>
              </a:rPr>
              <a:t>»</a:t>
            </a:r>
            <a:r>
              <a:rPr lang="en-US" sz="2000" b="1" dirty="0">
                <a:solidFill>
                  <a:srgbClr val="FF0000"/>
                </a:solidFill>
                <a:ea typeface="Times New Roman" panose="02020603050405020304" pitchFamily="18" charset="0"/>
                <a:cs typeface="Cambria" panose="02040503050406030204" pitchFamily="18" charset="0"/>
              </a:rPr>
              <a:t> </a:t>
            </a:r>
            <a:r>
              <a:rPr lang="ru-RU" sz="2000" b="1" dirty="0">
                <a:solidFill>
                  <a:srgbClr val="FF0000"/>
                </a:solidFill>
                <a:ea typeface="Times New Roman" panose="02020603050405020304" pitchFamily="18" charset="0"/>
                <a:cs typeface="Cambria" panose="02040503050406030204" pitchFamily="18" charset="0"/>
              </a:rPr>
              <a:t>магнитооптических </a:t>
            </a:r>
            <a:r>
              <a:rPr lang="ru-RU" sz="2000" b="1" spc="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Cambria" panose="02040503050406030204" pitchFamily="18" charset="0"/>
              </a:rPr>
              <a:t>структур для  пучка  поляризованных  дейтронов с энергией 135 МэВ/нуклон и протонов 250 МэВ</a:t>
            </a:r>
            <a:r>
              <a:rPr lang="ru-RU" sz="2000" b="1" spc="0" dirty="0">
                <a:solidFill>
                  <a:schemeClr val="accent1"/>
                </a:solidFill>
                <a:effectLst/>
                <a:ea typeface="Times New Roman" panose="02020603050405020304" pitchFamily="18" charset="0"/>
                <a:cs typeface="Cambria" panose="02040503050406030204" pitchFamily="18" charset="0"/>
              </a:rPr>
              <a:t>. </a:t>
            </a:r>
          </a:p>
          <a:p>
            <a:pPr marL="0" indent="0" algn="just">
              <a:buSzPts val="1400"/>
              <a:buNone/>
            </a:pPr>
            <a:endParaRPr lang="ru-RU" sz="2000" b="1" dirty="0">
              <a:solidFill>
                <a:schemeClr val="accent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SzPts val="1400"/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докладе представлены три возможные физические </a:t>
            </a: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установки, использующие поляризованные пучки протонов и дейтронов в режиме «замороженного» и «квази-замороженного спина», </a:t>
            </a:r>
            <a:r>
              <a:rPr lang="ru-RU" sz="2000" b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которые могли бы быть адаптированы</a:t>
            </a:r>
            <a:r>
              <a:rPr lang="en-US" sz="2000" b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2000" b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разработаны для поиска электрического дипольного момента. </a:t>
            </a: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29A9FE74-9F21-2C00-E979-60243D51FC30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88ae095048.jpg" descr="88ae095048.jpg">
            <a:extLst>
              <a:ext uri="{FF2B5EF4-FFF2-40B4-BE49-F238E27FC236}">
                <a16:creationId xmlns:a16="http://schemas.microsoft.com/office/drawing/2014/main" id="{B2623811-544B-0504-0379-CE04C4F1C86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BE32232E-B6A7-0F36-7E4B-B646B4428D0D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5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日付プレースホルダー 14">
            <a:extLst>
              <a:ext uri="{FF2B5EF4-FFF2-40B4-BE49-F238E27FC236}">
                <a16:creationId xmlns:a16="http://schemas.microsoft.com/office/drawing/2014/main" id="{231C72D8-7584-84A5-E153-41C5E5D79458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6EA39E-E22B-82DB-03A5-CE573CECD910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4A54E2-6EFF-1B60-018E-8950A84211B3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681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54F2CA-B2FB-49ED-AD64-D31C2A82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82154"/>
          </a:xfrm>
        </p:spPr>
        <p:txBody>
          <a:bodyPr>
            <a:noAutofit/>
          </a:bodyPr>
          <a:lstStyle/>
          <a:p>
            <a:r>
              <a:rPr lang="ru-RU" sz="2400" b="1" cap="all" dirty="0">
                <a:solidFill>
                  <a:srgbClr val="FF0000"/>
                </a:solidFill>
                <a:effectLst/>
                <a:latin typeface="+mn-lt"/>
                <a:ea typeface="SimSun" panose="02010600030101010101" pitchFamily="2" charset="-122"/>
              </a:rPr>
              <a:t>ОСНОВНОЙ ПРИНЦИП построения магнитооптической структуры накопительного кольца для исследования ЭДМ ЗАРЯЖЕННОЙ ЧАСТИЦЫ</a:t>
            </a:r>
            <a:endParaRPr lang="ru-RU" sz="24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477C72A-DF86-4334-89D5-89F4BD2C9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700" y="1670882"/>
                <a:ext cx="8229600" cy="4810546"/>
              </a:xfrm>
            </p:spPr>
            <p:txBody>
              <a:bodyPr>
                <a:normAutofit lnSpcReduction="10000"/>
              </a:bodyPr>
              <a:lstStyle/>
              <a:p>
                <a:pPr indent="0" algn="just">
                  <a:buNone/>
                </a:pPr>
                <a:r>
                  <a:rPr lang="ru-RU" sz="20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Основная идея измерения EDM с использованием ускорительного кольца следует из уравнения "Thomas-</a:t>
                </a:r>
                <a:r>
                  <a:rPr lang="ru-RU" sz="2000" b="1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Bargmann</a:t>
                </a:r>
                <a:r>
                  <a:rPr lang="ru-RU" sz="20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ru-RU" sz="2000" b="1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Michel</a:t>
                </a:r>
                <a:r>
                  <a:rPr lang="ru-RU" sz="20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ru-RU" sz="2000" b="1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Telegdy</a:t>
                </a:r>
                <a:r>
                  <a:rPr lang="ru-RU" sz="20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":</a:t>
                </a:r>
                <a:endParaRPr lang="ru-RU" sz="20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9160" indent="12700" algn="r"/>
                <a14:m>
                  <m:oMath xmlns:m="http://schemas.openxmlformats.org/officeDocument/2006/math">
                    <m:f>
                      <m:f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</m:t>
                        </m:r>
                        <m:limUpp>
                          <m:limUpp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UppPr>
                          <m:e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𝑆</m:t>
                            </m:r>
                          </m:e>
                          <m:lim>
                            <m:r>
                              <a:rPr lang="ru-RU" sz="2200" b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→</m:t>
                            </m:r>
                          </m:lim>
                        </m:limUpp>
                      </m:num>
                      <m:den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𝑑𝑡</m:t>
                        </m:r>
                      </m:den>
                    </m:f>
                    <m:r>
                      <a:rPr lang="ru-RU" sz="2200" b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limUpp>
                      <m:limUpp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limUppPr>
                      <m:e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𝑆</m:t>
                        </m:r>
                      </m:e>
                      <m:lim>
                        <m:r>
                          <a:rPr lang="ru-RU" sz="2200" b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→</m:t>
                        </m:r>
                      </m:lim>
                    </m:limUpp>
                    <m:r>
                      <a:rPr lang="ru-RU" sz="2200" b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×</m:t>
                    </m:r>
                    <m:d>
                      <m:d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limUpp>
                              <m:limUppPr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limUppPr>
                              <m:e>
                                <m:r>
                                  <a:rPr lang="ru-RU" sz="2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𝛺</m:t>
                                </m:r>
                              </m:e>
                              <m:lim>
                                <m:r>
                                  <a:rPr lang="ru-RU" sz="2200" b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→</m:t>
                                </m:r>
                              </m:lim>
                            </m:limUpp>
                          </m:e>
                          <m:sub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𝑚𝑑𝑚</m:t>
                            </m:r>
                          </m:sub>
                        </m:sSub>
                        <m:r>
                          <a:rPr lang="ru-RU" sz="2200" b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limUpp>
                              <m:limUppPr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limUppPr>
                              <m:e>
                                <m:r>
                                  <a:rPr lang="ru-RU" sz="2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𝛺</m:t>
                                </m:r>
                              </m:e>
                              <m:lim>
                                <m:r>
                                  <a:rPr lang="ru-RU" sz="2200" b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→</m:t>
                                </m:r>
                              </m:lim>
                            </m:limUpp>
                          </m:e>
                          <m:sub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𝑒𝑑𝑚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						</a:t>
                </a:r>
                <a:endParaRPr lang="ru-RU" sz="2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r">
                  <a:buNone/>
                </a:pPr>
                <a:r>
                  <a:rPr lang="ru-RU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UppPr>
                          <m:e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𝛺</m:t>
                            </m:r>
                          </m:e>
                          <m:lim>
                            <m:r>
                              <a:rPr lang="ru-RU" sz="2200" b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→</m:t>
                            </m:r>
                          </m:lim>
                        </m:limUpp>
                      </m:e>
                      <m:sub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𝑚𝑑𝑚</m:t>
                        </m:r>
                      </m:sub>
                    </m:sSub>
                    <m:r>
                      <a:rPr lang="ru-RU" sz="2200" b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𝑒</m:t>
                        </m:r>
                      </m:num>
                      <m:den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</m:t>
                        </m:r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𝛾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𝛾</m:t>
                            </m:r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𝐺</m:t>
                            </m:r>
                            <m:r>
                              <a:rPr lang="ru-RU" sz="2200" b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+</m:t>
                            </m:r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e>
                        </m:d>
                        <m:sSub>
                          <m:sSub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ru-RU" sz="2200" b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⊥</m:t>
                            </m:r>
                          </m:sub>
                        </m:sSub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d>
                          <m:d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𝛾</m:t>
                            </m:r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𝐺</m:t>
                            </m:r>
                            <m:r>
                              <a:rPr lang="ru-RU" sz="2200" b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ru-RU" sz="2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𝛾</m:t>
                                </m:r>
                              </m:num>
                              <m:den>
                                <m:r>
                                  <a:rPr lang="ru-RU" sz="2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𝛾</m:t>
                                </m:r>
                                <m:r>
                                  <a:rPr lang="ru-RU" sz="2200" b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ru-RU" sz="2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f>
                          <m:f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fPr>
                          <m:num>
                            <m:limUpp>
                              <m:limUppPr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limUppPr>
                              <m:e>
                                <m:r>
                                  <a:rPr lang="ru-RU" sz="2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𝛽</m:t>
                                </m:r>
                              </m:e>
                              <m:lim>
                                <m:r>
                                  <a:rPr lang="ru-RU" sz="2200" b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→</m:t>
                                </m:r>
                              </m:lim>
                            </m:limUpp>
                            <m:r>
                              <a:rPr lang="ru-RU" sz="2200" b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×</m:t>
                            </m:r>
                            <m:limUpp>
                              <m:limUppPr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limUppPr>
                              <m:e>
                                <m:r>
                                  <a:rPr lang="ru-RU" sz="2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𝐸</m:t>
                                </m:r>
                              </m:e>
                              <m:lim>
                                <m:r>
                                  <a:rPr lang="ru-RU" sz="2200" b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→</m:t>
                                </m:r>
                              </m:lim>
                            </m:limUpp>
                          </m:num>
                          <m:den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lang="ru-RU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			   (1)</a:t>
                </a:r>
                <a:endParaRPr lang="ru-RU" sz="2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9160" indent="0" algn="r">
                  <a:buNone/>
                </a:pPr>
                <a:r>
                  <a:rPr lang="ru-RU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UppPr>
                          <m:e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𝛺</m:t>
                            </m:r>
                          </m:e>
                          <m:lim>
                            <m:r>
                              <a:rPr lang="ru-RU" sz="2200" b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→</m:t>
                            </m:r>
                          </m:lim>
                        </m:limUpp>
                      </m:e>
                      <m:sub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𝑒𝑑𝑚</m:t>
                        </m:r>
                      </m:sub>
                    </m:sSub>
                    <m:r>
                      <a:rPr lang="ru-RU" sz="2200" b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𝑒</m:t>
                        </m:r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𝜂</m:t>
                        </m:r>
                      </m:num>
                      <m:den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</m:t>
                        </m:r>
                      </m:den>
                    </m:f>
                    <m:d>
                      <m:d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limUpp>
                          <m:limUpp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UppPr>
                          <m:e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𝛽</m:t>
                            </m:r>
                          </m:e>
                          <m:lim>
                            <m:r>
                              <a:rPr lang="ru-RU" sz="2200" b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→</m:t>
                            </m:r>
                          </m:lim>
                        </m:limUpp>
                        <m:r>
                          <a:rPr lang="ru-RU" sz="2200" b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×</m:t>
                        </m:r>
                        <m:limUpp>
                          <m:limUpp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UppPr>
                          <m:e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𝐵</m:t>
                            </m:r>
                          </m:e>
                          <m:lim>
                            <m:r>
                              <a:rPr lang="ru-RU" sz="2200" b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→</m:t>
                            </m:r>
                          </m:lim>
                        </m:limUpp>
                        <m:r>
                          <a:rPr lang="ru-RU" sz="2200" b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fPr>
                          <m:num>
                            <m:limUpp>
                              <m:limUppPr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limUppPr>
                              <m:e>
                                <m:r>
                                  <a:rPr lang="ru-RU" sz="2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𝐸</m:t>
                                </m:r>
                              </m:e>
                              <m:lim>
                                <m:r>
                                  <a:rPr lang="ru-RU" sz="2200" b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→</m:t>
                                </m:r>
                              </m:lim>
                            </m:limUpp>
                          </m:num>
                          <m:den>
                            <m:r>
                              <a:rPr lang="ru-RU" sz="22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lang="ru-RU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							</a:t>
                </a:r>
                <a:endParaRPr lang="ru-RU" sz="2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9160" indent="0" algn="r">
                  <a:buNone/>
                </a:pPr>
                <a14:m>
                  <m:oMath xmlns:m="http://schemas.openxmlformats.org/officeDocument/2006/math">
                    <m:r>
                      <a:rPr lang="ru-RU" sz="22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𝐺</m:t>
                    </m:r>
                    <m:r>
                      <a:rPr lang="ru-RU" sz="2200" b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𝑔</m:t>
                        </m:r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−2</m:t>
                        </m:r>
                      </m:num>
                      <m:den>
                        <m:r>
                          <a:rPr lang="ru-RU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ru-RU" sz="2200" b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</m:oMath>
                </a14:m>
                <a:r>
                  <a:rPr lang="ru-RU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					</a:t>
                </a:r>
                <a:endParaRPr lang="ru-RU" sz="2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477C72A-DF86-4334-89D5-89F4BD2C9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700" y="1670882"/>
                <a:ext cx="8229600" cy="4810546"/>
              </a:xfrm>
              <a:blipFill>
                <a:blip r:embed="rId2"/>
                <a:stretch>
                  <a:fillRect t="-1316" r="-9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F7BBF57A-8E36-3D4D-D89B-44C47A261D7B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88ae095048.jpg" descr="88ae095048.jpg">
            <a:extLst>
              <a:ext uri="{FF2B5EF4-FFF2-40B4-BE49-F238E27FC236}">
                <a16:creationId xmlns:a16="http://schemas.microsoft.com/office/drawing/2014/main" id="{1823791C-0BE7-B4BF-99BA-403B8D40D16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62CE0EA2-FCFD-B926-8CC8-A4CE553720C7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6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日付プレースホルダー 14">
            <a:extLst>
              <a:ext uri="{FF2B5EF4-FFF2-40B4-BE49-F238E27FC236}">
                <a16:creationId xmlns:a16="http://schemas.microsoft.com/office/drawing/2014/main" id="{CDE1CE99-B15E-8E21-808B-6ED58F6A3D18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4AB18E-3D8E-82C6-34E9-02BC28AD58CE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6AC60-C977-EB0E-4516-E17BF01A1467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7345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7F674-73D3-4956-8256-80D26E44A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00" y="251505"/>
            <a:ext cx="8229600" cy="1143000"/>
          </a:xfrm>
        </p:spPr>
        <p:txBody>
          <a:bodyPr>
            <a:normAutofit/>
          </a:bodyPr>
          <a:lstStyle/>
          <a:p>
            <a:r>
              <a:rPr lang="ru-RU" sz="2400" b="1" cap="all" dirty="0">
                <a:solidFill>
                  <a:srgbClr val="FF0000"/>
                </a:solidFill>
                <a:effectLst/>
                <a:latin typeface="+mn-lt"/>
                <a:ea typeface="SimSun" panose="02010600030101010101" pitchFamily="2" charset="-122"/>
              </a:rPr>
              <a:t>ПРИНЦИП построения магнитооптической структуры</a:t>
            </a:r>
            <a:endParaRPr lang="ru-RU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73151F-CDBB-4545-82C4-D5BB8DF6C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844824"/>
            <a:ext cx="8439782" cy="3816424"/>
          </a:xfrm>
        </p:spPr>
        <p:txBody>
          <a:bodyPr>
            <a:normAutofit/>
          </a:bodyPr>
          <a:lstStyle/>
          <a:p>
            <a:pPr indent="0" algn="just">
              <a:lnSpc>
                <a:spcPts val="2400"/>
              </a:lnSpc>
              <a:buNone/>
            </a:pPr>
            <a:r>
              <a:rPr lang="ru-RU" sz="2000" b="1" dirty="0">
                <a:ea typeface="Calibri" panose="020F0502020204030204" pitchFamily="34" charset="0"/>
              </a:rPr>
              <a:t>Для накопления сигнала ЭДМ </a:t>
            </a:r>
            <a:r>
              <a:rPr lang="ru-RU" sz="2000" b="1" dirty="0">
                <a:effectLst/>
                <a:ea typeface="Calibri" panose="020F0502020204030204" pitchFamily="34" charset="0"/>
              </a:rPr>
              <a:t>ориентация векторов спина и продольного импульса должны быть постоянно (или в среднем по времени) </a:t>
            </a:r>
            <a:r>
              <a:rPr lang="ru-RU" sz="2000" b="1" dirty="0" err="1">
                <a:effectLst/>
                <a:ea typeface="Calibri" panose="020F0502020204030204" pitchFamily="34" charset="0"/>
              </a:rPr>
              <a:t>сонаправлены</a:t>
            </a:r>
            <a:r>
              <a:rPr lang="ru-RU" sz="2000" b="1" dirty="0">
                <a:effectLst/>
                <a:ea typeface="Calibri" panose="020F0502020204030204" pitchFamily="34" charset="0"/>
              </a:rPr>
              <a:t> S → ↑↑ p. </a:t>
            </a:r>
          </a:p>
          <a:p>
            <a:pPr indent="0" algn="just">
              <a:lnSpc>
                <a:spcPts val="2400"/>
              </a:lnSpc>
              <a:buNone/>
            </a:pPr>
            <a:endParaRPr lang="ru-RU" sz="2000" b="1" dirty="0">
              <a:effectLst/>
              <a:ea typeface="Times New Roman" panose="02020603050405020304" pitchFamily="18" charset="0"/>
            </a:endParaRPr>
          </a:p>
          <a:p>
            <a:pPr indent="0" algn="just">
              <a:lnSpc>
                <a:spcPts val="2400"/>
              </a:lnSpc>
              <a:buNone/>
            </a:pPr>
            <a:r>
              <a:rPr lang="ru-RU" sz="2000" b="1" dirty="0">
                <a:effectLst/>
                <a:ea typeface="Calibri" panose="020F0502020204030204" pitchFamily="34" charset="0"/>
              </a:rPr>
              <a:t>Это условие называется </a:t>
            </a:r>
            <a:r>
              <a:rPr lang="ru-RU" sz="2000" b="1" dirty="0">
                <a:solidFill>
                  <a:srgbClr val="CC0099"/>
                </a:solidFill>
                <a:effectLst/>
                <a:ea typeface="Calibri" panose="020F0502020204030204" pitchFamily="34" charset="0"/>
              </a:rPr>
              <a:t>«замороженностью» </a:t>
            </a:r>
            <a:r>
              <a:rPr lang="ru-RU" sz="2000" b="1" dirty="0">
                <a:effectLst/>
                <a:ea typeface="Calibri" panose="020F0502020204030204" pitchFamily="34" charset="0"/>
              </a:rPr>
              <a:t>или в общем случае </a:t>
            </a:r>
            <a:r>
              <a:rPr lang="ru-RU" sz="2000" b="1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«квази-замороженностью» </a:t>
            </a:r>
            <a:r>
              <a:rPr lang="ru-RU" sz="2000" b="1" dirty="0">
                <a:effectLst/>
                <a:ea typeface="Calibri" panose="020F0502020204030204" pitchFamily="34" charset="0"/>
              </a:rPr>
              <a:t>спина в зависимости от точности и способа его выполнения.</a:t>
            </a:r>
          </a:p>
          <a:p>
            <a:pPr indent="0" algn="just">
              <a:lnSpc>
                <a:spcPts val="2400"/>
              </a:lnSpc>
              <a:buNone/>
            </a:pPr>
            <a:endParaRPr lang="ru-RU" sz="2000" b="1" dirty="0">
              <a:ea typeface="Calibri" panose="020F0502020204030204" pitchFamily="34" charset="0"/>
            </a:endParaRPr>
          </a:p>
          <a:p>
            <a:pPr indent="0" algn="just">
              <a:lnSpc>
                <a:spcPts val="2400"/>
              </a:lnSpc>
              <a:buNone/>
            </a:pPr>
            <a:r>
              <a:rPr lang="ru-RU" sz="2000" b="1" dirty="0">
                <a:effectLst/>
                <a:ea typeface="Calibri" panose="020F0502020204030204" pitchFamily="34" charset="0"/>
              </a:rPr>
              <a:t>Исходя из этих условий все структуры могут быть отнесены</a:t>
            </a:r>
          </a:p>
          <a:p>
            <a:pPr indent="0" algn="just">
              <a:lnSpc>
                <a:spcPts val="2400"/>
              </a:lnSpc>
              <a:buNone/>
            </a:pPr>
            <a:r>
              <a:rPr lang="ru-RU" sz="2000" b="1" dirty="0">
                <a:ea typeface="Calibri" panose="020F0502020204030204" pitchFamily="34" charset="0"/>
              </a:rPr>
              <a:t>к двум классам</a:t>
            </a:r>
            <a:r>
              <a:rPr lang="en-US" sz="2000" b="1" dirty="0">
                <a:ea typeface="Calibri" panose="020F0502020204030204" pitchFamily="34" charset="0"/>
              </a:rPr>
              <a:t>: </a:t>
            </a:r>
            <a:r>
              <a:rPr lang="ru-RU" sz="2000" b="1" dirty="0">
                <a:ea typeface="Calibri" panose="020F0502020204030204" pitchFamily="34" charset="0"/>
              </a:rPr>
              <a:t>структуры с «замороженным» и «квази-замороженным» спином</a:t>
            </a:r>
            <a:endParaRPr lang="ru-RU" sz="2000" b="1" dirty="0">
              <a:effectLst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57F19ED4-8EA3-6A27-F4A7-153ED0ACB9FA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88ae095048.jpg" descr="88ae095048.jpg">
            <a:extLst>
              <a:ext uri="{FF2B5EF4-FFF2-40B4-BE49-F238E27FC236}">
                <a16:creationId xmlns:a16="http://schemas.microsoft.com/office/drawing/2014/main" id="{16A8AE21-C96A-5BB7-4F33-4C2EC91D245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56D8E1DC-CD38-DDEC-B70C-FBB77A67E3B4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7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日付プレースホルダー 14">
            <a:extLst>
              <a:ext uri="{FF2B5EF4-FFF2-40B4-BE49-F238E27FC236}">
                <a16:creationId xmlns:a16="http://schemas.microsoft.com/office/drawing/2014/main" id="{CDE542E7-27BB-AF25-B4E4-5B9AD0137692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939953-294B-5284-1863-8D6736F860C5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41227-4731-4E2F-3335-5A36C6F95783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5941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CCBAA-DBBC-463C-95D5-2183D3D3B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97" y="1341994"/>
            <a:ext cx="8229600" cy="5161228"/>
          </a:xfrm>
        </p:spPr>
        <p:txBody>
          <a:bodyPr>
            <a:normAutofit fontScale="90000"/>
          </a:bodyPr>
          <a:lstStyle/>
          <a:p>
            <a:pPr algn="l"/>
            <a:r>
              <a:rPr lang="en-US" sz="2000" b="1" dirty="0">
                <a:solidFill>
                  <a:srgbClr val="0033CC"/>
                </a:solidFill>
              </a:rPr>
              <a:t>FDM</a:t>
            </a:r>
            <a:r>
              <a:rPr lang="en-US" sz="2000" dirty="0"/>
              <a:t> </a:t>
            </a:r>
            <a:r>
              <a:rPr lang="ru-RU" sz="2000" dirty="0"/>
              <a:t>основан на четырех фундаментальных особенностях: </a:t>
            </a:r>
            <a:br>
              <a:rPr lang="en-US" sz="2000" dirty="0"/>
            </a:br>
            <a:br>
              <a:rPr lang="ru-RU" sz="2000" dirty="0"/>
            </a:br>
            <a:r>
              <a:rPr lang="ru-RU" sz="2000" dirty="0"/>
              <a:t>- измерение полной частоты прецессии спина, обусловленной электрическим и магнитным дипольными моментами в несовершенном кольце в вертикальной плоскости, с абсолютной статистической погрешностью ~10⁻⁷ рад/с для одного заполнения кольца; 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- положение элементов кольца остается неизменным при переходе от вращения по часовой стрелке (CW) к вращению против часовой стрелки (CCW); 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- калибровка эффективного фактора Лоренца с использованием измерения частоты прецессии спина в горизонтальной плоскости проводится попеременно в каждом вращении по часовой и против часовой стрелки; 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- устанавливается приблизительное соотношение между частотами спина в разных плоскостях таким образом, чтобы исключить их смешивание с вертикальной частотой ожидаемого сигнала ЭДМ на уровне статистической чувствительности, приближающемся к 10⁻²⁹ е см⁻¹.</a:t>
            </a:r>
            <a:endParaRPr lang="ru-RU" sz="3200" dirty="0"/>
          </a:p>
        </p:txBody>
      </p:sp>
      <p:sp>
        <p:nvSpPr>
          <p:cNvPr id="3" name="正方形/長方形 43">
            <a:extLst>
              <a:ext uri="{FF2B5EF4-FFF2-40B4-BE49-F238E27FC236}">
                <a16:creationId xmlns:a16="http://schemas.microsoft.com/office/drawing/2014/main" id="{306AAFFD-E508-6BDB-E17E-4DC6C8D78961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88ae095048.jpg" descr="88ae095048.jpg">
            <a:extLst>
              <a:ext uri="{FF2B5EF4-FFF2-40B4-BE49-F238E27FC236}">
                <a16:creationId xmlns:a16="http://schemas.microsoft.com/office/drawing/2014/main" id="{F8E92A30-56EA-60FD-1E86-E202528549F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A4F6165E-B301-1FC5-8655-C0F7411243AD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8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6" name="日付プレースホルダー 14">
            <a:extLst>
              <a:ext uri="{FF2B5EF4-FFF2-40B4-BE49-F238E27FC236}">
                <a16:creationId xmlns:a16="http://schemas.microsoft.com/office/drawing/2014/main" id="{8DD06BB2-DF88-3D6B-B190-EBB36C9B6860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EABAC-8298-CCBC-67E5-EC1F25ACF5EC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1C683-58C4-AEDC-77B8-D9F691BE910A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08A0D4-5FCE-442C-E15F-E9157BF2A351}"/>
              </a:ext>
            </a:extLst>
          </p:cNvPr>
          <p:cNvSpPr txBox="1"/>
          <p:nvPr/>
        </p:nvSpPr>
        <p:spPr>
          <a:xfrm>
            <a:off x="461703" y="200330"/>
            <a:ext cx="8163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  <a:latin typeface="+mn-lt"/>
              </a:rPr>
              <a:t>Для поиска ЭДМ разработан </a:t>
            </a:r>
            <a:r>
              <a:rPr lang="en-US" sz="2400" b="1" dirty="0">
                <a:solidFill>
                  <a:srgbClr val="FF0000"/>
                </a:solidFill>
                <a:latin typeface="+mn-lt"/>
              </a:rPr>
              <a:t>F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requency </a:t>
            </a:r>
            <a:r>
              <a:rPr lang="en-US" sz="2400" b="1" dirty="0">
                <a:solidFill>
                  <a:srgbClr val="FF0000"/>
                </a:solidFill>
                <a:latin typeface="+mn-lt"/>
              </a:rPr>
              <a:t>D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omain </a:t>
            </a:r>
            <a:r>
              <a:rPr lang="en-US" sz="2400" b="1" dirty="0">
                <a:solidFill>
                  <a:srgbClr val="FF0000"/>
                </a:solidFill>
                <a:latin typeface="+mn-lt"/>
              </a:rPr>
              <a:t>M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ethod </a:t>
            </a:r>
            <a:r>
              <a:rPr lang="ru-RU" sz="2400" dirty="0">
                <a:solidFill>
                  <a:srgbClr val="FF0000"/>
                </a:solidFill>
                <a:latin typeface="+mn-lt"/>
              </a:rPr>
              <a:t>основанный исключительно на измерении частоты прецессии спина</a:t>
            </a:r>
          </a:p>
        </p:txBody>
      </p:sp>
    </p:spTree>
    <p:extLst>
      <p:ext uri="{BB962C8B-B14F-4D97-AF65-F5344CB8AC3E}">
        <p14:creationId xmlns:p14="http://schemas.microsoft.com/office/powerpoint/2010/main" val="2986508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62676"/>
            <a:ext cx="7772400" cy="515144"/>
          </a:xfrm>
        </p:spPr>
        <p:txBody>
          <a:bodyPr>
            <a:normAutofit/>
          </a:bodyPr>
          <a:lstStyle/>
          <a:p>
            <a:r>
              <a:rPr lang="en-GB" sz="26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Domain Method:</a:t>
            </a:r>
            <a:r>
              <a:rPr lang="en-GB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basic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8208912" cy="4751040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finally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</a:t>
            </a:r>
          </a:p>
          <a:p>
            <a:pPr marL="0" indent="0">
              <a:buNone/>
            </a:pPr>
            <a:r>
              <a:rPr lang="en-GB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Main idea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:     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to make the contribution from EDM frequency into</a:t>
            </a:r>
          </a:p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total  frequency          bigger than from MDM  additions          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55576" y="1844848"/>
          <a:ext cx="408146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520560" progId="Equation.3">
                  <p:embed/>
                </p:oleObj>
              </mc:Choice>
              <mc:Fallback>
                <p:oleObj name="Equation" r:id="rId2" imgW="2108160" imgH="52056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844848"/>
                        <a:ext cx="4081463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ight Arrow 4"/>
          <p:cNvSpPr/>
          <p:nvPr/>
        </p:nvSpPr>
        <p:spPr>
          <a:xfrm>
            <a:off x="4932040" y="2276872"/>
            <a:ext cx="288032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220072" y="1809353"/>
          <a:ext cx="354012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482400" progId="Equation.3">
                  <p:embed/>
                </p:oleObj>
              </mc:Choice>
              <mc:Fallback>
                <p:oleObj name="Equation" r:id="rId4" imgW="1828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1809353"/>
                        <a:ext cx="3540125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827584" y="3426212"/>
          <a:ext cx="24828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482400" progId="Equation.3">
                  <p:embed/>
                </p:oleObj>
              </mc:Choice>
              <mc:Fallback>
                <p:oleObj name="Equation" r:id="rId6" imgW="1282680" imgH="4824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426212"/>
                        <a:ext cx="248285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582577" y="3643984"/>
          <a:ext cx="236061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18960" imgH="457200" progId="Equation.3">
                  <p:embed/>
                </p:oleObj>
              </mc:Choice>
              <mc:Fallback>
                <p:oleObj name="Equation" r:id="rId8" imgW="1218960" imgH="45720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2577" y="3643984"/>
                        <a:ext cx="2360612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5580112" y="3582841"/>
            <a:ext cx="2664296" cy="1008112"/>
          </a:xfrm>
          <a:prstGeom prst="rect">
            <a:avLst/>
          </a:prstGeom>
          <a:solidFill>
            <a:srgbClr val="FF0000">
              <a:alpha val="1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>
            <a:off x="4689621" y="3776007"/>
            <a:ext cx="262694" cy="310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2915816" y="5589240"/>
          <a:ext cx="362899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80" imgH="139680" progId="Equation.3">
                  <p:embed/>
                </p:oleObj>
              </mc:Choice>
              <mc:Fallback>
                <p:oleObj name="Equation" r:id="rId10" imgW="139680" imgH="139680" progId="Equation.3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5589240"/>
                        <a:ext cx="362899" cy="432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308304" y="5589240"/>
          <a:ext cx="12604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500" imgH="279400" progId="Equation.3">
                  <p:embed/>
                </p:oleObj>
              </mc:Choice>
              <mc:Fallback>
                <p:oleObj name="Equation" r:id="rId12" imgW="698500" imgH="279400" progId="Equation.3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304" y="5589240"/>
                        <a:ext cx="12604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8DE65B92-84D8-7BCD-B569-694A8CC4BE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752" y="1092066"/>
          <a:ext cx="34575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81080" imgH="330120" progId="Equation.3">
                  <p:embed/>
                </p:oleObj>
              </mc:Choice>
              <mc:Fallback>
                <p:oleObj name="Equation" r:id="rId14" imgW="1981080" imgH="330120" progId="Equation.3">
                  <p:embed/>
                  <p:pic>
                    <p:nvPicPr>
                      <p:cNvPr id="13" name="Object 4">
                        <a:extLst>
                          <a:ext uri="{FF2B5EF4-FFF2-40B4-BE49-F238E27FC236}">
                            <a16:creationId xmlns:a16="http://schemas.microsoft.com/office/drawing/2014/main" id="{8DE65B92-84D8-7BCD-B569-694A8CC4BE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092066"/>
                        <a:ext cx="34575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正方形/長方形 43">
            <a:extLst>
              <a:ext uri="{FF2B5EF4-FFF2-40B4-BE49-F238E27FC236}">
                <a16:creationId xmlns:a16="http://schemas.microsoft.com/office/drawing/2014/main" id="{BB1009DB-D40A-763F-A97F-77E813D3D569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5" name="88ae095048.jpg" descr="88ae095048.jpg">
            <a:extLst>
              <a:ext uri="{FF2B5EF4-FFF2-40B4-BE49-F238E27FC236}">
                <a16:creationId xmlns:a16="http://schemas.microsoft.com/office/drawing/2014/main" id="{C3FBBFA9-485B-7981-3799-FD79E455402D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スライド番号プレースホルダー 16">
            <a:extLst>
              <a:ext uri="{FF2B5EF4-FFF2-40B4-BE49-F238E27FC236}">
                <a16:creationId xmlns:a16="http://schemas.microsoft.com/office/drawing/2014/main" id="{92860202-4896-43B0-C903-333AF7E22A3F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9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7" name="日付プレースホルダー 14">
            <a:extLst>
              <a:ext uri="{FF2B5EF4-FFF2-40B4-BE49-F238E27FC236}">
                <a16:creationId xmlns:a16="http://schemas.microsoft.com/office/drawing/2014/main" id="{DEF3CB62-C9F5-35C8-266F-B861316CAD47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F4B491-BABD-FFEC-2BAE-F60ABD4AC190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22D877-550E-E90E-9614-C384E744D508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49633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/>
          <p:cNvSpPr>
            <a:spLocks noGrp="1"/>
          </p:cNvSpPr>
          <p:nvPr>
            <p:ph idx="17"/>
          </p:nvPr>
        </p:nvSpPr>
        <p:spPr>
          <a:xfrm>
            <a:off x="705025" y="343667"/>
            <a:ext cx="7956458" cy="836760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FF0000"/>
                </a:solidFill>
                <a:latin typeface="+mn-lt"/>
              </a:rPr>
              <a:t>Для измерения частоты прецессии спина использовался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EDDA Polarimeter</a:t>
            </a:r>
          </a:p>
        </p:txBody>
      </p:sp>
      <p:pic>
        <p:nvPicPr>
          <p:cNvPr id="7" name="Inhaltsplatzhalter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759" y="1426025"/>
            <a:ext cx="3960440" cy="2160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tx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" t="5055" r="4435" b="6817"/>
          <a:stretch/>
        </p:blipFill>
        <p:spPr bwMode="auto">
          <a:xfrm>
            <a:off x="4718153" y="3809257"/>
            <a:ext cx="3915513" cy="2529638"/>
          </a:xfrm>
          <a:prstGeom prst="rect">
            <a:avLst/>
          </a:prstGeom>
          <a:solidFill>
            <a:srgbClr val="FFFFFF">
              <a:shade val="85000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9"/>
              <p:cNvSpPr txBox="1">
                <a:spLocks/>
              </p:cNvSpPr>
              <p:nvPr/>
            </p:nvSpPr>
            <p:spPr>
              <a:xfrm>
                <a:off x="529207" y="1772816"/>
                <a:ext cx="3898776" cy="3531929"/>
              </a:xfrm>
              <a:prstGeom prst="rect">
                <a:avLst/>
              </a:prstGeom>
            </p:spPr>
            <p:txBody>
              <a:bodyPr>
                <a:sp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800" b="1" i="1" dirty="0"/>
              </a:p>
              <a:p>
                <a:r>
                  <a:rPr lang="en-GB" sz="1800" b="1" i="1" dirty="0"/>
                  <a:t>Left-Right</a:t>
                </a:r>
                <a:r>
                  <a:rPr lang="en-GB" sz="1800" dirty="0"/>
                  <a:t> asymmetry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de-DE" sz="1800" i="1" smtClean="0">
                        <a:latin typeface="Cambria Math"/>
                      </a:rPr>
                      <m:t>⇒ </m:t>
                    </m:r>
                  </m:oMath>
                </a14:m>
                <a:r>
                  <a:rPr lang="en-GB" sz="1800" b="1" i="1" dirty="0"/>
                  <a:t>vertical</a:t>
                </a:r>
                <a:r>
                  <a:rPr lang="en-GB" sz="1800" dirty="0"/>
                  <a:t> polarization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/>
                            </a:rPr>
                            <m:t>𝑉</m:t>
                          </m:r>
                        </m:sub>
                      </m:sSub>
                      <m:r>
                        <a:rPr lang="de-DE" sz="1800" b="0" i="1" smtClean="0">
                          <a:latin typeface="Cambria Math"/>
                        </a:rPr>
                        <m:t>∝</m:t>
                      </m:r>
                      <m:sSub>
                        <m:sSubPr>
                          <m:ctrlPr>
                            <a:rPr lang="de-D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latin typeface="Cambria Math"/>
                            </a:rPr>
                            <m:t>𝜖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/>
                            </a:rPr>
                            <m:t>𝑣𝑒𝑟</m:t>
                          </m:r>
                        </m:sub>
                      </m:sSub>
                      <m:r>
                        <a:rPr lang="de-DE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de-DE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  <m:r>
                            <a:rPr lang="de-DE" sz="18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  <m:r>
                            <a:rPr lang="de-DE" sz="18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800" i="1" dirty="0"/>
              </a:p>
              <a:p>
                <a:endParaRPr lang="en-GB" sz="1800" b="1" i="1" dirty="0"/>
              </a:p>
              <a:p>
                <a:endParaRPr lang="en-GB" sz="1800" b="1" i="1" dirty="0"/>
              </a:p>
              <a:p>
                <a:r>
                  <a:rPr lang="en-GB" sz="1800" b="1" i="1" dirty="0"/>
                  <a:t>Up-Down</a:t>
                </a:r>
                <a:r>
                  <a:rPr lang="en-GB" sz="1800" dirty="0"/>
                  <a:t> asymmetry </a:t>
                </a:r>
                <a:endParaRPr lang="de-DE" sz="1800" i="1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de-DE" sz="1800" i="1" smtClean="0">
                        <a:latin typeface="Cambria Math"/>
                      </a:rPr>
                      <m:t>⇒</m:t>
                    </m:r>
                  </m:oMath>
                </a14:m>
                <a:r>
                  <a:rPr lang="en-GB" sz="1800" dirty="0"/>
                  <a:t> </a:t>
                </a:r>
                <a:r>
                  <a:rPr lang="en-GB" sz="1800" b="1" i="1" dirty="0"/>
                  <a:t>horizontal</a:t>
                </a:r>
                <a:r>
                  <a:rPr lang="en-GB" sz="1800" dirty="0"/>
                  <a:t> polarization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/>
                            </a:rPr>
                            <m:t>𝐻</m:t>
                          </m:r>
                        </m:sub>
                      </m:sSub>
                      <m:r>
                        <a:rPr lang="de-DE" sz="1800" b="0" i="1">
                          <a:latin typeface="Cambria Math"/>
                        </a:rPr>
                        <m:t>∝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latin typeface="Cambria Math"/>
                            </a:rPr>
                            <m:t>𝜖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/>
                            </a:rPr>
                            <m:t>h𝑜𝑟</m:t>
                          </m:r>
                        </m:sub>
                      </m:sSub>
                      <m:r>
                        <a:rPr lang="de-DE" sz="18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/>
                                </a:rPr>
                                <m:t>𝑢𝑝</m:t>
                              </m:r>
                            </m:sub>
                          </m:sSub>
                          <m:r>
                            <a:rPr lang="de-DE" sz="18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/>
                                </a:rPr>
                                <m:t>𝑑𝑛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/>
                                </a:rPr>
                                <m:t>𝑢𝑝</m:t>
                              </m:r>
                            </m:sub>
                          </m:sSub>
                          <m:r>
                            <a:rPr lang="de-DE" sz="18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/>
                                </a:rPr>
                                <m:t>𝑑𝑛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800" i="1" dirty="0"/>
              </a:p>
            </p:txBody>
          </p:sp>
        </mc:Choice>
        <mc:Fallback xmlns="">
          <p:sp>
            <p:nvSpPr>
              <p:cNvPr id="10" name="Textplatzhalter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7" y="1772816"/>
                <a:ext cx="3898776" cy="3531929"/>
              </a:xfrm>
              <a:prstGeom prst="rect">
                <a:avLst/>
              </a:prstGeom>
              <a:blipFill>
                <a:blip r:embed="rId5"/>
                <a:stretch>
                  <a:fillRect l="-10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正方形/長方形 43">
            <a:extLst>
              <a:ext uri="{FF2B5EF4-FFF2-40B4-BE49-F238E27FC236}">
                <a16:creationId xmlns:a16="http://schemas.microsoft.com/office/drawing/2014/main" id="{9D8A912C-1DF2-18CB-1FF5-671DE9480B0A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88ae095048.jpg" descr="88ae095048.jpg">
            <a:extLst>
              <a:ext uri="{FF2B5EF4-FFF2-40B4-BE49-F238E27FC236}">
                <a16:creationId xmlns:a16="http://schemas.microsoft.com/office/drawing/2014/main" id="{ACB028BA-9635-EE42-98E0-6AE63257F1E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スライド番号プレースホルダー 16">
            <a:extLst>
              <a:ext uri="{FF2B5EF4-FFF2-40B4-BE49-F238E27FC236}">
                <a16:creationId xmlns:a16="http://schemas.microsoft.com/office/drawing/2014/main" id="{086E0728-DC90-370C-41E1-2828B1AD9175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10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5" name="日付プレースホルダー 14">
            <a:extLst>
              <a:ext uri="{FF2B5EF4-FFF2-40B4-BE49-F238E27FC236}">
                <a16:creationId xmlns:a16="http://schemas.microsoft.com/office/drawing/2014/main" id="{B6A70110-3446-D49C-E502-6B27E4CE1E9B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B52C6-FCED-B5A4-B005-AB49505548EC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814780-F290-22AA-EC8C-5C740E2D19A6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6260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5"/>
    </mc:Choice>
    <mc:Fallback xmlns="">
      <p:transition spd="slow" advTm="58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08C625C8-4C81-4BC2-B20B-78413F7E3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60648"/>
            <a:ext cx="7772400" cy="587375"/>
          </a:xfrm>
        </p:spPr>
        <p:txBody>
          <a:bodyPr>
            <a:normAutofit/>
          </a:bodyPr>
          <a:lstStyle/>
          <a:p>
            <a:pPr algn="ctr"/>
            <a:r>
              <a:rPr lang="en-US" altLang="en-US" sz="2000" dirty="0">
                <a:latin typeface="+mn-lt"/>
              </a:rPr>
              <a:t>Figure Of Merit vs Energy: </a:t>
            </a:r>
            <a:r>
              <a:rPr lang="en-US" altLang="en-US" sz="2000" dirty="0">
                <a:solidFill>
                  <a:srgbClr val="FF0000"/>
                </a:solidFill>
                <a:latin typeface="+mn-lt"/>
              </a:rPr>
              <a:t>choice of energy</a:t>
            </a:r>
            <a:endParaRPr lang="en-GB" alt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B1A67738-A856-47C9-A6D1-CFEF067C5A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089819"/>
            <a:ext cx="8333059" cy="4643437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			</a:t>
            </a:r>
            <a:endParaRPr lang="en-GB" altLang="en-US" dirty="0"/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3BE2CC97-A0BE-4A3D-85C1-5045A4E832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920927"/>
            <a:ext cx="3727916" cy="260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>
            <a:extLst>
              <a:ext uri="{FF2B5EF4-FFF2-40B4-BE49-F238E27FC236}">
                <a16:creationId xmlns:a16="http://schemas.microsoft.com/office/drawing/2014/main" id="{9A948D59-6AB1-4CED-ACF8-A5DEF05BDA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3" y="775118"/>
            <a:ext cx="3727916" cy="2725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9AFCEB21-3F10-4E4F-B065-7D6EFADDCF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966" y="3708492"/>
            <a:ext cx="4466229" cy="2698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正方形/長方形 43">
            <a:extLst>
              <a:ext uri="{FF2B5EF4-FFF2-40B4-BE49-F238E27FC236}">
                <a16:creationId xmlns:a16="http://schemas.microsoft.com/office/drawing/2014/main" id="{F9F8FB25-DC68-202E-6F99-5B615680F3C2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88ae095048.jpg" descr="88ae095048.jpg">
            <a:extLst>
              <a:ext uri="{FF2B5EF4-FFF2-40B4-BE49-F238E27FC236}">
                <a16:creationId xmlns:a16="http://schemas.microsoft.com/office/drawing/2014/main" id="{A86E0280-AEB4-9860-4889-6EC71BC6CFC5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スライド番号プレースホルダー 16">
            <a:extLst>
              <a:ext uri="{FF2B5EF4-FFF2-40B4-BE49-F238E27FC236}">
                <a16:creationId xmlns:a16="http://schemas.microsoft.com/office/drawing/2014/main" id="{281C3ABC-B0D7-0B21-A70D-8E79AABFDB71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11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5" name="日付プレースホルダー 14">
            <a:extLst>
              <a:ext uri="{FF2B5EF4-FFF2-40B4-BE49-F238E27FC236}">
                <a16:creationId xmlns:a16="http://schemas.microsoft.com/office/drawing/2014/main" id="{EF770FB6-8EFF-F9AD-EA0A-26249BA54541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A24F9-AB1B-3FA8-1D2F-A67E63DF93D7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F68D8-EFF1-F37C-E788-4ABB02405005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8616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869560"/>
            <a:ext cx="8074025" cy="4719680"/>
          </a:xfrm>
        </p:spPr>
      </p:pic>
      <p:sp>
        <p:nvSpPr>
          <p:cNvPr id="8" name="Textfeld 7"/>
          <p:cNvSpPr txBox="1"/>
          <p:nvPr/>
        </p:nvSpPr>
        <p:spPr>
          <a:xfrm>
            <a:off x="1273371" y="4602614"/>
            <a:ext cx="11383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/>
              <a:t>preliminary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/>
              <p:cNvSpPr txBox="1"/>
              <p:nvPr/>
            </p:nvSpPr>
            <p:spPr>
              <a:xfrm>
                <a:off x="7308304" y="2996952"/>
                <a:ext cx="1703223" cy="656655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Polarization</a:t>
                </a:r>
                <a:r>
                  <a:rPr lang="de-DE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fit: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𝑝</m:t>
                      </m:r>
                      <m:r>
                        <a:rPr lang="de-DE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de-DE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/>
                            </a:rPr>
                            <m:t>/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/>
                                </a:rPr>
                                <m:t>𝑆𝐶𝑇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feld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304" y="2996952"/>
                <a:ext cx="1703223" cy="656655"/>
              </a:xfrm>
              <a:prstGeom prst="rect">
                <a:avLst/>
              </a:prstGeom>
              <a:blipFill rotWithShape="1">
                <a:blip r:embed="rId3"/>
                <a:stretch>
                  <a:fillRect l="-2473" t="-2703" r="-1767" b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/>
              <p:cNvSpPr txBox="1"/>
              <p:nvPr/>
            </p:nvSpPr>
            <p:spPr>
              <a:xfrm>
                <a:off x="2597325" y="5723964"/>
                <a:ext cx="43942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Best Spin Coherence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/>
                          </a:rPr>
                          <m:t>𝜏</m:t>
                        </m:r>
                      </m:e>
                      <m:sub>
                        <m:r>
                          <a:rPr lang="de-DE" b="0" i="1" smtClean="0">
                            <a:latin typeface="Cambria Math"/>
                          </a:rPr>
                          <m:t>𝑆𝐶𝑇</m:t>
                        </m:r>
                      </m:sub>
                    </m:sSub>
                    <m:r>
                      <a:rPr lang="de-DE" b="0" i="1" smtClean="0">
                        <a:latin typeface="Cambria Math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de-DE" b="0" i="1" smtClean="0">
                        <a:latin typeface="Cambria Math"/>
                      </a:rPr>
                      <m:t>00</m:t>
                    </m:r>
                    <m:r>
                      <a:rPr lang="de-DE" b="0" i="1" smtClean="0">
                        <a:latin typeface="Cambria Math"/>
                      </a:rPr>
                      <m:t>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325" y="5723964"/>
                <a:ext cx="4394216" cy="369332"/>
              </a:xfrm>
              <a:prstGeom prst="rect">
                <a:avLst/>
              </a:prstGeom>
              <a:blipFill>
                <a:blip r:embed="rId4"/>
                <a:stretch>
                  <a:fillRect l="-828" t="-615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1464770-5059-4FE8-BC91-AA1944BA63A2}"/>
              </a:ext>
            </a:extLst>
          </p:cNvPr>
          <p:cNvSpPr/>
          <p:nvPr/>
        </p:nvSpPr>
        <p:spPr>
          <a:xfrm>
            <a:off x="2339752" y="271391"/>
            <a:ext cx="3888432" cy="9866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Coherence time</a:t>
            </a:r>
          </a:p>
        </p:txBody>
      </p:sp>
      <p:sp>
        <p:nvSpPr>
          <p:cNvPr id="10" name="正方形/長方形 43">
            <a:extLst>
              <a:ext uri="{FF2B5EF4-FFF2-40B4-BE49-F238E27FC236}">
                <a16:creationId xmlns:a16="http://schemas.microsoft.com/office/drawing/2014/main" id="{171050C6-299E-AF88-8977-6C24C43599A7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1" name="88ae095048.jpg" descr="88ae095048.jpg">
            <a:extLst>
              <a:ext uri="{FF2B5EF4-FFF2-40B4-BE49-F238E27FC236}">
                <a16:creationId xmlns:a16="http://schemas.microsoft.com/office/drawing/2014/main" id="{2EB9C2BF-C587-0E3C-C1D4-5099DA22C67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スライド番号プレースホルダー 16">
            <a:extLst>
              <a:ext uri="{FF2B5EF4-FFF2-40B4-BE49-F238E27FC236}">
                <a16:creationId xmlns:a16="http://schemas.microsoft.com/office/drawing/2014/main" id="{2DDD6E9C-2ED3-6C83-CA1D-0FA6023ECD47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12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3" name="日付プレースホルダー 14">
            <a:extLst>
              <a:ext uri="{FF2B5EF4-FFF2-40B4-BE49-F238E27FC236}">
                <a16:creationId xmlns:a16="http://schemas.microsoft.com/office/drawing/2014/main" id="{94A07031-E6DC-16B3-7B8A-C0517196F24B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82163F-71BF-2440-997C-C50457487CF0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977B31-878F-6259-7710-FBD85175CDB4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6543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7"/>
    </mc:Choice>
    <mc:Fallback xmlns="">
      <p:transition spd="slow" advTm="62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0A9A226F-F622-4857-8641-62D4EFEEA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0888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solidFill>
                  <a:srgbClr val="FF0000"/>
                </a:solidFill>
                <a:latin typeface="+mn-lt"/>
              </a:rPr>
              <a:t>Two types lattices: </a:t>
            </a:r>
            <a:r>
              <a:rPr lang="en-US" altLang="en-US" sz="2800" b="1" dirty="0">
                <a:solidFill>
                  <a:srgbClr val="0033CC"/>
                </a:solidFill>
                <a:latin typeface="+mn-lt"/>
              </a:rPr>
              <a:t>frozen</a:t>
            </a:r>
            <a:r>
              <a:rPr lang="en-US" altLang="en-US" sz="2800" dirty="0">
                <a:solidFill>
                  <a:srgbClr val="FF0000"/>
                </a:solidFill>
                <a:latin typeface="+mn-lt"/>
              </a:rPr>
              <a:t> and </a:t>
            </a:r>
            <a:r>
              <a:rPr lang="en-US" altLang="en-US" sz="2800" b="1" dirty="0">
                <a:solidFill>
                  <a:srgbClr val="CC0099"/>
                </a:solidFill>
                <a:latin typeface="+mn-lt"/>
              </a:rPr>
              <a:t>quasi-frozen spin</a:t>
            </a:r>
            <a:endParaRPr lang="en-GB" altLang="en-US" sz="2800" b="1" dirty="0">
              <a:solidFill>
                <a:srgbClr val="CC0099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D229-A7F6-43DF-816C-C953174AF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905000"/>
            <a:ext cx="8353425" cy="4619625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sz="1800" b="1" dirty="0">
                <a:solidFill>
                  <a:srgbClr val="0000FF"/>
                </a:solidFill>
              </a:rPr>
              <a:t>“Frozen” spin lattice for deuteron based on the </a:t>
            </a:r>
            <a:r>
              <a:rPr lang="ru-RU" sz="1800" b="1" dirty="0">
                <a:solidFill>
                  <a:srgbClr val="0000FF"/>
                </a:solidFill>
              </a:rPr>
              <a:t>«</a:t>
            </a:r>
            <a:r>
              <a:rPr lang="en-US" sz="1800" b="1" dirty="0">
                <a:solidFill>
                  <a:srgbClr val="0000FF"/>
                </a:solidFill>
              </a:rPr>
              <a:t>E+B</a:t>
            </a:r>
            <a:r>
              <a:rPr lang="ru-RU" sz="1800" b="1" dirty="0">
                <a:solidFill>
                  <a:srgbClr val="0000FF"/>
                </a:solidFill>
              </a:rPr>
              <a:t>»</a:t>
            </a:r>
            <a:r>
              <a:rPr lang="en-US" sz="1800" b="1" dirty="0">
                <a:solidFill>
                  <a:srgbClr val="0000FF"/>
                </a:solidFill>
              </a:rPr>
              <a:t> elements: </a:t>
            </a:r>
          </a:p>
          <a:p>
            <a:pPr>
              <a:buFontTx/>
              <a:buChar char="-"/>
              <a:defRPr/>
            </a:pPr>
            <a:r>
              <a:rPr lang="en-US" sz="1800" dirty="0"/>
              <a:t>the </a:t>
            </a:r>
            <a:r>
              <a:rPr lang="en-GB" sz="1800" dirty="0"/>
              <a:t>spin of the referent particle is always oriented along the momentum </a:t>
            </a:r>
          </a:p>
          <a:p>
            <a:pPr marL="0" indent="0">
              <a:defRPr/>
            </a:pPr>
            <a:endParaRPr lang="en-US" dirty="0"/>
          </a:p>
          <a:p>
            <a:pPr marL="0" indent="0">
              <a:defRPr/>
            </a:pPr>
            <a:endParaRPr lang="en-GB" dirty="0"/>
          </a:p>
          <a:p>
            <a:pPr>
              <a:buFontTx/>
              <a:buChar char="-"/>
              <a:defRPr/>
            </a:pPr>
            <a:r>
              <a:rPr lang="en-GB" sz="1800" dirty="0"/>
              <a:t>The spin of non-referent particles make incoherent rotation relative to the referent particle spin</a:t>
            </a:r>
          </a:p>
          <a:p>
            <a:pPr marL="0" indent="0">
              <a:buNone/>
              <a:defRPr/>
            </a:pPr>
            <a:r>
              <a:rPr lang="en-US" sz="1800" b="1" dirty="0">
                <a:solidFill>
                  <a:srgbClr val="0000FF"/>
                </a:solidFill>
              </a:rPr>
              <a:t>      or for proton based on the </a:t>
            </a:r>
            <a:r>
              <a:rPr lang="ru-RU" sz="1800" b="1" dirty="0">
                <a:solidFill>
                  <a:srgbClr val="0000FF"/>
                </a:solidFill>
              </a:rPr>
              <a:t>«</a:t>
            </a:r>
            <a:r>
              <a:rPr lang="en-US" sz="1800" b="1" dirty="0">
                <a:solidFill>
                  <a:srgbClr val="0000FF"/>
                </a:solidFill>
              </a:rPr>
              <a:t>E</a:t>
            </a:r>
            <a:r>
              <a:rPr lang="ru-RU" sz="1800" b="1" dirty="0">
                <a:solidFill>
                  <a:srgbClr val="0000FF"/>
                </a:solidFill>
              </a:rPr>
              <a:t>»</a:t>
            </a:r>
            <a:r>
              <a:rPr lang="en-US" sz="1800" b="1" dirty="0">
                <a:solidFill>
                  <a:srgbClr val="0000FF"/>
                </a:solidFill>
              </a:rPr>
              <a:t> elements:</a:t>
            </a:r>
          </a:p>
          <a:p>
            <a:pPr marL="0" indent="0">
              <a:buNone/>
              <a:defRPr/>
            </a:pPr>
            <a:endParaRPr lang="en-GB" sz="1800" dirty="0"/>
          </a:p>
          <a:p>
            <a:pPr marL="0" indent="0"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0" indent="0"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0" indent="0">
              <a:defRPr/>
            </a:pPr>
            <a:r>
              <a:rPr lang="en-US" sz="1800" b="1" dirty="0">
                <a:solidFill>
                  <a:srgbClr val="CC0099"/>
                </a:solidFill>
              </a:rPr>
              <a:t>Quasi-Frozen spin lattice consists of n E-parts and n B-parts of ring:</a:t>
            </a:r>
          </a:p>
          <a:p>
            <a:pPr>
              <a:buFontTx/>
              <a:buChar char="-"/>
              <a:defRPr/>
            </a:pPr>
            <a:r>
              <a:rPr lang="en-US" sz="1800" dirty="0"/>
              <a:t>The </a:t>
            </a:r>
            <a:r>
              <a:rPr lang="en-GB" sz="1800" dirty="0"/>
              <a:t>spin of the referent particle oscillates within a small angle ±</a:t>
            </a:r>
            <a:r>
              <a:rPr lang="el-GR" sz="1800" dirty="0"/>
              <a:t>γ</a:t>
            </a:r>
            <a:r>
              <a:rPr lang="en-US" sz="1800" dirty="0"/>
              <a:t>G/</a:t>
            </a:r>
            <a:r>
              <a:rPr lang="ru-RU" sz="1800" dirty="0"/>
              <a:t>4</a:t>
            </a:r>
            <a:r>
              <a:rPr lang="en-US" sz="1800" dirty="0"/>
              <a:t>n</a:t>
            </a:r>
            <a:r>
              <a:rPr lang="en-GB" sz="1800" dirty="0"/>
              <a:t> relative to the direction of motion </a:t>
            </a:r>
          </a:p>
          <a:p>
            <a:pPr>
              <a:buFontTx/>
              <a:buChar char="-"/>
              <a:defRPr/>
            </a:pPr>
            <a:r>
              <a:rPr lang="en-US" sz="1800" dirty="0"/>
              <a:t>                                                                                                </a:t>
            </a:r>
          </a:p>
          <a:p>
            <a:pPr marL="0" indent="0"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0" indent="0">
              <a:defRPr/>
            </a:pPr>
            <a:r>
              <a:rPr lang="en-US" sz="1800" b="1" dirty="0">
                <a:solidFill>
                  <a:srgbClr val="0000FF"/>
                </a:solidFill>
              </a:rPr>
              <a:t> </a:t>
            </a:r>
          </a:p>
          <a:p>
            <a:pPr marL="0" indent="0">
              <a:defRPr/>
            </a:pPr>
            <a:endParaRPr lang="en-GB" sz="1800" dirty="0"/>
          </a:p>
        </p:txBody>
      </p:sp>
      <p:graphicFrame>
        <p:nvGraphicFramePr>
          <p:cNvPr id="5124" name="Object 3">
            <a:extLst>
              <a:ext uri="{FF2B5EF4-FFF2-40B4-BE49-F238E27FC236}">
                <a16:creationId xmlns:a16="http://schemas.microsoft.com/office/drawing/2014/main" id="{0FBD1656-31A0-461A-93CC-D6B195CF1C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049399"/>
              </p:ext>
            </p:extLst>
          </p:nvPr>
        </p:nvGraphicFramePr>
        <p:xfrm>
          <a:off x="1187450" y="2513013"/>
          <a:ext cx="32512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200" imgH="533400" progId="Equation.3">
                  <p:embed/>
                </p:oleObj>
              </mc:Choice>
              <mc:Fallback>
                <p:oleObj name="Equation" r:id="rId2" imgW="2108200" imgH="533400" progId="Equation.3">
                  <p:embed/>
                  <p:pic>
                    <p:nvPicPr>
                      <p:cNvPr id="5124" name="Object 3">
                        <a:extLst>
                          <a:ext uri="{FF2B5EF4-FFF2-40B4-BE49-F238E27FC236}">
                            <a16:creationId xmlns:a16="http://schemas.microsoft.com/office/drawing/2014/main" id="{0FBD1656-31A0-461A-93CC-D6B195CF1C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513013"/>
                        <a:ext cx="32512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26293F9D-CD55-4929-A095-70278AAF42DC}"/>
              </a:ext>
            </a:extLst>
          </p:cNvPr>
          <p:cNvSpPr/>
          <p:nvPr/>
        </p:nvSpPr>
        <p:spPr>
          <a:xfrm>
            <a:off x="5003800" y="2781300"/>
            <a:ext cx="287338" cy="144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GB" baseline="0" dirty="0"/>
          </a:p>
        </p:txBody>
      </p:sp>
      <p:graphicFrame>
        <p:nvGraphicFramePr>
          <p:cNvPr id="5126" name="Object 5">
            <a:extLst>
              <a:ext uri="{FF2B5EF4-FFF2-40B4-BE49-F238E27FC236}">
                <a16:creationId xmlns:a16="http://schemas.microsoft.com/office/drawing/2014/main" id="{FE0CEC30-115A-42A0-B520-25DD661BB3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781286"/>
              </p:ext>
            </p:extLst>
          </p:nvPr>
        </p:nvGraphicFramePr>
        <p:xfrm>
          <a:off x="5697538" y="2611438"/>
          <a:ext cx="17605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4781" imgH="304668" progId="Equation.3">
                  <p:embed/>
                </p:oleObj>
              </mc:Choice>
              <mc:Fallback>
                <p:oleObj name="Equation" r:id="rId4" imgW="964781" imgH="304668" progId="Equation.3">
                  <p:embed/>
                  <p:pic>
                    <p:nvPicPr>
                      <p:cNvPr id="5126" name="Object 5">
                        <a:extLst>
                          <a:ext uri="{FF2B5EF4-FFF2-40B4-BE49-F238E27FC236}">
                            <a16:creationId xmlns:a16="http://schemas.microsoft.com/office/drawing/2014/main" id="{FE0CEC30-115A-42A0-B520-25DD661BB3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7538" y="2611438"/>
                        <a:ext cx="17605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2A1208-7935-4EF4-BA99-6CFECA1BBBA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7584" y="5805264"/>
            <a:ext cx="2719080" cy="466200"/>
          </a:xfrm>
          <a:prstGeom prst="rect">
            <a:avLst/>
          </a:prstGeom>
          <a:blipFill rotWithShape="1">
            <a:blip r:embed="rId6"/>
            <a:stretch>
              <a:fillRect l="-3587" t="-3896" r="-673" b="-10390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GB" baseline="0">
                <a:noFill/>
                <a:latin typeface="Arial" charset="0"/>
                <a:cs typeface="Arial" charset="0"/>
              </a:rPr>
              <a:t>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5596131E-CE53-4D04-B2DB-B9832E9D30FA}"/>
                  </a:ext>
                </a:extLst>
              </p:cNvPr>
              <p:cNvSpPr txBox="1"/>
              <p:nvPr/>
            </p:nvSpPr>
            <p:spPr bwMode="auto">
              <a:xfrm>
                <a:off x="2187124" y="3944938"/>
                <a:ext cx="3251200" cy="8239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groupChr>
                                <m:groupChrPr>
                                  <m:chr m:val="→"/>
                                  <m:pos m:val="top"/>
                                  <m:vertJc m:val="bot"/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groupChr>
                            </m:num>
                            <m:den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groupChr>
                            <m:groupChrPr>
                              <m:chr m:val="→"/>
                              <m:pos m:val="top"/>
                              <m:vertJc m:val="bot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5596131E-CE53-4D04-B2DB-B9832E9D3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7124" y="3944938"/>
                <a:ext cx="3251200" cy="8239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正方形/長方形 43">
            <a:extLst>
              <a:ext uri="{FF2B5EF4-FFF2-40B4-BE49-F238E27FC236}">
                <a16:creationId xmlns:a16="http://schemas.microsoft.com/office/drawing/2014/main" id="{09158361-CE66-846E-7C16-3D38EA8334A5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88ae095048.jpg" descr="88ae095048.jpg">
            <a:extLst>
              <a:ext uri="{FF2B5EF4-FFF2-40B4-BE49-F238E27FC236}">
                <a16:creationId xmlns:a16="http://schemas.microsoft.com/office/drawing/2014/main" id="{738B539E-C987-C7F3-BC50-5790BC8BB088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AC47D979-7091-B5ED-C5B1-FF0E944088E2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13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9" name="日付プレースホルダー 14">
            <a:extLst>
              <a:ext uri="{FF2B5EF4-FFF2-40B4-BE49-F238E27FC236}">
                <a16:creationId xmlns:a16="http://schemas.microsoft.com/office/drawing/2014/main" id="{7FEC8443-6310-808B-EB0A-B57FC2EC2D5F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05727D-676D-751A-6E29-51B2A3E0EADA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0599F1-7F32-A13F-65EC-9249A429B327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A64382-87A3-4D8B-B309-EC2B96B2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3882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FF0000"/>
                </a:solidFill>
                <a:latin typeface="+mn-lt"/>
              </a:rPr>
              <a:t>Установки ОИЯИ для измерения ЭДМ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3929C4-FD13-46D4-9431-CE1CB2510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141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Основные места расположения оборудования для поиска ЭДМ</a:t>
            </a:r>
            <a:r>
              <a:rPr lang="en-US" sz="2000" dirty="0"/>
              <a:t>: 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                                </a:t>
            </a:r>
            <a:r>
              <a:rPr lang="ru-RU" sz="2000" b="1" dirty="0">
                <a:solidFill>
                  <a:srgbClr val="CC0066"/>
                </a:solidFill>
              </a:rPr>
              <a:t>1. </a:t>
            </a:r>
            <a:r>
              <a:rPr lang="de-DE" sz="2000" b="1" dirty="0">
                <a:solidFill>
                  <a:srgbClr val="CC0066"/>
                </a:solidFill>
              </a:rPr>
              <a:t>Bypass</a:t>
            </a:r>
            <a:r>
              <a:rPr lang="ru-RU" sz="2000" b="1" dirty="0">
                <a:solidFill>
                  <a:srgbClr val="CC0066"/>
                </a:solidFill>
              </a:rPr>
              <a:t> </a:t>
            </a:r>
            <a:r>
              <a:rPr lang="ru-RU" sz="1400" b="1" dirty="0">
                <a:solidFill>
                  <a:srgbClr val="CC0066"/>
                </a:solidFill>
              </a:rPr>
              <a:t>(«квази-замороженный» спин)   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b="1" dirty="0">
                <a:solidFill>
                  <a:srgbClr val="0033CC"/>
                </a:solidFill>
              </a:rPr>
              <a:t>2. Нуклотрон </a:t>
            </a:r>
            <a:r>
              <a:rPr lang="ru-RU" sz="1600" b="1" dirty="0">
                <a:solidFill>
                  <a:srgbClr val="0033CC"/>
                </a:solidFill>
              </a:rPr>
              <a:t>(«квази-замороженный» спин)                                                                                                          </a:t>
            </a:r>
            <a:r>
              <a:rPr lang="ru-RU" sz="2000" b="1" dirty="0">
                <a:solidFill>
                  <a:srgbClr val="FF0000"/>
                </a:solidFill>
              </a:rPr>
              <a:t>3. Специализированное кольцо в  </a:t>
            </a:r>
            <a:r>
              <a:rPr lang="ru-RU" sz="2000" b="1" dirty="0" err="1">
                <a:solidFill>
                  <a:srgbClr val="FF0000"/>
                </a:solidFill>
              </a:rPr>
              <a:t>зд</a:t>
            </a:r>
            <a:r>
              <a:rPr lang="ru-RU" sz="2000" b="1" dirty="0">
                <a:solidFill>
                  <a:srgbClr val="FF0000"/>
                </a:solidFill>
              </a:rPr>
              <a:t>. Б1 </a:t>
            </a:r>
            <a:r>
              <a:rPr lang="ru-RU" sz="1600" b="1" dirty="0">
                <a:solidFill>
                  <a:srgbClr val="FF0000"/>
                </a:solidFill>
              </a:rPr>
              <a:t>(«замороженный спин»)</a:t>
            </a: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82D6F84B-41A0-430C-BABA-2FCE3D8D5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161456"/>
            <a:ext cx="7000663" cy="328156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AA166E8-D99F-46DC-95B4-390862534EC3}"/>
              </a:ext>
            </a:extLst>
          </p:cNvPr>
          <p:cNvCxnSpPr/>
          <p:nvPr/>
        </p:nvCxnSpPr>
        <p:spPr>
          <a:xfrm>
            <a:off x="4283968" y="3241576"/>
            <a:ext cx="360040" cy="720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67C1EC3B-2B13-4BB4-AE63-7B42D0352E8A}"/>
              </a:ext>
            </a:extLst>
          </p:cNvPr>
          <p:cNvCxnSpPr/>
          <p:nvPr/>
        </p:nvCxnSpPr>
        <p:spPr>
          <a:xfrm flipV="1">
            <a:off x="4716016" y="3097560"/>
            <a:ext cx="576064" cy="21602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FBCD26D5-291D-4498-9F46-DB79162E0425}"/>
              </a:ext>
            </a:extLst>
          </p:cNvPr>
          <p:cNvCxnSpPr/>
          <p:nvPr/>
        </p:nvCxnSpPr>
        <p:spPr>
          <a:xfrm>
            <a:off x="4283968" y="3241576"/>
            <a:ext cx="432048" cy="7200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B65767F-9A69-4D64-A207-0A9E23E2EF95}"/>
              </a:ext>
            </a:extLst>
          </p:cNvPr>
          <p:cNvCxnSpPr/>
          <p:nvPr/>
        </p:nvCxnSpPr>
        <p:spPr>
          <a:xfrm flipV="1">
            <a:off x="5292080" y="2889869"/>
            <a:ext cx="72008" cy="20769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A1F37B6A-6520-46AC-93FC-F3AE83ABAED0}"/>
              </a:ext>
            </a:extLst>
          </p:cNvPr>
          <p:cNvCxnSpPr/>
          <p:nvPr/>
        </p:nvCxnSpPr>
        <p:spPr>
          <a:xfrm flipV="1">
            <a:off x="4932040" y="3673624"/>
            <a:ext cx="144016" cy="21602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DBB36FF2-03A8-4697-A952-ACB41BD333B5}"/>
              </a:ext>
            </a:extLst>
          </p:cNvPr>
          <p:cNvCxnSpPr/>
          <p:nvPr/>
        </p:nvCxnSpPr>
        <p:spPr>
          <a:xfrm flipV="1">
            <a:off x="5076056" y="3521275"/>
            <a:ext cx="432048" cy="15234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BB1E5F76-B1ED-4D4C-A5A3-64EE30B1D084}"/>
              </a:ext>
            </a:extLst>
          </p:cNvPr>
          <p:cNvCxnSpPr/>
          <p:nvPr/>
        </p:nvCxnSpPr>
        <p:spPr>
          <a:xfrm>
            <a:off x="5533256" y="3521275"/>
            <a:ext cx="334888" cy="8034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12F94BA-5980-4FAB-8962-B8A75E0CF1B8}"/>
              </a:ext>
            </a:extLst>
          </p:cNvPr>
          <p:cNvCxnSpPr/>
          <p:nvPr/>
        </p:nvCxnSpPr>
        <p:spPr>
          <a:xfrm>
            <a:off x="3275856" y="1801416"/>
            <a:ext cx="1368152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FEFBB741-04CC-471B-A781-31DFD9583C66}"/>
              </a:ext>
            </a:extLst>
          </p:cNvPr>
          <p:cNvCxnSpPr/>
          <p:nvPr/>
        </p:nvCxnSpPr>
        <p:spPr>
          <a:xfrm flipV="1">
            <a:off x="1763688" y="4753744"/>
            <a:ext cx="936104" cy="8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ADC52C33-7B6C-4A84-926F-F98D3A33A6C4}"/>
              </a:ext>
            </a:extLst>
          </p:cNvPr>
          <p:cNvCxnSpPr>
            <a:cxnSpLocks/>
            <a:endCxn id="26" idx="2"/>
          </p:cNvCxnSpPr>
          <p:nvPr/>
        </p:nvCxnSpPr>
        <p:spPr>
          <a:xfrm flipH="1" flipV="1">
            <a:off x="3664496" y="4782344"/>
            <a:ext cx="115416" cy="1195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678840E9-A3C8-45FC-9107-B0E79B0830ED}"/>
              </a:ext>
            </a:extLst>
          </p:cNvPr>
          <p:cNvSpPr/>
          <p:nvPr/>
        </p:nvSpPr>
        <p:spPr>
          <a:xfrm>
            <a:off x="3549080" y="4465712"/>
            <a:ext cx="230832" cy="3166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正方形/長方形 43">
            <a:extLst>
              <a:ext uri="{FF2B5EF4-FFF2-40B4-BE49-F238E27FC236}">
                <a16:creationId xmlns:a16="http://schemas.microsoft.com/office/drawing/2014/main" id="{0CF10129-1DBB-5E1A-6716-6AFA929776A0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1" name="88ae095048.jpg" descr="88ae095048.jpg">
            <a:extLst>
              <a:ext uri="{FF2B5EF4-FFF2-40B4-BE49-F238E27FC236}">
                <a16:creationId xmlns:a16="http://schemas.microsoft.com/office/drawing/2014/main" id="{77C0044F-204B-7777-AC75-4ADC8588E33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スライド番号プレースホルダー 16">
            <a:extLst>
              <a:ext uri="{FF2B5EF4-FFF2-40B4-BE49-F238E27FC236}">
                <a16:creationId xmlns:a16="http://schemas.microsoft.com/office/drawing/2014/main" id="{0210DC8D-CB6E-B6B2-0A9B-0984C123FD1B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14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24" name="日付プレースホルダー 14">
            <a:extLst>
              <a:ext uri="{FF2B5EF4-FFF2-40B4-BE49-F238E27FC236}">
                <a16:creationId xmlns:a16="http://schemas.microsoft.com/office/drawing/2014/main" id="{FB977D84-3930-E747-4DCD-20DA9272D552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E6773A-C088-A49D-C2A6-916106B8B201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AB5EFB-DCAD-384D-6203-790E2BD53429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5753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4F282-20F4-4A9B-92FB-222B374CB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Sensitivity of experiment</a:t>
            </a:r>
            <a:endParaRPr lang="ru-RU" sz="3200" dirty="0">
              <a:solidFill>
                <a:srgbClr val="FF0000"/>
              </a:solidFill>
            </a:endParaRP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5D2F2A11-B3CA-4DC8-8F62-0F000C1D8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76703"/>
            <a:ext cx="8172782" cy="4456553"/>
          </a:xfrm>
        </p:spPr>
      </p:pic>
      <p:sp>
        <p:nvSpPr>
          <p:cNvPr id="3" name="正方形/長方形 43">
            <a:extLst>
              <a:ext uri="{FF2B5EF4-FFF2-40B4-BE49-F238E27FC236}">
                <a16:creationId xmlns:a16="http://schemas.microsoft.com/office/drawing/2014/main" id="{D9695366-B76D-F4F4-E140-E81431A6E222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88ae095048.jpg" descr="88ae095048.jpg">
            <a:extLst>
              <a:ext uri="{FF2B5EF4-FFF2-40B4-BE49-F238E27FC236}">
                <a16:creationId xmlns:a16="http://schemas.microsoft.com/office/drawing/2014/main" id="{A10BAFAA-9163-20E9-955B-EF0168E1F53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DB443FCA-F409-6D55-C8F8-90F0174B49C9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15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日付プレースホルダー 14">
            <a:extLst>
              <a:ext uri="{FF2B5EF4-FFF2-40B4-BE49-F238E27FC236}">
                <a16:creationId xmlns:a16="http://schemas.microsoft.com/office/drawing/2014/main" id="{29D5C9E0-8561-0FFB-4335-14C014B10AB6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5365C-6D55-909A-87C6-CD68D5C6EEF8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B5391-5200-F46D-1B60-590B3935E99B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7693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2821F-0196-4CBA-B184-4DBA74334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46" y="33878"/>
            <a:ext cx="7995107" cy="12101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рассмотрели три возможных варианта адаптации установок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NICA</a:t>
            </a:r>
            <a:r>
              <a:rPr lang="ru-RU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исследования электрического дипольного момента легких частиц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C09E5B-94E6-49B5-9FA8-C6DA2E468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4003"/>
            <a:ext cx="8229600" cy="5290325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Модернизация структуры коллайдера общей </a:t>
            </a: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длиной </a:t>
            </a:r>
            <a:r>
              <a:rPr lang="ru-RU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508 м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потребует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два обводных канала 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~60 </a:t>
            </a:r>
            <a:r>
              <a:rPr lang="ru-RU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 </a:t>
            </a:r>
          </a:p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с использованием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метода </a:t>
            </a:r>
            <a:r>
              <a:rPr lang="ru-RU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квази-</a:t>
            </a:r>
            <a:r>
              <a:rPr lang="ru-RU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фрозен</a:t>
            </a:r>
            <a:r>
              <a:rPr lang="ru-RU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спина</a:t>
            </a:r>
          </a:p>
          <a:p>
            <a:pPr>
              <a:buFont typeface="Wingdings" panose="05000000000000000000" pitchFamily="2" charset="2"/>
              <a:buChar char="§"/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Модернизация структуры </a:t>
            </a:r>
            <a:r>
              <a:rPr lang="ru-RU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Нуклотрона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с общей длиной </a:t>
            </a:r>
            <a:r>
              <a:rPr lang="ru-RU" sz="2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251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м </a:t>
            </a:r>
            <a:r>
              <a:rPr lang="ru-RU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методом квази-</a:t>
            </a:r>
            <a:r>
              <a:rPr lang="ru-RU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фрозен</a:t>
            </a:r>
            <a:r>
              <a:rPr lang="ru-RU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спин</a:t>
            </a:r>
          </a:p>
          <a:p>
            <a:pPr>
              <a:buFont typeface="Wingdings" panose="05000000000000000000" pitchFamily="2" charset="2"/>
              <a:buChar char="§"/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пециализированное (новое) кольцо </a:t>
            </a:r>
          </a:p>
          <a:p>
            <a:pPr marL="0" indent="0" algn="just">
              <a:buNone/>
            </a:pP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исследования с поляризованными </a:t>
            </a:r>
          </a:p>
          <a:p>
            <a:pPr marL="0" indent="0" algn="just">
              <a:buNone/>
            </a:pP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пучками легких ядер по поиску </a:t>
            </a:r>
          </a:p>
          <a:p>
            <a:pPr marL="0" indent="0" algn="just">
              <a:buNone/>
            </a:pP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электрического дипольного момента общей</a:t>
            </a:r>
          </a:p>
          <a:p>
            <a:pPr marL="0" indent="0" algn="just">
              <a:buNone/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длины </a:t>
            </a:r>
            <a:r>
              <a:rPr lang="ru-RU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146</a:t>
            </a:r>
            <a:r>
              <a:rPr lang="ru-RU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 методом </a:t>
            </a:r>
            <a:r>
              <a:rPr lang="ru-RU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фрозен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спин</a:t>
            </a:r>
            <a:endParaRPr lang="ru-RU" sz="2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E09B2C69-9DE2-4996-9CD7-565F830FBE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651" y="1264003"/>
            <a:ext cx="2818656" cy="1670893"/>
          </a:xfrm>
          <a:prstGeom prst="rect">
            <a:avLst/>
          </a:prstGeom>
        </p:spPr>
      </p:pic>
      <p:pic>
        <p:nvPicPr>
          <p:cNvPr id="6" name="Объект 4">
            <a:extLst>
              <a:ext uri="{FF2B5EF4-FFF2-40B4-BE49-F238E27FC236}">
                <a16:creationId xmlns:a16="http://schemas.microsoft.com/office/drawing/2014/main" id="{384D79BE-8CF8-47FB-8B48-6827AA460B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154" y="3015977"/>
            <a:ext cx="3213765" cy="1749380"/>
          </a:xfrm>
          <a:prstGeom prst="rect">
            <a:avLst/>
          </a:prstGeom>
        </p:spPr>
      </p:pic>
      <p:pic>
        <p:nvPicPr>
          <p:cNvPr id="7" name="Объект 3">
            <a:extLst>
              <a:ext uri="{FF2B5EF4-FFF2-40B4-BE49-F238E27FC236}">
                <a16:creationId xmlns:a16="http://schemas.microsoft.com/office/drawing/2014/main" id="{E28B0EEA-93CD-4B79-B996-FCC37ACEEF1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583" y="4807910"/>
            <a:ext cx="2592288" cy="1810454"/>
          </a:xfrm>
          <a:prstGeom prst="rect">
            <a:avLst/>
          </a:prstGeom>
        </p:spPr>
      </p:pic>
      <p:sp>
        <p:nvSpPr>
          <p:cNvPr id="5" name="正方形/長方形 43">
            <a:extLst>
              <a:ext uri="{FF2B5EF4-FFF2-40B4-BE49-F238E27FC236}">
                <a16:creationId xmlns:a16="http://schemas.microsoft.com/office/drawing/2014/main" id="{944DDA70-1D82-7026-2AE8-3F017F3E4ACD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8" name="88ae095048.jpg" descr="88ae095048.jpg">
            <a:extLst>
              <a:ext uri="{FF2B5EF4-FFF2-40B4-BE49-F238E27FC236}">
                <a16:creationId xmlns:a16="http://schemas.microsoft.com/office/drawing/2014/main" id="{99F6644C-3B50-0437-58C9-30BCC540E60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スライド番号プレースホルダー 16">
            <a:extLst>
              <a:ext uri="{FF2B5EF4-FFF2-40B4-BE49-F238E27FC236}">
                <a16:creationId xmlns:a16="http://schemas.microsoft.com/office/drawing/2014/main" id="{30D2694B-B08E-3BCD-12FA-2242C6415512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16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0" name="日付プレースホルダー 14">
            <a:extLst>
              <a:ext uri="{FF2B5EF4-FFF2-40B4-BE49-F238E27FC236}">
                <a16:creationId xmlns:a16="http://schemas.microsoft.com/office/drawing/2014/main" id="{CB12B099-20A0-C29D-EA11-1BDC2C425F7F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F7A773-7791-0AF9-48D3-057DD3033761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6C80F-DC7E-6B7E-9BA5-81F9A3C0DFD9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7382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7AE90-C60C-CF10-F870-2AD8E1970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08" y="258526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Quasi-frozen</a:t>
            </a:r>
            <a:r>
              <a:rPr lang="en-US" sz="3200" dirty="0"/>
              <a:t> spin option for </a:t>
            </a:r>
            <a:r>
              <a:rPr lang="en-US" sz="3200" dirty="0">
                <a:solidFill>
                  <a:srgbClr val="FF0000"/>
                </a:solidFill>
              </a:rPr>
              <a:t>NICA collider</a:t>
            </a:r>
            <a:endParaRPr lang="ru-RU" sz="3200" dirty="0">
              <a:solidFill>
                <a:srgbClr val="FF0000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1ADBB8D-DC66-4959-D8E9-0DBC9E95C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62" y="1460191"/>
            <a:ext cx="7920880" cy="4695480"/>
          </a:xfrm>
        </p:spPr>
      </p:pic>
      <p:sp>
        <p:nvSpPr>
          <p:cNvPr id="3" name="正方形/長方形 43">
            <a:extLst>
              <a:ext uri="{FF2B5EF4-FFF2-40B4-BE49-F238E27FC236}">
                <a16:creationId xmlns:a16="http://schemas.microsoft.com/office/drawing/2014/main" id="{52E42DB5-F225-E5EB-1310-8E5C336A7B12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88ae095048.jpg" descr="88ae095048.jpg">
            <a:extLst>
              <a:ext uri="{FF2B5EF4-FFF2-40B4-BE49-F238E27FC236}">
                <a16:creationId xmlns:a16="http://schemas.microsoft.com/office/drawing/2014/main" id="{BD98878E-ACA5-4162-36E5-E26DF9828AB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B60C9641-3E4C-68FA-1ACD-CD4E57604D2C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17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日付プレースホルダー 14">
            <a:extLst>
              <a:ext uri="{FF2B5EF4-FFF2-40B4-BE49-F238E27FC236}">
                <a16:creationId xmlns:a16="http://schemas.microsoft.com/office/drawing/2014/main" id="{D4064C68-D7BF-E045-58FB-27C963C7F86D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4C3D21-16E1-0340-A9BB-0FDDA15FE071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0F18DE-C276-28B2-8796-E7F6D5A6E497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0241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5" y="188913"/>
            <a:ext cx="7772400" cy="803275"/>
          </a:xfrm>
        </p:spPr>
        <p:txBody>
          <a:bodyPr/>
          <a:lstStyle/>
          <a:p>
            <a:pPr algn="ctr"/>
            <a:r>
              <a:rPr lang="en-US" altLang="en-US" sz="2000" b="1" dirty="0">
                <a:solidFill>
                  <a:srgbClr val="FF0000"/>
                </a:solidFill>
              </a:rPr>
              <a:t>Quasi-Frozen Spin </a:t>
            </a:r>
            <a:r>
              <a:rPr lang="en-US" altLang="en-US" sz="2000" dirty="0">
                <a:solidFill>
                  <a:srgbClr val="0033CC"/>
                </a:solidFill>
              </a:rPr>
              <a:t>option in COSY and NICA accelerators</a:t>
            </a:r>
            <a:endParaRPr lang="ru-RU" altLang="en-US" sz="2000" dirty="0">
              <a:solidFill>
                <a:srgbClr val="0033CC"/>
              </a:solidFill>
            </a:endParaRP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85" name="Rectangle 7"/>
          <p:cNvSpPr>
            <a:spLocks noChangeArrowheads="1"/>
          </p:cNvSpPr>
          <p:nvPr/>
        </p:nvSpPr>
        <p:spPr bwMode="auto">
          <a:xfrm>
            <a:off x="0" y="3173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86" name="Rectangle 9"/>
          <p:cNvSpPr>
            <a:spLocks noChangeArrowheads="1"/>
          </p:cNvSpPr>
          <p:nvPr/>
        </p:nvSpPr>
        <p:spPr bwMode="auto">
          <a:xfrm>
            <a:off x="0" y="3173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8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88" name="Rectangle 13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89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90" name="Rectangle 17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91" name="Rectangle 19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92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93" name="Rectangle 23"/>
          <p:cNvSpPr>
            <a:spLocks noChangeArrowheads="1"/>
          </p:cNvSpPr>
          <p:nvPr/>
        </p:nvSpPr>
        <p:spPr bwMode="auto">
          <a:xfrm>
            <a:off x="0" y="3211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94" name="Rectangle 25"/>
          <p:cNvSpPr>
            <a:spLocks noChangeArrowheads="1"/>
          </p:cNvSpPr>
          <p:nvPr/>
        </p:nvSpPr>
        <p:spPr bwMode="auto">
          <a:xfrm>
            <a:off x="0" y="3154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95" name="Rectangle 27"/>
          <p:cNvSpPr>
            <a:spLocks noChangeArrowheads="1"/>
          </p:cNvSpPr>
          <p:nvPr/>
        </p:nvSpPr>
        <p:spPr bwMode="auto">
          <a:xfrm>
            <a:off x="0" y="3303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96" name="Rectangle 29"/>
          <p:cNvSpPr>
            <a:spLocks noChangeArrowheads="1"/>
          </p:cNvSpPr>
          <p:nvPr/>
        </p:nvSpPr>
        <p:spPr bwMode="auto">
          <a:xfrm>
            <a:off x="0" y="3303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sp>
        <p:nvSpPr>
          <p:cNvPr id="2049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itchFamily="2" charset="2"/>
              <a:buChar char="§"/>
              <a:defRPr sz="22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endParaRPr lang="en-GB" altLang="en-US" sz="1800"/>
          </a:p>
        </p:txBody>
      </p:sp>
      <p:pic>
        <p:nvPicPr>
          <p:cNvPr id="2049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35" y="1897239"/>
            <a:ext cx="2526984" cy="3596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238206"/>
            <a:ext cx="2249769" cy="1507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829" y="3610419"/>
            <a:ext cx="4636915" cy="2393910"/>
          </a:xfrm>
          <a:prstGeom prst="rect">
            <a:avLst/>
          </a:prstGeom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4784166" y="2551509"/>
            <a:ext cx="634663" cy="17305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 flipH="1">
            <a:off x="2555776" y="2434283"/>
            <a:ext cx="1298123" cy="17783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FA17B4C-909C-42D6-941A-CA27E7F3665C}"/>
              </a:ext>
            </a:extLst>
          </p:cNvPr>
          <p:cNvSpPr txBox="1"/>
          <p:nvPr/>
        </p:nvSpPr>
        <p:spPr>
          <a:xfrm>
            <a:off x="3712261" y="853666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Wien filter</a:t>
            </a:r>
            <a:endParaRPr lang="ru-RU" dirty="0"/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C15DBF73-E98D-FB6F-A8E8-A6C7ACFDC4B4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88ae095048.jpg" descr="88ae095048.jpg">
            <a:extLst>
              <a:ext uri="{FF2B5EF4-FFF2-40B4-BE49-F238E27FC236}">
                <a16:creationId xmlns:a16="http://schemas.microsoft.com/office/drawing/2014/main" id="{564E5A0E-FA42-EC31-7DF5-7367718494F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5C2C9F58-6E9A-EC18-19A8-E4577CC4795B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18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78371037-3351-E98B-D777-E750C78A0B20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A4C47A-0E99-3A38-085C-16DF7A308282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3F725-5C96-1510-8B76-3E8CDD97796D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8155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E2631-CA6D-3845-3C3F-13D748AE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/>
              <a:t>NICA</a:t>
            </a:r>
            <a:r>
              <a:rPr lang="ru-RU" dirty="0"/>
              <a:t> </a:t>
            </a:r>
            <a:r>
              <a:rPr lang="en-US" dirty="0"/>
              <a:t>Bypass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DBB77E3-967E-561F-8373-3C523DBD4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961" y="1008318"/>
            <a:ext cx="3424910" cy="5498044"/>
          </a:xfr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B6E3E91-504C-93D3-EFE4-55DE1C2E9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10" y="1398582"/>
            <a:ext cx="3571583" cy="2534474"/>
          </a:xfrm>
          <a:prstGeom prst="rect">
            <a:avLst/>
          </a:prstGeom>
        </p:spPr>
      </p:pic>
      <p:sp>
        <p:nvSpPr>
          <p:cNvPr id="3" name="正方形/長方形 43">
            <a:extLst>
              <a:ext uri="{FF2B5EF4-FFF2-40B4-BE49-F238E27FC236}">
                <a16:creationId xmlns:a16="http://schemas.microsoft.com/office/drawing/2014/main" id="{F7BC3B31-4219-6884-EDF6-00BB7D0FDCA6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88ae095048.jpg" descr="88ae095048.jpg">
            <a:extLst>
              <a:ext uri="{FF2B5EF4-FFF2-40B4-BE49-F238E27FC236}">
                <a16:creationId xmlns:a16="http://schemas.microsoft.com/office/drawing/2014/main" id="{6582A9AD-DAC3-52E6-BEBC-F1180962B96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スライド番号プレースホルダー 16">
            <a:extLst>
              <a:ext uri="{FF2B5EF4-FFF2-40B4-BE49-F238E27FC236}">
                <a16:creationId xmlns:a16="http://schemas.microsoft.com/office/drawing/2014/main" id="{8B788B65-2AA7-C4AE-3931-AC169AF343DC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19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20B6D5F5-3C38-A403-6FD5-961FB01D5494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26BFC-4D82-8418-FAFD-81AAA638C853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FF05D2-2E72-EDFD-707E-3807273971A7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8868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523FE-1BEC-5148-0A26-A3292656B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9D0FE-7484-F1D6-723C-29B28615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05617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rgbClr val="FF0000"/>
                </a:solidFill>
              </a:rPr>
              <a:t>Nuclotron with “Quasi-Frozen” Spin option </a:t>
            </a:r>
            <a:endParaRPr lang="ru-RU" sz="3200"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13EB477-B51C-E61D-4F34-74C782460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522249"/>
            <a:ext cx="8855968" cy="4785231"/>
          </a:xfrm>
          <a:prstGeom prst="rect">
            <a:avLst/>
          </a:prstGeom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231D38C9-1625-66FA-E1BF-260E1F754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14986"/>
            <a:ext cx="8229600" cy="507699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B7A9D2A-D586-62EB-7F66-789CD008D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812" y="3284983"/>
            <a:ext cx="3767684" cy="21295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B50152-453C-59D2-07B4-F1876BC72810}"/>
              </a:ext>
            </a:extLst>
          </p:cNvPr>
          <p:cNvSpPr txBox="1"/>
          <p:nvPr/>
        </p:nvSpPr>
        <p:spPr>
          <a:xfrm>
            <a:off x="270718" y="5268821"/>
            <a:ext cx="67790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Общая длина кольца 251 м</a:t>
            </a:r>
            <a:r>
              <a:rPr lang="en-US" dirty="0"/>
              <a:t>: </a:t>
            </a:r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Совокупная длина всех магнитов</a:t>
            </a:r>
            <a:r>
              <a:rPr lang="en-US" dirty="0"/>
              <a:t> </a:t>
            </a:r>
            <a:r>
              <a:rPr lang="ru-RU" dirty="0"/>
              <a:t>100.8 м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Max </a:t>
            </a:r>
            <a:r>
              <a:rPr lang="ru-RU" dirty="0"/>
              <a:t>магнитное поле 1.8 Тесла</a:t>
            </a:r>
          </a:p>
          <a:p>
            <a:pPr marL="285750" indent="-285750">
              <a:buFontTx/>
              <a:buChar char="-"/>
            </a:pPr>
            <a:r>
              <a:rPr lang="ru-RU" dirty="0"/>
              <a:t>Совокупная длина</a:t>
            </a:r>
            <a:r>
              <a:rPr lang="en-US" dirty="0"/>
              <a:t> </a:t>
            </a:r>
            <a:r>
              <a:rPr lang="ru-RU" dirty="0"/>
              <a:t>всех свободных участков </a:t>
            </a:r>
            <a:r>
              <a:rPr lang="en-US" dirty="0"/>
              <a:t>78.6</a:t>
            </a:r>
            <a:r>
              <a:rPr lang="ru-RU" dirty="0"/>
              <a:t> м 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F1CBBCC9-A6F4-892A-0431-7312F21FE76F}"/>
              </a:ext>
            </a:extLst>
          </p:cNvPr>
          <p:cNvCxnSpPr>
            <a:cxnSpLocks/>
          </p:cNvCxnSpPr>
          <p:nvPr/>
        </p:nvCxnSpPr>
        <p:spPr>
          <a:xfrm>
            <a:off x="1403648" y="1340768"/>
            <a:ext cx="1440160" cy="151216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7946A081-83C0-F43F-183C-67B591E21E59}"/>
              </a:ext>
            </a:extLst>
          </p:cNvPr>
          <p:cNvCxnSpPr>
            <a:cxnSpLocks/>
          </p:cNvCxnSpPr>
          <p:nvPr/>
        </p:nvCxnSpPr>
        <p:spPr>
          <a:xfrm>
            <a:off x="827584" y="2852936"/>
            <a:ext cx="2016224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15176D95-8203-16B8-10FC-BE853DED5DCE}"/>
              </a:ext>
            </a:extLst>
          </p:cNvPr>
          <p:cNvCxnSpPr/>
          <p:nvPr/>
        </p:nvCxnSpPr>
        <p:spPr>
          <a:xfrm>
            <a:off x="2051720" y="2420888"/>
            <a:ext cx="4176464" cy="1368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正方形/長方形 43">
            <a:extLst>
              <a:ext uri="{FF2B5EF4-FFF2-40B4-BE49-F238E27FC236}">
                <a16:creationId xmlns:a16="http://schemas.microsoft.com/office/drawing/2014/main" id="{532CD315-42C7-5C9D-53AF-3D7F847A6A18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88ae095048.jpg" descr="88ae095048.jpg">
            <a:extLst>
              <a:ext uri="{FF2B5EF4-FFF2-40B4-BE49-F238E27FC236}">
                <a16:creationId xmlns:a16="http://schemas.microsoft.com/office/drawing/2014/main" id="{7934A231-D417-D243-B1AC-65FFA13AE8A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53848454-4C62-49ED-60F5-CA346C3C27D3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20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6" name="日付プレースホルダー 14">
            <a:extLst>
              <a:ext uri="{FF2B5EF4-FFF2-40B4-BE49-F238E27FC236}">
                <a16:creationId xmlns:a16="http://schemas.microsoft.com/office/drawing/2014/main" id="{BCAF3957-245D-B1D8-FAE4-65DDC5DF8D27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A55C5F-BE22-9754-F6FD-FE30D4DC4BCE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D8214-94E1-B109-4E94-E1558B3692FF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08768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8BFBB-5F49-4EF4-AA80-E3C33C73C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ru-RU" sz="2000" b="1" cap="all" dirty="0">
                <a:solidFill>
                  <a:srgbClr val="FF0000"/>
                </a:solidFill>
                <a:latin typeface="+mn-lt"/>
                <a:ea typeface="SimSun" panose="02010600030101010101" pitchFamily="2" charset="-122"/>
              </a:rPr>
              <a:t>Общий вид  кольца</a:t>
            </a:r>
            <a:r>
              <a:rPr lang="en-US" sz="2000" b="1" cap="all" dirty="0">
                <a:solidFill>
                  <a:srgbClr val="FF0000"/>
                </a:solidFill>
                <a:latin typeface="+mn-lt"/>
                <a:ea typeface="SimSun" panose="02010600030101010101" pitchFamily="2" charset="-122"/>
              </a:rPr>
              <a:t> </a:t>
            </a:r>
            <a:r>
              <a:rPr lang="ru-RU" sz="2000" b="1" cap="all" dirty="0">
                <a:solidFill>
                  <a:srgbClr val="FF0000"/>
                </a:solidFill>
                <a:latin typeface="+mn-lt"/>
                <a:ea typeface="SimSun" panose="02010600030101010101" pitchFamily="2" charset="-122"/>
              </a:rPr>
              <a:t>для дейтронов</a:t>
            </a:r>
            <a:r>
              <a:rPr lang="en-US" sz="2000" b="1" cap="all" dirty="0">
                <a:solidFill>
                  <a:srgbClr val="FF0000"/>
                </a:solidFill>
                <a:latin typeface="+mn-lt"/>
                <a:ea typeface="SimSun" panose="02010600030101010101" pitchFamily="2" charset="-122"/>
              </a:rPr>
              <a:t> “frozen spin” </a:t>
            </a:r>
            <a:r>
              <a:rPr lang="ru-RU" sz="2000" b="1" cap="all" dirty="0">
                <a:solidFill>
                  <a:srgbClr val="FF0000"/>
                </a:solidFill>
                <a:latin typeface="+mn-lt"/>
                <a:ea typeface="SimSun" panose="02010600030101010101" pitchFamily="2" charset="-122"/>
              </a:rPr>
              <a:t>опция</a:t>
            </a:r>
            <a:endParaRPr lang="ru-RU" sz="20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23C4C3D-0A89-4449-8C29-B8E3E630C4A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052736"/>
            <a:ext cx="7488832" cy="5433467"/>
          </a:xfrm>
          <a:prstGeom prst="rect">
            <a:avLst/>
          </a:prstGeom>
        </p:spPr>
      </p:pic>
      <p:sp>
        <p:nvSpPr>
          <p:cNvPr id="3" name="正方形/長方形 43">
            <a:extLst>
              <a:ext uri="{FF2B5EF4-FFF2-40B4-BE49-F238E27FC236}">
                <a16:creationId xmlns:a16="http://schemas.microsoft.com/office/drawing/2014/main" id="{56670345-118C-B946-BB92-05812BFC5608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88ae095048.jpg" descr="88ae095048.jpg">
            <a:extLst>
              <a:ext uri="{FF2B5EF4-FFF2-40B4-BE49-F238E27FC236}">
                <a16:creationId xmlns:a16="http://schemas.microsoft.com/office/drawing/2014/main" id="{554D74E6-BFD4-71BC-AF53-0C09E4C7AC3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2B4E8261-B4A9-592C-668D-ACC8C74F4A85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21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日付プレースホルダー 14">
            <a:extLst>
              <a:ext uri="{FF2B5EF4-FFF2-40B4-BE49-F238E27FC236}">
                <a16:creationId xmlns:a16="http://schemas.microsoft.com/office/drawing/2014/main" id="{F8538E9A-6F73-F2BA-BCCE-B58ACBA4C062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0AA5A7-646B-1564-708D-F182145B545F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CC429-1453-F628-4265-67C473A180F9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238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6B88842-B56F-ABBD-B09F-A7C4AC4F82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4644"/>
                <a:ext cx="8229600" cy="5508612"/>
              </a:xfrm>
            </p:spPr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:r>
                  <a:rPr lang="ru-RU" sz="1800" b="1" dirty="0">
                    <a:solidFill>
                      <a:srgbClr val="FF0000"/>
                    </a:solidFill>
                  </a:rPr>
                  <a:t>ЗАКЛЮЧЕНИЕ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ru-RU" sz="1800" b="1" dirty="0">
                    <a:solidFill>
                      <a:srgbClr val="0070C0"/>
                    </a:solidFill>
                  </a:rPr>
                  <a:t>Фундаментальные основы, позволяющие говорить о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:r>
                  <a:rPr lang="ru-RU" sz="1800" b="1" dirty="0">
                    <a:solidFill>
                      <a:srgbClr val="0070C0"/>
                    </a:solidFill>
                  </a:rPr>
                  <a:t>реализуемости эксперимента по изучению </a:t>
                </a:r>
                <a:r>
                  <a:rPr lang="ru-RU" sz="1800" b="1" dirty="0">
                    <a:solidFill>
                      <a:srgbClr val="FF0000"/>
                    </a:solidFill>
                  </a:rPr>
                  <a:t>ЭДМ</a:t>
                </a:r>
                <a:endParaRPr lang="en-US" sz="18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SPRINT</a:t>
                </a:r>
                <a:r>
                  <a:rPr lang="ru-RU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1800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pin </a:t>
                </a:r>
                <a:r>
                  <a:rPr lang="en-US" sz="1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en-US" sz="1800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hysics </a:t>
                </a:r>
                <a:r>
                  <a:rPr lang="en-US" sz="1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sz="1800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esearch </a:t>
                </a:r>
                <a:r>
                  <a:rPr lang="en-US" sz="1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</a:t>
                </a:r>
                <a:r>
                  <a:rPr lang="en-US" sz="1800" b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frastructure</a:t>
                </a:r>
                <a:r>
                  <a:rPr lang="en-US" sz="1800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and </a:t>
                </a:r>
                <a:r>
                  <a:rPr lang="en-US" sz="1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en-US" sz="1800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echnologies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 </a:t>
                </a:r>
                <a:endParaRPr lang="ru-RU" sz="18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0000"/>
                    </a:solidFill>
                  </a:rPr>
                  <a:t>collaboration</a:t>
                </a:r>
                <a:r>
                  <a:rPr lang="ru-RU" sz="1800" b="1" dirty="0">
                    <a:solidFill>
                      <a:srgbClr val="FF0000"/>
                    </a:solidFill>
                  </a:rPr>
                  <a:t> </a:t>
                </a:r>
                <a:r>
                  <a:rPr lang="ru-RU" sz="1800" b="1" dirty="0">
                    <a:solidFill>
                      <a:srgbClr val="0070C0"/>
                    </a:solidFill>
                  </a:rPr>
                  <a:t>ОИЯИ+ИЯИ+ИТФ+МФТИ+МИФИ</a:t>
                </a:r>
                <a:r>
                  <a:rPr lang="ru-RU" sz="1800" b="1" dirty="0">
                    <a:solidFill>
                      <a:srgbClr val="FF0000"/>
                    </a:solidFill>
                  </a:rPr>
                  <a:t> </a:t>
                </a:r>
                <a:endParaRPr lang="en-US" sz="1800" b="1" dirty="0">
                  <a:solidFill>
                    <a:srgbClr val="0070C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070C0"/>
                    </a:solidFill>
                  </a:rPr>
                  <a:t>=================================================</a:t>
                </a:r>
                <a:endParaRPr lang="ru-RU" sz="2400" b="1" dirty="0">
                  <a:solidFill>
                    <a:srgbClr val="0070C0"/>
                  </a:solidFill>
                </a:endParaRPr>
              </a:p>
              <a:p>
                <a:pPr>
                  <a:lnSpc>
                    <a:spcPts val="1900"/>
                  </a:lnSpc>
                </a:pPr>
                <a:r>
                  <a:rPr lang="ru-RU" sz="1800" b="1" dirty="0">
                    <a:solidFill>
                      <a:srgbClr val="FF0000"/>
                    </a:solidFill>
                  </a:rPr>
                  <a:t>Экспериментально</a:t>
                </a:r>
                <a:r>
                  <a:rPr lang="ru-RU" sz="1800" dirty="0"/>
                  <a:t> достигнуто время </a:t>
                </a:r>
                <a:r>
                  <a:rPr lang="ru-RU" sz="1800" b="1" dirty="0"/>
                  <a:t>сохранения поляризации порядка 1000 секунд </a:t>
                </a:r>
                <a:r>
                  <a:rPr lang="ru-RU" sz="1800" dirty="0"/>
                  <a:t>за счет подавления </a:t>
                </a:r>
                <a:r>
                  <a:rPr lang="ru-RU" sz="1800" dirty="0" err="1"/>
                  <a:t>декогеренции</a:t>
                </a:r>
                <a:r>
                  <a:rPr lang="ru-RU" sz="1800" dirty="0"/>
                  <a:t> спина методом введения нелинейных магнитооптических элементов</a:t>
                </a:r>
              </a:p>
              <a:p>
                <a:pPr>
                  <a:lnSpc>
                    <a:spcPts val="1900"/>
                  </a:lnSpc>
                </a:pPr>
                <a:r>
                  <a:rPr lang="ru-RU" sz="1800" b="1" dirty="0">
                    <a:solidFill>
                      <a:srgbClr val="FF0000"/>
                    </a:solidFill>
                  </a:rPr>
                  <a:t>Экспериментально</a:t>
                </a:r>
                <a:r>
                  <a:rPr lang="ru-RU" sz="1800" dirty="0">
                    <a:solidFill>
                      <a:schemeClr val="tx1"/>
                    </a:solidFill>
                  </a:rPr>
                  <a:t> достигнута </a:t>
                </a:r>
                <a:r>
                  <a:rPr lang="ru-RU" sz="1800" b="1" dirty="0">
                    <a:solidFill>
                      <a:schemeClr val="tx1"/>
                    </a:solidFill>
                  </a:rPr>
                  <a:t>абсолютная точность измерения частоты </a:t>
                </a:r>
                <a:r>
                  <a:rPr lang="ru-RU" sz="1800" dirty="0">
                    <a:solidFill>
                      <a:schemeClr val="tx1"/>
                    </a:solidFill>
                  </a:rPr>
                  <a:t>прецессии спина уровне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ru-RU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ru-RU" sz="1800" b="1" dirty="0">
                    <a:solidFill>
                      <a:schemeClr val="tx1"/>
                    </a:solidFill>
                  </a:rPr>
                  <a:t> </a:t>
                </a:r>
                <a:r>
                  <a:rPr lang="ru-RU" sz="1800" dirty="0">
                    <a:solidFill>
                      <a:schemeClr val="tx1"/>
                    </a:solidFill>
                  </a:rPr>
                  <a:t>за один </a:t>
                </a:r>
                <a:r>
                  <a:rPr lang="en-US" sz="1800" dirty="0">
                    <a:solidFill>
                      <a:schemeClr val="tx1"/>
                    </a:solidFill>
                  </a:rPr>
                  <a:t>run</a:t>
                </a:r>
              </a:p>
              <a:p>
                <a:pPr>
                  <a:lnSpc>
                    <a:spcPts val="1900"/>
                  </a:lnSpc>
                </a:pPr>
                <a:r>
                  <a:rPr lang="ru-RU" sz="1800" b="1" dirty="0">
                    <a:solidFill>
                      <a:srgbClr val="FF0000"/>
                    </a:solidFill>
                  </a:rPr>
                  <a:t>Разработана концепция квази-замороженного спина (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QFS</a:t>
                </a:r>
                <a:r>
                  <a:rPr lang="ru-RU" sz="1800" b="1" dirty="0">
                    <a:solidFill>
                      <a:srgbClr val="FF0000"/>
                    </a:solidFill>
                  </a:rPr>
                  <a:t>)</a:t>
                </a:r>
                <a:r>
                  <a:rPr lang="ru-RU" sz="1800" dirty="0"/>
                  <a:t> для измерения ЭДМ на установках NICA (коллайдер + </a:t>
                </a:r>
                <a:r>
                  <a:rPr lang="ru-RU" sz="1800" dirty="0" err="1"/>
                  <a:t>Нуклотрон</a:t>
                </a:r>
                <a:r>
                  <a:rPr lang="ru-RU" sz="1800" dirty="0"/>
                  <a:t>) изначально неориентированных на ЭДМ с использованием фильтров Вина</a:t>
                </a:r>
              </a:p>
              <a:p>
                <a:pPr>
                  <a:lnSpc>
                    <a:spcPts val="1900"/>
                  </a:lnSpc>
                </a:pPr>
                <a:r>
                  <a:rPr lang="ru-RU" sz="1800" b="1" dirty="0">
                    <a:solidFill>
                      <a:srgbClr val="FF0000"/>
                    </a:solidFill>
                  </a:rPr>
                  <a:t>Разработаны магнитооптические структуры </a:t>
                </a:r>
                <a:r>
                  <a:rPr lang="ru-RU" sz="1800" dirty="0"/>
                  <a:t>специализированного кольца для измерения ЭДМ протона и дейтрона  </a:t>
                </a:r>
              </a:p>
              <a:p>
                <a:pPr>
                  <a:lnSpc>
                    <a:spcPts val="1900"/>
                  </a:lnSpc>
                </a:pPr>
                <a:r>
                  <a:rPr lang="ru-RU" sz="1800" b="1" dirty="0">
                    <a:solidFill>
                      <a:srgbClr val="FF0000"/>
                    </a:solidFill>
                  </a:rPr>
                  <a:t>Разработан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FDM </a:t>
                </a:r>
                <a:r>
                  <a:rPr lang="ru-RU" sz="1800" b="1" dirty="0">
                    <a:solidFill>
                      <a:srgbClr val="FF0000"/>
                    </a:solidFill>
                  </a:rPr>
                  <a:t>метод (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Frequency Domain Method</a:t>
                </a:r>
                <a:r>
                  <a:rPr lang="ru-RU" sz="1800" b="1" dirty="0">
                    <a:solidFill>
                      <a:srgbClr val="FF0000"/>
                    </a:solidFill>
                  </a:rPr>
                  <a:t>) </a:t>
                </a:r>
                <a:r>
                  <a:rPr lang="ru-RU" sz="1800" dirty="0"/>
                  <a:t>измерения ЭДМ на основе измерения частоты прецессии спина, который позволит получить чувствительность измерения ЭДМ на уровне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8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ru-RU" sz="1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sz="1800" b="1" i="1" smtClean="0">
                            <a:latin typeface="Cambria Math" panose="02040503050406030204" pitchFamily="18" charset="0"/>
                          </a:rPr>
                          <m:t>𝟐𝟗</m:t>
                        </m:r>
                      </m:sup>
                    </m:sSup>
                    <m:r>
                      <a:rPr lang="ru-RU" sz="1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𝒄𝒎</m:t>
                    </m:r>
                  </m:oMath>
                </a14:m>
                <a:endParaRPr lang="en-US" sz="1800" b="1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6B88842-B56F-ABBD-B09F-A7C4AC4F82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4644"/>
                <a:ext cx="8229600" cy="5508612"/>
              </a:xfrm>
              <a:blipFill>
                <a:blip r:embed="rId2"/>
                <a:stretch>
                  <a:fillRect l="-463" t="-460" r="-772" b="-13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正方形/長方形 43">
            <a:extLst>
              <a:ext uri="{FF2B5EF4-FFF2-40B4-BE49-F238E27FC236}">
                <a16:creationId xmlns:a16="http://schemas.microsoft.com/office/drawing/2014/main" id="{105C3024-83B8-2FE3-7AC1-1DB94E15C05E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88ae095048.jpg" descr="88ae095048.jpg">
            <a:extLst>
              <a:ext uri="{FF2B5EF4-FFF2-40B4-BE49-F238E27FC236}">
                <a16:creationId xmlns:a16="http://schemas.microsoft.com/office/drawing/2014/main" id="{0168C25D-85EF-6DC2-316A-01902B0A9B7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6AD2297C-6300-7745-9580-CB2ABA7380C9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22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6" name="日付プレースホルダー 14">
            <a:extLst>
              <a:ext uri="{FF2B5EF4-FFF2-40B4-BE49-F238E27FC236}">
                <a16:creationId xmlns:a16="http://schemas.microsoft.com/office/drawing/2014/main" id="{D69221F7-032D-0792-71A0-4BC712000D02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3EE56-6D12-1A79-3276-08F4A4002069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D54B0-C0C7-D0D4-599E-2FAAD72FE631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30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>
            <a:extLst>
              <a:ext uri="{FF2B5EF4-FFF2-40B4-BE49-F238E27FC236}">
                <a16:creationId xmlns:a16="http://schemas.microsoft.com/office/drawing/2014/main" id="{291D6899-D85B-40C2-84CF-1E6EFE7A721A}"/>
              </a:ext>
            </a:extLst>
          </p:cNvPr>
          <p:cNvSpPr txBox="1"/>
          <p:nvPr/>
        </p:nvSpPr>
        <p:spPr>
          <a:xfrm>
            <a:off x="1095375" y="5299075"/>
            <a:ext cx="6959600" cy="11080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de-DE" sz="66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Highest sensitivity</a:t>
            </a: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9B55B2F-02F0-41E6-B5E9-6259CA2D7F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8975" y="53975"/>
            <a:ext cx="7772400" cy="7207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de-DE" altLang="en-US" sz="3600" dirty="0">
                <a:solidFill>
                  <a:srgbClr val="FF0000"/>
                </a:solidFill>
                <a:latin typeface="+mn-lt"/>
              </a:rPr>
              <a:t>Storage Ring EDM Project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4EB0469-F9F8-4986-939C-2F1092E88AC0}"/>
              </a:ext>
            </a:extLst>
          </p:cNvPr>
          <p:cNvSpPr/>
          <p:nvPr/>
        </p:nvSpPr>
        <p:spPr bwMode="auto">
          <a:xfrm>
            <a:off x="323850" y="836141"/>
            <a:ext cx="8569325" cy="4537075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de-DE">
              <a:latin typeface="Arial" charset="0"/>
            </a:endParaRPr>
          </a:p>
        </p:txBody>
      </p:sp>
      <p:pic>
        <p:nvPicPr>
          <p:cNvPr id="40965" name="Picture 2">
            <a:extLst>
              <a:ext uri="{FF2B5EF4-FFF2-40B4-BE49-F238E27FC236}">
                <a16:creationId xmlns:a16="http://schemas.microsoft.com/office/drawing/2014/main" id="{27838974-05ED-4C68-B055-2445AF161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32" r="29541"/>
          <a:stretch>
            <a:fillRect/>
          </a:stretch>
        </p:blipFill>
        <p:spPr bwMode="auto">
          <a:xfrm>
            <a:off x="827088" y="864716"/>
            <a:ext cx="593725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>
            <a:extLst>
              <a:ext uri="{FF2B5EF4-FFF2-40B4-BE49-F238E27FC236}">
                <a16:creationId xmlns:a16="http://schemas.microsoft.com/office/drawing/2014/main" id="{8C543AD2-2F45-41F6-B3DC-CCFE0A58E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58" t="47318" r="36014" b="44414"/>
          <a:stretch>
            <a:fillRect/>
          </a:stretch>
        </p:blipFill>
        <p:spPr bwMode="auto">
          <a:xfrm>
            <a:off x="3492500" y="3228504"/>
            <a:ext cx="14017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67" name="Gerade Verbindung mit Pfeil 2">
            <a:extLst>
              <a:ext uri="{FF2B5EF4-FFF2-40B4-BE49-F238E27FC236}">
                <a16:creationId xmlns:a16="http://schemas.microsoft.com/office/drawing/2014/main" id="{C67E053C-9E28-45E7-B0EC-DD41C486F3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16150" y="1852141"/>
            <a:ext cx="3744913" cy="172720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0968" name="Picture 2">
            <a:extLst>
              <a:ext uri="{FF2B5EF4-FFF2-40B4-BE49-F238E27FC236}">
                <a16:creationId xmlns:a16="http://schemas.microsoft.com/office/drawing/2014/main" id="{5177D554-21AE-43D3-A2B4-5EF8E0B99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35" t="56583" r="42677" b="32079"/>
          <a:stretch>
            <a:fillRect/>
          </a:stretch>
        </p:blipFill>
        <p:spPr bwMode="auto">
          <a:xfrm>
            <a:off x="4575175" y="2255366"/>
            <a:ext cx="1700213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9" name="Rechteck 1">
            <a:extLst>
              <a:ext uri="{FF2B5EF4-FFF2-40B4-BE49-F238E27FC236}">
                <a16:creationId xmlns:a16="http://schemas.microsoft.com/office/drawing/2014/main" id="{0F057D7F-DFEC-4392-9B88-EEBCFD6AF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438" y="2907829"/>
            <a:ext cx="144462" cy="196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anose="05000000000000000000" pitchFamily="2" charset="2"/>
              <a:buChar char="§"/>
              <a:defRPr sz="22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endParaRPr lang="ru-RU" altLang="en-US" sz="3200"/>
          </a:p>
        </p:txBody>
      </p:sp>
      <p:cxnSp>
        <p:nvCxnSpPr>
          <p:cNvPr id="40970" name="Gerade Verbindung mit Pfeil 2">
            <a:extLst>
              <a:ext uri="{FF2B5EF4-FFF2-40B4-BE49-F238E27FC236}">
                <a16:creationId xmlns:a16="http://schemas.microsoft.com/office/drawing/2014/main" id="{EC379DD0-EDCF-4893-92E6-4E1BB4B15E0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22975" y="2947516"/>
            <a:ext cx="552450" cy="995363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71" name="Textfeld 3">
            <a:extLst>
              <a:ext uri="{FF2B5EF4-FFF2-40B4-BE49-F238E27FC236}">
                <a16:creationId xmlns:a16="http://schemas.microsoft.com/office/drawing/2014/main" id="{54F45C43-C72C-40C8-A04D-FE8EDFAF7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338" y="2180754"/>
            <a:ext cx="754062" cy="584200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anose="05000000000000000000" pitchFamily="2" charset="2"/>
              <a:buChar char="§"/>
              <a:defRPr sz="22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de-DE" altLang="en-US" sz="1600">
                <a:solidFill>
                  <a:schemeClr val="bg1"/>
                </a:solidFill>
              </a:rPr>
              <a:t>pEDM</a:t>
            </a:r>
          </a:p>
          <a:p>
            <a:pPr eaLnBrk="1" hangingPunct="1">
              <a:spcBef>
                <a:spcPct val="0"/>
              </a:spcBef>
              <a:buClrTx/>
            </a:pPr>
            <a:r>
              <a:rPr lang="de-DE" altLang="en-US" sz="1600">
                <a:solidFill>
                  <a:schemeClr val="bg1"/>
                </a:solidFill>
              </a:rPr>
              <a:t>dEDM</a:t>
            </a:r>
          </a:p>
        </p:txBody>
      </p:sp>
      <p:sp>
        <p:nvSpPr>
          <p:cNvPr id="40972" name="Rechteck 1">
            <a:extLst>
              <a:ext uri="{FF2B5EF4-FFF2-40B4-BE49-F238E27FC236}">
                <a16:creationId xmlns:a16="http://schemas.microsoft.com/office/drawing/2014/main" id="{A531A39E-2BC7-4D28-BEAA-A973AF302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5438" y="2096616"/>
            <a:ext cx="1368425" cy="2124075"/>
          </a:xfrm>
          <a:prstGeom prst="rect">
            <a:avLst/>
          </a:prstGeom>
          <a:solidFill>
            <a:srgbClr val="FFFF00">
              <a:alpha val="2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anose="05000000000000000000" pitchFamily="2" charset="2"/>
              <a:buChar char="§"/>
              <a:defRPr sz="22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endParaRPr lang="ru-RU" altLang="en-US" sz="3200"/>
          </a:p>
        </p:txBody>
      </p:sp>
      <p:sp>
        <p:nvSpPr>
          <p:cNvPr id="25" name="Stern mit 5 Zacken 24">
            <a:extLst>
              <a:ext uri="{FF2B5EF4-FFF2-40B4-BE49-F238E27FC236}">
                <a16:creationId xmlns:a16="http://schemas.microsoft.com/office/drawing/2014/main" id="{256689BD-0199-4C3D-BD9D-E8FAF5488B58}"/>
              </a:ext>
            </a:extLst>
          </p:cNvPr>
          <p:cNvSpPr/>
          <p:nvPr/>
        </p:nvSpPr>
        <p:spPr bwMode="auto">
          <a:xfrm>
            <a:off x="6554788" y="3922241"/>
            <a:ext cx="115887" cy="144463"/>
          </a:xfrm>
          <a:prstGeom prst="star5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de-DE">
              <a:latin typeface="Arial" charset="0"/>
            </a:endParaRPr>
          </a:p>
        </p:txBody>
      </p:sp>
      <p:sp>
        <p:nvSpPr>
          <p:cNvPr id="26" name="Stern mit 5 Zacken 25">
            <a:extLst>
              <a:ext uri="{FF2B5EF4-FFF2-40B4-BE49-F238E27FC236}">
                <a16:creationId xmlns:a16="http://schemas.microsoft.com/office/drawing/2014/main" id="{AA2CAB27-D8D7-42DC-AC16-DC3EAA00D6F6}"/>
              </a:ext>
            </a:extLst>
          </p:cNvPr>
          <p:cNvSpPr/>
          <p:nvPr/>
        </p:nvSpPr>
        <p:spPr bwMode="auto">
          <a:xfrm>
            <a:off x="5922963" y="2791941"/>
            <a:ext cx="117475" cy="144463"/>
          </a:xfrm>
          <a:prstGeom prst="star5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de-DE">
              <a:latin typeface="Arial" charset="0"/>
            </a:endParaRPr>
          </a:p>
        </p:txBody>
      </p:sp>
      <p:sp>
        <p:nvSpPr>
          <p:cNvPr id="40975" name="Explosion 1 3">
            <a:extLst>
              <a:ext uri="{FF2B5EF4-FFF2-40B4-BE49-F238E27FC236}">
                <a16:creationId xmlns:a16="http://schemas.microsoft.com/office/drawing/2014/main" id="{73508D10-3CE2-40D5-BCD6-C8A965F87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649066"/>
            <a:ext cx="2089150" cy="2436813"/>
          </a:xfrm>
          <a:prstGeom prst="irregularSeal1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anose="05000000000000000000" pitchFamily="2" charset="2"/>
              <a:buChar char="§"/>
              <a:defRPr sz="22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endParaRPr lang="ru-RU" altLang="en-US" sz="3200"/>
          </a:p>
        </p:txBody>
      </p:sp>
      <p:sp>
        <p:nvSpPr>
          <p:cNvPr id="40976" name="Textfeld 1">
            <a:extLst>
              <a:ext uri="{FF2B5EF4-FFF2-40B4-BE49-F238E27FC236}">
                <a16:creationId xmlns:a16="http://schemas.microsoft.com/office/drawing/2014/main" id="{B8B35D22-CEEF-4403-9D6A-94289704C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6288" y="3401541"/>
            <a:ext cx="1270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09EE0"/>
              </a:buClr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5B8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5B82"/>
              </a:buClr>
              <a:buFont typeface="Wingdings" panose="05000000000000000000" pitchFamily="2" charset="2"/>
              <a:buChar char="§"/>
              <a:defRPr sz="22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</a:pPr>
            <a:r>
              <a:rPr lang="de-DE" altLang="en-US" sz="1600" b="1">
                <a:solidFill>
                  <a:schemeClr val="bg1"/>
                </a:solidFill>
              </a:rPr>
              <a:t>Possibility </a:t>
            </a:r>
          </a:p>
          <a:p>
            <a:pPr algn="ctr" eaLnBrk="1" hangingPunct="1">
              <a:spcBef>
                <a:spcPct val="0"/>
              </a:spcBef>
              <a:buClrTx/>
            </a:pPr>
            <a:r>
              <a:rPr lang="de-DE" altLang="en-US" sz="1600" b="1">
                <a:solidFill>
                  <a:schemeClr val="bg1"/>
                </a:solidFill>
              </a:rPr>
              <a:t>of a </a:t>
            </a:r>
          </a:p>
          <a:p>
            <a:pPr algn="ctr" eaLnBrk="1" hangingPunct="1">
              <a:spcBef>
                <a:spcPct val="0"/>
              </a:spcBef>
              <a:buClrTx/>
            </a:pPr>
            <a:r>
              <a:rPr lang="de-DE" altLang="en-US" sz="1600" b="1">
                <a:solidFill>
                  <a:schemeClr val="bg1"/>
                </a:solidFill>
              </a:rPr>
              <a:t>discovery</a:t>
            </a:r>
          </a:p>
        </p:txBody>
      </p:sp>
      <p:sp>
        <p:nvSpPr>
          <p:cNvPr id="2" name="正方形/長方形 43">
            <a:extLst>
              <a:ext uri="{FF2B5EF4-FFF2-40B4-BE49-F238E27FC236}">
                <a16:creationId xmlns:a16="http://schemas.microsoft.com/office/drawing/2014/main" id="{409B0F1A-A8AD-5BFE-F396-9E5B695BDEDE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88ae095048.jpg" descr="88ae095048.jpg">
            <a:extLst>
              <a:ext uri="{FF2B5EF4-FFF2-40B4-BE49-F238E27FC236}">
                <a16:creationId xmlns:a16="http://schemas.microsoft.com/office/drawing/2014/main" id="{7B6A796A-CA0E-DAAC-D58E-46ED16051A5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スライド番号プレースホルダー 16">
            <a:extLst>
              <a:ext uri="{FF2B5EF4-FFF2-40B4-BE49-F238E27FC236}">
                <a16:creationId xmlns:a16="http://schemas.microsoft.com/office/drawing/2014/main" id="{A69B9564-A49D-785F-3F4B-417087160BF3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23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5" name="日付プレースホルダー 14">
            <a:extLst>
              <a:ext uri="{FF2B5EF4-FFF2-40B4-BE49-F238E27FC236}">
                <a16:creationId xmlns:a16="http://schemas.microsoft.com/office/drawing/2014/main" id="{DA5819D8-90CC-D07A-2FA9-35F8AEE1F479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B3A072-F2A8-83A8-3EA0-017FA4F6D8C4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48B4A-F453-5854-6315-35128A50D17F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6714888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549" t="9096" r="-4823" b="-2145"/>
          <a:stretch>
            <a:fillRect/>
          </a:stretch>
        </p:blipFill>
        <p:spPr bwMode="auto">
          <a:xfrm>
            <a:off x="2503488" y="2092325"/>
            <a:ext cx="4167187" cy="2657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正方形/長方形 43">
            <a:extLst>
              <a:ext uri="{FF2B5EF4-FFF2-40B4-BE49-F238E27FC236}">
                <a16:creationId xmlns:a16="http://schemas.microsoft.com/office/drawing/2014/main" id="{09392D1C-C611-8547-047C-CCDFC3B5D378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88ae095048.jpg" descr="88ae095048.jpg">
            <a:extLst>
              <a:ext uri="{FF2B5EF4-FFF2-40B4-BE49-F238E27FC236}">
                <a16:creationId xmlns:a16="http://schemas.microsoft.com/office/drawing/2014/main" id="{A61D6414-C3E9-A4EE-51A2-C6C85AA54F2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スライド番号プレースホルダー 16">
            <a:extLst>
              <a:ext uri="{FF2B5EF4-FFF2-40B4-BE49-F238E27FC236}">
                <a16:creationId xmlns:a16="http://schemas.microsoft.com/office/drawing/2014/main" id="{037BF7FF-E1A6-80F9-C359-4525178788AC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24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5" name="日付プレースホルダー 14">
            <a:extLst>
              <a:ext uri="{FF2B5EF4-FFF2-40B4-BE49-F238E27FC236}">
                <a16:creationId xmlns:a16="http://schemas.microsoft.com/office/drawing/2014/main" id="{A008DB74-9C9D-8CDF-9737-88DBE76E0B9F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ECE0-7252-D5E2-152D-3641FB55059C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6EB0D-204C-EA96-CE23-90695C1B2891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181255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E08D3C-31C9-C50D-07D6-BF10A9D43979}"/>
              </a:ext>
            </a:extLst>
          </p:cNvPr>
          <p:cNvSpPr txBox="1"/>
          <p:nvPr/>
        </p:nvSpPr>
        <p:spPr>
          <a:xfrm>
            <a:off x="4027470" y="2887038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 UP</a:t>
            </a:r>
          </a:p>
        </p:txBody>
      </p:sp>
    </p:spTree>
    <p:extLst>
      <p:ext uri="{BB962C8B-B14F-4D97-AF65-F5344CB8AC3E}">
        <p14:creationId xmlns:p14="http://schemas.microsoft.com/office/powerpoint/2010/main" val="331734452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42A5D-194C-48A6-84BC-F67B06E94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858" y="263419"/>
            <a:ext cx="5421493" cy="645301"/>
          </a:xfrm>
        </p:spPr>
        <p:txBody>
          <a:bodyPr>
            <a:normAutofit/>
          </a:bodyPr>
          <a:lstStyle/>
          <a:p>
            <a:r>
              <a:rPr lang="en-US" sz="2400" dirty="0"/>
              <a:t>Measurement of polarization</a:t>
            </a:r>
            <a:r>
              <a:rPr lang="ru-RU" sz="2400" dirty="0"/>
              <a:t> </a:t>
            </a:r>
            <a:r>
              <a:rPr lang="en-US" sz="2400" dirty="0"/>
              <a:t>asymmetry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74CFA1F-38C2-4DD5-B880-406ECE76D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372" y="889856"/>
            <a:ext cx="4176464" cy="5813244"/>
          </a:xfrm>
        </p:spPr>
      </p:pic>
      <p:sp>
        <p:nvSpPr>
          <p:cNvPr id="3" name="正方形/長方形 43">
            <a:extLst>
              <a:ext uri="{FF2B5EF4-FFF2-40B4-BE49-F238E27FC236}">
                <a16:creationId xmlns:a16="http://schemas.microsoft.com/office/drawing/2014/main" id="{4722732E-9980-0DFC-3802-B9FDFA7618AF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88ae095048.jpg" descr="88ae095048.jpg">
            <a:extLst>
              <a:ext uri="{FF2B5EF4-FFF2-40B4-BE49-F238E27FC236}">
                <a16:creationId xmlns:a16="http://schemas.microsoft.com/office/drawing/2014/main" id="{C4C2049C-23CF-E5A1-430D-A42E6C0EEE6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96449EC9-082D-9772-ECC5-B196BDF0AC59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26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日付プレースホルダー 14">
            <a:extLst>
              <a:ext uri="{FF2B5EF4-FFF2-40B4-BE49-F238E27FC236}">
                <a16:creationId xmlns:a16="http://schemas.microsoft.com/office/drawing/2014/main" id="{0B49B2F0-F11A-7362-0455-1843DC91EC55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EB2BB-D819-E90C-68EB-A4CE962922A3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CA001-99E7-9CD4-9969-88F641FB006A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67898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DEC7D9-1112-5C65-A081-AE24FCE54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Векторная диаграмма полей и частот</a:t>
            </a:r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9A69E107-075A-E0B6-09D5-14D1C00D5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403" y="1600200"/>
            <a:ext cx="6607193" cy="4525963"/>
          </a:xfr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6045B67-793A-3538-F0FD-E7D27393F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87453" cy="63369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81089E-717B-7974-DA49-9F338796645B}"/>
                  </a:ext>
                </a:extLst>
              </p:cNvPr>
              <p:cNvSpPr txBox="1"/>
              <p:nvPr/>
            </p:nvSpPr>
            <p:spPr>
              <a:xfrm>
                <a:off x="-684585" y="2420888"/>
                <a:ext cx="5256583" cy="595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sz="1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1200" b="1" i="1">
                              <a:latin typeface="Cambria Math" panose="02040503050406030204" pitchFamily="18" charset="0"/>
                            </a:rPr>
                            <m:t>𝜴</m:t>
                          </m:r>
                        </m:e>
                      </m:acc>
                      <m:r>
                        <a:rPr lang="ru-RU" sz="12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2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num>
                        <m:den>
                          <m:r>
                            <a:rPr lang="ru-RU" sz="12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ru-RU" sz="1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  <m:groupChr>
                            <m:groupChrPr>
                              <m:chr m:val="→"/>
                              <m:pos m:val="top"/>
                              <m:vertJc m:val="bot"/>
                              <m:ctrlPr>
                                <a:rPr lang="ru-RU" sz="12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ru-RU" sz="12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groupChr>
                          <m:r>
                            <a:rPr lang="ru-RU" sz="12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ru-RU" sz="12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2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2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sz="1200" b="1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200" b="1" i="1">
                                          <a:latin typeface="Cambria Math" panose="02040503050406030204" pitchFamily="18" charset="0"/>
                                        </a:rPr>
                                        <m:t>𝜸</m:t>
                                      </m:r>
                                    </m:e>
                                    <m:sup>
                                      <m:r>
                                        <a:rPr lang="ru-RU" sz="1200" b="1" i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ru-RU" sz="12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12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den>
                              </m:f>
                              <m:r>
                                <a:rPr lang="ru-RU" sz="12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1200" b="1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</m:d>
                          <m:d>
                            <m:dPr>
                              <m:ctrlPr>
                                <a:rPr lang="ru-RU" sz="12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2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groupChr>
                                    <m:groupChrPr>
                                      <m:chr m:val="→"/>
                                      <m:pos m:val="top"/>
                                      <m:vertJc m:val="bot"/>
                                      <m:ctrlPr>
                                        <a:rPr lang="ru-RU" sz="1200" b="1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ru-RU" sz="1200" b="1" i="1">
                                          <a:latin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</m:groupChr>
                                  <m:r>
                                    <a:rPr lang="ru-RU" sz="1200" b="1" i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groupChr>
                                    <m:groupChrPr>
                                      <m:chr m:val="→"/>
                                      <m:pos m:val="top"/>
                                      <m:vertJc m:val="bot"/>
                                      <m:ctrlPr>
                                        <a:rPr lang="ru-RU" sz="1200" b="1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ru-RU" sz="1200" b="1" i="1">
                                          <a:latin typeface="Cambria Math" panose="02040503050406030204" pitchFamily="18" charset="0"/>
                                        </a:rPr>
                                        <m:t>𝑬</m:t>
                                      </m:r>
                                    </m:e>
                                  </m:groupChr>
                                </m:num>
                                <m:den>
                                  <m: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den>
                              </m:f>
                            </m:e>
                          </m:d>
                          <m:r>
                            <a:rPr lang="ru-RU" sz="12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2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1" i="1"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num>
                            <m:den>
                              <m:r>
                                <a:rPr lang="ru-RU" sz="12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d>
                            <m:dPr>
                              <m:ctrlPr>
                                <a:rPr lang="ru-RU" sz="12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2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⃗"/>
                                      <m:ctrlPr>
                                        <a:rPr lang="ru-RU" sz="1200" b="1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1200" b="1" i="1">
                                          <a:latin typeface="Cambria Math" panose="02040503050406030204" pitchFamily="18" charset="0"/>
                                        </a:rPr>
                                        <m:t>𝑬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den>
                              </m:f>
                              <m:r>
                                <a:rPr lang="ru-RU" sz="1200" b="1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ru-RU" sz="12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  <m:r>
                                <a:rPr lang="ru-RU" sz="1200" b="1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ru-RU" sz="12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ru-RU" sz="12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81089E-717B-7974-DA49-9F3387966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4585" y="2420888"/>
                <a:ext cx="5256583" cy="5955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1CEF24-D0EC-BF70-30DF-88BF12895646}"/>
                  </a:ext>
                </a:extLst>
              </p:cNvPr>
              <p:cNvSpPr txBox="1"/>
              <p:nvPr/>
            </p:nvSpPr>
            <p:spPr>
              <a:xfrm>
                <a:off x="-31593" y="864365"/>
                <a:ext cx="4364498" cy="571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ru-RU" sz="12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200" b="1" i="1">
                                  <a:latin typeface="Cambria Math" panose="02040503050406030204" pitchFamily="18" charset="0"/>
                                </a:rPr>
                                <m:t>𝜴</m:t>
                              </m:r>
                            </m:e>
                          </m:acc>
                        </m:e>
                        <m:sub>
                          <m:r>
                            <a:rPr lang="ru-RU" sz="1200" b="1" i="1">
                              <a:latin typeface="Cambria Math" panose="02040503050406030204" pitchFamily="18" charset="0"/>
                            </a:rPr>
                            <m:t>𝑴𝑫𝑴</m:t>
                          </m:r>
                        </m:sub>
                      </m:sSub>
                      <m:r>
                        <a:rPr lang="ru-RU" sz="1200" b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2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num>
                        <m:den>
                          <m:r>
                            <a:rPr lang="ru-RU" sz="12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ru-RU" sz="1200" b="1" i="1">
                              <a:latin typeface="Cambria Math" panose="02040503050406030204" pitchFamily="18" charset="0"/>
                            </a:rPr>
                            <m:t>𝜸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ru-RU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200" b="1" i="1">
                                  <a:latin typeface="Cambria Math" panose="02040503050406030204" pitchFamily="18" charset="0"/>
                                </a:rPr>
                                <m:t>𝜸</m:t>
                              </m:r>
                              <m:r>
                                <a:rPr lang="ru-RU" sz="1200" b="1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ru-RU" sz="1200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120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sSub>
                            <m:sSubPr>
                              <m:ctrlPr>
                                <a:rPr lang="ru-RU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sz="1200" b="1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  <m:r>
                            <a:rPr lang="ru-RU" sz="1200" b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ru-RU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200" b="1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ru-RU" sz="1200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120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sSub>
                            <m:sSubPr>
                              <m:ctrlPr>
                                <a:rPr lang="ru-RU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sz="1200" b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ru-RU" sz="1200" b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ru-RU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200" b="1" i="1">
                                  <a:latin typeface="Cambria Math" panose="02040503050406030204" pitchFamily="18" charset="0"/>
                                </a:rPr>
                                <m:t>𝜸</m:t>
                              </m:r>
                              <m:r>
                                <a:rPr lang="ru-RU" sz="1200" b="1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ru-RU" sz="1200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  <m:t>𝜸</m:t>
                                  </m:r>
                                </m:num>
                                <m:den>
                                  <m: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  <m:t>𝜸</m:t>
                                  </m:r>
                                  <m:r>
                                    <a:rPr lang="ru-RU" sz="1200" b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sz="1200" b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den>
                              </m:f>
                            </m:e>
                          </m:d>
                          <m:f>
                            <m:fPr>
                              <m:ctrlPr>
                                <a:rPr lang="ru-RU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  <m:r>
                                <a:rPr lang="ru-RU" sz="1200" b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200" b="1" i="1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ru-RU" sz="12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sz="1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1CEF24-D0EC-BF70-30DF-88BF12895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593" y="864365"/>
                <a:ext cx="4364498" cy="5713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CA63F94-4D1B-4B01-86CC-77DA72FE7542}"/>
              </a:ext>
            </a:extLst>
          </p:cNvPr>
          <p:cNvSpPr txBox="1"/>
          <p:nvPr/>
        </p:nvSpPr>
        <p:spPr>
          <a:xfrm>
            <a:off x="5537590" y="274638"/>
            <a:ext cx="2286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“Frozen” spin</a:t>
            </a:r>
            <a:endParaRPr lang="ru-RU" sz="2000" b="1" dirty="0"/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F3A10FD8-B590-E912-F566-C238974E5593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88ae095048.jpg" descr="88ae095048.jpg">
            <a:extLst>
              <a:ext uri="{FF2B5EF4-FFF2-40B4-BE49-F238E27FC236}">
                <a16:creationId xmlns:a16="http://schemas.microsoft.com/office/drawing/2014/main" id="{4AF60514-0FD3-8AA4-FDB1-28F3D3E3070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6617CC41-0F00-980F-7E55-0AA85DC582B6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27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日付プレースホルダー 14">
            <a:extLst>
              <a:ext uri="{FF2B5EF4-FFF2-40B4-BE49-F238E27FC236}">
                <a16:creationId xmlns:a16="http://schemas.microsoft.com/office/drawing/2014/main" id="{09BB5FBA-853E-9512-7454-F548EBD875BE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17ECD-F2AB-8171-ACA2-CB7842D8B46D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2EB84-8EC6-59A9-2034-F2B32BC8E292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1278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778D6B-9314-41BE-B6F6-E4E524031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9" y="991949"/>
            <a:ext cx="8226485" cy="55112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53A9A4-5DF4-4267-B367-4FBC346DCAFD}"/>
              </a:ext>
            </a:extLst>
          </p:cNvPr>
          <p:cNvSpPr txBox="1"/>
          <p:nvPr/>
        </p:nvSpPr>
        <p:spPr>
          <a:xfrm>
            <a:off x="443928" y="304160"/>
            <a:ext cx="8265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+mn-lt"/>
              </a:rPr>
              <a:t>ARC+ Wien filter, deuteron G&lt;0 for “quasi-frozen” spin</a:t>
            </a:r>
            <a:endParaRPr lang="ru-RU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正方形/長方形 43">
            <a:extLst>
              <a:ext uri="{FF2B5EF4-FFF2-40B4-BE49-F238E27FC236}">
                <a16:creationId xmlns:a16="http://schemas.microsoft.com/office/drawing/2014/main" id="{FD9F6817-ADFE-D86B-F21A-B9CB07AC4A4A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88ae095048.jpg" descr="88ae095048.jpg">
            <a:extLst>
              <a:ext uri="{FF2B5EF4-FFF2-40B4-BE49-F238E27FC236}">
                <a16:creationId xmlns:a16="http://schemas.microsoft.com/office/drawing/2014/main" id="{45D3F642-A299-53F6-BAE8-3D61AD37AE7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C52FF59E-B709-5438-AC4F-82C8C0EAD194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28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7" name="日付プレースホルダー 14">
            <a:extLst>
              <a:ext uri="{FF2B5EF4-FFF2-40B4-BE49-F238E27FC236}">
                <a16:creationId xmlns:a16="http://schemas.microsoft.com/office/drawing/2014/main" id="{F74236F8-A233-0E7A-02E6-317C2C05DF20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F9E53-9422-5ACD-32DB-3442C56CF30D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D3EB7-120B-22A8-B190-7A6FB2696319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7888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62" name="Title 1"/>
          <p:cNvSpPr>
            <a:spLocks noGrp="1"/>
          </p:cNvSpPr>
          <p:nvPr>
            <p:ph type="title"/>
          </p:nvPr>
        </p:nvSpPr>
        <p:spPr>
          <a:xfrm>
            <a:off x="684213" y="333375"/>
            <a:ext cx="7772400" cy="51435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EDM measurement precision</a:t>
            </a:r>
            <a:endParaRPr lang="en-GB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89" y="928338"/>
            <a:ext cx="7678222" cy="5001323"/>
          </a:xfrm>
          <a:prstGeom prst="rect">
            <a:avLst/>
          </a:prstGeom>
        </p:spPr>
      </p:pic>
      <p:sp>
        <p:nvSpPr>
          <p:cNvPr id="2" name="正方形/長方形 43">
            <a:extLst>
              <a:ext uri="{FF2B5EF4-FFF2-40B4-BE49-F238E27FC236}">
                <a16:creationId xmlns:a16="http://schemas.microsoft.com/office/drawing/2014/main" id="{3ABA52EE-F9E0-E00F-337B-7E4B0591C0AF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88ae095048.jpg" descr="88ae095048.jpg">
            <a:extLst>
              <a:ext uri="{FF2B5EF4-FFF2-40B4-BE49-F238E27FC236}">
                <a16:creationId xmlns:a16="http://schemas.microsoft.com/office/drawing/2014/main" id="{2E2B1FCF-C6E7-F1CA-D0AB-989F59B4C2F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DE0C3815-E860-16C3-0EE1-BFCAD7686E7C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29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6" name="日付プレースホルダー 14">
            <a:extLst>
              <a:ext uri="{FF2B5EF4-FFF2-40B4-BE49-F238E27FC236}">
                <a16:creationId xmlns:a16="http://schemas.microsoft.com/office/drawing/2014/main" id="{4F5B32F2-EC4F-C3C5-07B0-FFD14E2CE575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5007F-EB65-ECAD-0FCE-85D4E1148346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212393-F685-9441-2B22-47E73CCC35AB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7480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8182" y="476672"/>
            <a:ext cx="7528273" cy="169558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400" b="1" dirty="0"/>
              <a:t>Frozen spin lattice </a:t>
            </a:r>
            <a:r>
              <a:rPr lang="en-US" sz="2400" b="1" dirty="0">
                <a:solidFill>
                  <a:srgbClr val="0033CC"/>
                </a:solidFill>
              </a:rPr>
              <a:t>for deuteron </a:t>
            </a:r>
            <a:r>
              <a:rPr lang="en-US" sz="2400" b="1" dirty="0"/>
              <a:t>at G&lt;0 based on the </a:t>
            </a:r>
            <a:r>
              <a:rPr lang="ru-RU" sz="2400" b="1" dirty="0"/>
              <a:t>«</a:t>
            </a:r>
            <a:r>
              <a:rPr lang="en-US" sz="2400" b="1" dirty="0"/>
              <a:t>B+E</a:t>
            </a:r>
            <a:r>
              <a:rPr lang="ru-RU" sz="2400" b="1" dirty="0"/>
              <a:t>»</a:t>
            </a:r>
            <a:r>
              <a:rPr lang="en-US" sz="2400" b="1" dirty="0"/>
              <a:t> elements</a:t>
            </a:r>
          </a:p>
          <a:p>
            <a:pPr marL="0" indent="0">
              <a:buNone/>
              <a:defRPr/>
            </a:pPr>
            <a:r>
              <a:rPr lang="en-US" sz="2400" b="1" dirty="0"/>
              <a:t>Frozen spin lattice </a:t>
            </a:r>
            <a:r>
              <a:rPr lang="en-US" sz="2400" b="1" dirty="0">
                <a:solidFill>
                  <a:srgbClr val="FF0000"/>
                </a:solidFill>
              </a:rPr>
              <a:t>for proton </a:t>
            </a:r>
            <a:r>
              <a:rPr lang="en-US" sz="2400" b="1" dirty="0"/>
              <a:t>at G&gt;0 based on the </a:t>
            </a:r>
            <a:r>
              <a:rPr lang="ru-RU" sz="2400" b="1" dirty="0"/>
              <a:t>«</a:t>
            </a:r>
            <a:r>
              <a:rPr lang="en-US" sz="2400" b="1" dirty="0"/>
              <a:t>E</a:t>
            </a:r>
            <a:r>
              <a:rPr lang="ru-RU" sz="2400" b="1" dirty="0"/>
              <a:t>»</a:t>
            </a:r>
            <a:r>
              <a:rPr lang="en-US" sz="2400" b="1" dirty="0"/>
              <a:t> elements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sz="1350" b="1" dirty="0">
              <a:solidFill>
                <a:srgbClr val="0000FF"/>
              </a:solidFill>
            </a:endParaRPr>
          </a:p>
          <a:p>
            <a:pPr marL="0" indent="0">
              <a:buNone/>
              <a:defRPr/>
            </a:pPr>
            <a:endParaRPr lang="en-US" sz="1350" b="1" dirty="0">
              <a:solidFill>
                <a:srgbClr val="0000FF"/>
              </a:solidFill>
            </a:endParaRPr>
          </a:p>
          <a:p>
            <a:pPr marL="0" indent="0">
              <a:defRPr/>
            </a:pPr>
            <a:endParaRPr lang="en-GB" sz="135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126F3A-DA50-94AA-E995-8FEDBEAA7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209" y="3533619"/>
            <a:ext cx="3497208" cy="210963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198979-E39D-EFFF-6E88-1701C6C9DD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35" y="3284984"/>
            <a:ext cx="1867325" cy="15917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B2712C-0770-E549-88FB-7602127771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541" y="4904118"/>
            <a:ext cx="1751687" cy="712817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F8187BA-64F0-488F-B1B5-FE637DAC313E}"/>
              </a:ext>
            </a:extLst>
          </p:cNvPr>
          <p:cNvCxnSpPr>
            <a:cxnSpLocks/>
          </p:cNvCxnSpPr>
          <p:nvPr/>
        </p:nvCxnSpPr>
        <p:spPr>
          <a:xfrm>
            <a:off x="4912318" y="836712"/>
            <a:ext cx="1258638" cy="2696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5A47E05F-1856-4DCD-8BAB-43C2EB211D5D}"/>
              </a:ext>
            </a:extLst>
          </p:cNvPr>
          <p:cNvCxnSpPr>
            <a:cxnSpLocks/>
          </p:cNvCxnSpPr>
          <p:nvPr/>
        </p:nvCxnSpPr>
        <p:spPr>
          <a:xfrm flipH="1">
            <a:off x="2339752" y="1628800"/>
            <a:ext cx="1891931" cy="1695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43">
            <a:extLst>
              <a:ext uri="{FF2B5EF4-FFF2-40B4-BE49-F238E27FC236}">
                <a16:creationId xmlns:a16="http://schemas.microsoft.com/office/drawing/2014/main" id="{4DBD126D-3E5D-D469-D0F6-AC85AD6FBFA1}"/>
              </a:ext>
            </a:extLst>
          </p:cNvPr>
          <p:cNvSpPr/>
          <p:nvPr/>
        </p:nvSpPr>
        <p:spPr>
          <a:xfrm>
            <a:off x="-9000" y="6561887"/>
            <a:ext cx="9153000" cy="323497"/>
          </a:xfrm>
          <a:prstGeom prst="rect">
            <a:avLst/>
          </a:prstGeom>
          <a:solidFill>
            <a:srgbClr val="160D9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4289" rIns="3428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n w="0"/>
              <a:solidFill>
                <a:srgbClr val="A6FA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88ae095048.jpg" descr="88ae095048.jpg">
            <a:extLst>
              <a:ext uri="{FF2B5EF4-FFF2-40B4-BE49-F238E27FC236}">
                <a16:creationId xmlns:a16="http://schemas.microsoft.com/office/drawing/2014/main" id="{4B63FD1C-079B-A109-A029-C385442B837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815039" y="6547953"/>
            <a:ext cx="328961" cy="33742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スライド番号プレースホルダー 16">
            <a:extLst>
              <a:ext uri="{FF2B5EF4-FFF2-40B4-BE49-F238E27FC236}">
                <a16:creationId xmlns:a16="http://schemas.microsoft.com/office/drawing/2014/main" id="{E2CA52EE-71B1-D72B-79C8-AB588A97C3B4}"/>
              </a:ext>
            </a:extLst>
          </p:cNvPr>
          <p:cNvSpPr txBox="1">
            <a:spLocks/>
          </p:cNvSpPr>
          <p:nvPr/>
        </p:nvSpPr>
        <p:spPr>
          <a:xfrm>
            <a:off x="8625330" y="6595887"/>
            <a:ext cx="12695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z="900">
                <a:solidFill>
                  <a:srgbClr val="FFA100"/>
                </a:solidFill>
                <a:latin typeface="+mn-lt"/>
              </a:rPr>
              <a:pPr/>
              <a:t>30</a:t>
            </a:fld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0" name="日付プレースホルダー 14">
            <a:extLst>
              <a:ext uri="{FF2B5EF4-FFF2-40B4-BE49-F238E27FC236}">
                <a16:creationId xmlns:a16="http://schemas.microsoft.com/office/drawing/2014/main" id="{D23E24FF-7014-83B1-022E-E912DC31B375}"/>
              </a:ext>
            </a:extLst>
          </p:cNvPr>
          <p:cNvSpPr txBox="1"/>
          <p:nvPr/>
        </p:nvSpPr>
        <p:spPr>
          <a:xfrm>
            <a:off x="69015" y="6595887"/>
            <a:ext cx="64539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rIns="3428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900" dirty="0">
                <a:solidFill>
                  <a:srgbClr val="FFA100"/>
                </a:solidFill>
                <a:latin typeface="+mn-lt"/>
              </a:rPr>
              <a:t>1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03</a:t>
            </a:r>
            <a:r>
              <a:rPr sz="900" dirty="0">
                <a:solidFill>
                  <a:srgbClr val="FFA100"/>
                </a:solidFill>
                <a:latin typeface="+mn-lt"/>
              </a:rPr>
              <a:t>/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E3D2D7-A621-DF8A-7A75-A645D9118339}"/>
              </a:ext>
            </a:extLst>
          </p:cNvPr>
          <p:cNvSpPr txBox="1"/>
          <p:nvPr/>
        </p:nvSpPr>
        <p:spPr>
          <a:xfrm>
            <a:off x="3510800" y="6604440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Колокольчиков С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.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5F5F14-BB22-4CF3-2EEA-DA0BD0ED3CA5}"/>
              </a:ext>
            </a:extLst>
          </p:cNvPr>
          <p:cNvSpPr txBox="1"/>
          <p:nvPr/>
        </p:nvSpPr>
        <p:spPr>
          <a:xfrm>
            <a:off x="4576502" y="6604440"/>
            <a:ext cx="15552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FFA100"/>
                </a:solidFill>
                <a:latin typeface="+mn-lt"/>
              </a:rPr>
              <a:t>ЭДМ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 </a:t>
            </a:r>
            <a:r>
              <a:rPr lang="ru-RU" sz="900" dirty="0">
                <a:solidFill>
                  <a:srgbClr val="FFA100"/>
                </a:solidFill>
                <a:latin typeface="+mn-lt"/>
              </a:rPr>
              <a:t>эксперименты на </a:t>
            </a:r>
            <a:r>
              <a:rPr lang="en-US" sz="900" dirty="0">
                <a:solidFill>
                  <a:srgbClr val="FFA100"/>
                </a:solidFill>
                <a:latin typeface="+mn-lt"/>
              </a:rPr>
              <a:t>NICA</a:t>
            </a:r>
            <a:endParaRPr lang="ru-RU" sz="900" dirty="0">
              <a:solidFill>
                <a:srgbClr val="FFA1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82324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Deflector</a:t>
            </a:r>
            <a:r>
              <a:rPr lang="de-DE" dirty="0"/>
              <a:t> w/o Shields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05266"/>
            <a:ext cx="8229240" cy="3616152"/>
          </a:xfrm>
          <a:prstGeom prst="rect">
            <a:avLst/>
          </a:prstGeom>
        </p:spPr>
      </p:pic>
      <p:sp>
        <p:nvSpPr>
          <p:cNvPr id="3" name="Rechteck 2"/>
          <p:cNvSpPr/>
          <p:nvPr/>
        </p:nvSpPr>
        <p:spPr>
          <a:xfrm>
            <a:off x="5281931" y="1703312"/>
            <a:ext cx="148470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2400" b="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Actuators</a:t>
            </a:r>
            <a:endParaRPr lang="de-DE" sz="2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Gerade Verbindung mit Pfeil 5"/>
          <p:cNvCxnSpPr/>
          <p:nvPr/>
        </p:nvCxnSpPr>
        <p:spPr>
          <a:xfrm flipH="1">
            <a:off x="4285130" y="2043953"/>
            <a:ext cx="996801" cy="421341"/>
          </a:xfrm>
          <a:prstGeom prst="straightConnector1">
            <a:avLst/>
          </a:prstGeom>
          <a:ln w="28575">
            <a:solidFill>
              <a:schemeClr val="bg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/>
          <p:cNvCxnSpPr/>
          <p:nvPr/>
        </p:nvCxnSpPr>
        <p:spPr>
          <a:xfrm>
            <a:off x="6766634" y="2104465"/>
            <a:ext cx="461502" cy="970429"/>
          </a:xfrm>
          <a:prstGeom prst="straightConnector1">
            <a:avLst/>
          </a:prstGeom>
          <a:ln w="28575">
            <a:solidFill>
              <a:schemeClr val="bg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6449946" y="4597942"/>
            <a:ext cx="23759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2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Feed-</a:t>
            </a:r>
            <a:r>
              <a:rPr lang="de-DE" sz="2400" b="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Throughs</a:t>
            </a:r>
            <a:endParaRPr lang="de-DE" sz="2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Gerade Verbindung mit Pfeil 10"/>
          <p:cNvCxnSpPr/>
          <p:nvPr/>
        </p:nvCxnSpPr>
        <p:spPr>
          <a:xfrm flipH="1" flipV="1">
            <a:off x="7153835" y="4132729"/>
            <a:ext cx="367553" cy="528918"/>
          </a:xfrm>
          <a:prstGeom prst="straightConnector1">
            <a:avLst/>
          </a:prstGeom>
          <a:ln w="28575">
            <a:solidFill>
              <a:schemeClr val="bg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 14"/>
          <p:cNvSpPr/>
          <p:nvPr/>
        </p:nvSpPr>
        <p:spPr>
          <a:xfrm>
            <a:off x="1287680" y="4430814"/>
            <a:ext cx="141737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2400" b="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Deflector</a:t>
            </a:r>
            <a:endParaRPr lang="de-DE" sz="2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Gerade Verbindung mit Pfeil 15"/>
          <p:cNvCxnSpPr/>
          <p:nvPr/>
        </p:nvCxnSpPr>
        <p:spPr>
          <a:xfrm flipV="1">
            <a:off x="2474259" y="4016189"/>
            <a:ext cx="475129" cy="493058"/>
          </a:xfrm>
          <a:prstGeom prst="straightConnector1">
            <a:avLst/>
          </a:prstGeom>
          <a:ln w="28575">
            <a:solidFill>
              <a:schemeClr val="bg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/>
          <p:cNvSpPr txBox="1"/>
          <p:nvPr/>
        </p:nvSpPr>
        <p:spPr>
          <a:xfrm>
            <a:off x="708212" y="5262282"/>
            <a:ext cx="5351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Deflector</a:t>
            </a:r>
            <a:r>
              <a:rPr lang="de-DE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	</a:t>
            </a:r>
            <a:r>
              <a:rPr lang="de-DE" dirty="0" err="1"/>
              <a:t>Length</a:t>
            </a:r>
            <a:r>
              <a:rPr lang="de-DE" dirty="0"/>
              <a:t> 	1020 mm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	Height  	90 mm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	Gap 	40 - 80 mm (</a:t>
            </a:r>
            <a:r>
              <a:rPr lang="de-DE" dirty="0" err="1"/>
              <a:t>tbd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984526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ACD9B-3F15-F822-F9D0-86ABB9706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44E54-C337-899F-0099-1082EEA0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Quasi-frozen spin option for </a:t>
            </a:r>
            <a:r>
              <a:rPr lang="en-US" sz="3200" dirty="0">
                <a:solidFill>
                  <a:srgbClr val="FF0000"/>
                </a:solidFill>
              </a:rPr>
              <a:t>NICA collider</a:t>
            </a:r>
            <a:endParaRPr lang="ru-RU" sz="32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39321F7-551F-177C-C40C-A15708561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5" y="1824547"/>
            <a:ext cx="6878010" cy="4077269"/>
          </a:xfrm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F179F510-B524-EA3A-7A79-8DFE6DF368CF}"/>
              </a:ext>
            </a:extLst>
          </p:cNvPr>
          <p:cNvCxnSpPr/>
          <p:nvPr/>
        </p:nvCxnSpPr>
        <p:spPr>
          <a:xfrm>
            <a:off x="4427984" y="3284984"/>
            <a:ext cx="792088" cy="86409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3059A54-F226-BEBB-B943-32191860BC11}"/>
              </a:ext>
            </a:extLst>
          </p:cNvPr>
          <p:cNvCxnSpPr/>
          <p:nvPr/>
        </p:nvCxnSpPr>
        <p:spPr>
          <a:xfrm>
            <a:off x="3923928" y="3429000"/>
            <a:ext cx="1800200" cy="36004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553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BCA78-E721-4D43-AC8D-38709CB83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FF0000"/>
                </a:solidFill>
                <a:latin typeface="+mn-lt"/>
              </a:rPr>
              <a:t>Параметры «</a:t>
            </a:r>
            <a:r>
              <a:rPr lang="ru-RU" sz="2400" dirty="0" err="1">
                <a:solidFill>
                  <a:srgbClr val="FF0000"/>
                </a:solidFill>
                <a:latin typeface="+mn-lt"/>
              </a:rPr>
              <a:t>фрозен</a:t>
            </a:r>
            <a:r>
              <a:rPr lang="ru-RU" sz="2400" dirty="0">
                <a:solidFill>
                  <a:srgbClr val="FF0000"/>
                </a:solidFill>
                <a:latin typeface="+mn-lt"/>
              </a:rPr>
              <a:t>» структуры для </a:t>
            </a:r>
            <a:r>
              <a:rPr lang="ru-RU" sz="2400" b="1" dirty="0">
                <a:solidFill>
                  <a:srgbClr val="FF0000"/>
                </a:solidFill>
                <a:latin typeface="+mn-lt"/>
              </a:rPr>
              <a:t>дейтронов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306B992-5CEB-468A-BD47-320323D035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6713"/>
                <a:ext cx="8507288" cy="5184576"/>
              </a:xfrm>
            </p:spPr>
            <p:txBody>
              <a:bodyPr>
                <a:normAutofit fontScale="92500"/>
              </a:bodyPr>
              <a:lstStyle/>
              <a:p>
                <a:pPr marL="0" indent="0" algn="just">
                  <a:buNone/>
                </a:pP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Первое условие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определяет соотношение внешних полей и радиуса кривизны орбиты </a:t>
                </a:r>
              </a:p>
              <a:p>
                <a:pPr marL="0" indent="0" algn="just">
                  <a:buNone/>
                </a:pPr>
                <a:r>
                  <a:rPr lang="ru-RU" sz="18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</a:t>
                </a: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торое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следует из условия равенства нулю частоты прецессии спина относительно направления движения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limUpp>
                          <m:limUpp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limUpp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𝛺</m:t>
                            </m:r>
                          </m:e>
                          <m:lim>
                            <m:r>
                              <a:rPr lang="ru-RU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→</m:t>
                            </m:r>
                          </m:lim>
                        </m:limUpp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𝑚𝑑𝑚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𝑝</m:t>
                        </m:r>
                      </m:sup>
                    </m:sSub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, то есть </a:t>
                </a:r>
              </a:p>
              <a:p>
                <a:pPr marL="0" indent="0" algn="just">
                  <a:buNone/>
                </a:pPr>
                <a:r>
                  <a:rPr lang="ru-RU" sz="1800" dirty="0">
                    <a:effectLst/>
                    <a:ea typeface="Times New Roman" panose="02020603050405020304" pitchFamily="18" charset="0"/>
                  </a:rPr>
                  <a:t>		</a:t>
                </a:r>
                <a:r>
                  <a:rPr lang="ru-RU" sz="1800" b="1" dirty="0">
                    <a:effectLst/>
                    <a:ea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𝜸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𝑮</m:t>
                    </m:r>
                    <m:limUpp>
                      <m:limUp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limUpp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𝑩</m:t>
                        </m:r>
                      </m:e>
                      <m:lim>
                        <m:r>
                          <a:rPr lang="ru-RU" sz="18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→</m:t>
                        </m:r>
                      </m:lim>
                    </m:limUpp>
                    <m:r>
                      <a:rPr lang="ru-RU" sz="1800" b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𝜸</m:t>
                                </m:r>
                              </m:e>
                              <m:sup>
                                <m: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𝟏</m:t>
                            </m:r>
                          </m:den>
                        </m:f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𝑮</m:t>
                        </m:r>
                      </m:e>
                    </m:d>
                    <m:f>
                      <m:f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limUpp>
                          <m:limUpp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limUpp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𝜷</m:t>
                            </m:r>
                          </m:e>
                          <m:lim>
                            <m:r>
                              <a:rPr lang="ru-RU" sz="18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→</m:t>
                            </m:r>
                          </m:lim>
                        </m:limUpp>
                        <m:r>
                          <a:rPr lang="ru-RU" sz="18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×</m:t>
                        </m:r>
                        <m:limUpp>
                          <m:limUpp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limUpp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𝑬</m:t>
                            </m:r>
                          </m:e>
                          <m:lim>
                            <m:r>
                              <a:rPr lang="ru-RU" sz="18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→</m:t>
                            </m:r>
                          </m:lim>
                        </m:limUpp>
                      </m:num>
                      <m:den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𝒄</m:t>
                        </m:r>
                      </m:den>
                    </m:f>
                  </m:oMath>
                </a14:m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.</a:t>
                </a:r>
              </a:p>
              <a:p>
                <a:pPr marL="0" indent="0" algn="just"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Последнее определяет </a:t>
                </a: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соотношение между полями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limUpp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𝑬</m:t>
                        </m:r>
                      </m:e>
                      <m:lim>
                        <m:r>
                          <a:rPr lang="ru-RU" sz="18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→</m:t>
                        </m:r>
                      </m:lim>
                    </m:limUpp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и </m:t>
                    </m:r>
                    <m:limUpp>
                      <m:limUp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limUpp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𝑩</m:t>
                        </m:r>
                      </m:e>
                      <m:lim>
                        <m:r>
                          <a:rPr lang="ru-RU" sz="18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→</m:t>
                        </m:r>
                      </m:lim>
                    </m:limUpp>
                  </m:oMath>
                </a14:m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</a:p>
              <a:p>
                <a:pPr marL="0" indent="0" algn="r">
                  <a:buNone/>
                </a:pPr>
                <a:r>
                  <a:rPr lang="ru-RU" sz="1800" dirty="0">
                    <a:effectLst/>
                    <a:ea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limUpp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𝑬</m:t>
                        </m:r>
                      </m:e>
                      <m:lim>
                        <m:r>
                          <a:rPr lang="ru-RU" sz="18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→</m:t>
                        </m:r>
                      </m:lim>
                    </m:limUpp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𝑮</m:t>
                        </m:r>
                        <m:limUpp>
                          <m:limUpp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limUpp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𝑩</m:t>
                            </m:r>
                          </m:e>
                          <m:lim>
                            <m:r>
                              <a:rPr lang="ru-RU" sz="18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→</m:t>
                            </m:r>
                          </m:lim>
                        </m:limUpp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𝒄</m:t>
                        </m:r>
                        <m:sSup>
                          <m:sSup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𝜸</m:t>
                            </m:r>
                          </m:e>
                          <m:sup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sSup>
                          <m:sSup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𝜷</m:t>
                            </m:r>
                          </m:e>
                          <m:sup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𝜷</m:t>
                        </m:r>
                        <m:d>
                          <m:d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𝜸</m:t>
                                </m:r>
                              </m:e>
                              <m:sup>
                                <m: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𝜷</m:t>
                                </m:r>
                              </m:e>
                              <m:sup>
                                <m: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𝑮</m:t>
                            </m:r>
                          </m:e>
                        </m:d>
                      </m:den>
                    </m:f>
                  </m:oMath>
                </a14:m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				</a:t>
                </a:r>
              </a:p>
              <a:p>
                <a:pPr marL="0" indent="0" algn="just"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 </a:t>
                </a: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радиус кривизны поворотного дефлектора</a:t>
                </a:r>
              </a:p>
              <a:p>
                <a:pPr marL="0" indent="0" algn="r">
                  <a:buNone/>
                </a:pPr>
                <a:r>
                  <a:rPr lang="ru-RU" sz="1800" dirty="0">
                    <a:effectLst/>
                    <a:ea typeface="Times New Roman" panose="020206030504050203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𝑹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𝜸</m:t>
                        </m:r>
                        <m:sSub>
                          <m:sSub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  <m:sSup>
                          <m:sSup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𝐞𝐄</m:t>
                        </m:r>
                        <m:d>
                          <m:d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𝟏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ru-RU" sz="18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8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𝑮</m:t>
                                    </m:r>
                                    <m:r>
                                      <a:rPr lang="ru-RU" sz="18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𝜸</m:t>
                                    </m:r>
                                  </m:e>
                                  <m:sup>
                                    <m:r>
                                      <a:rPr lang="ru-RU" sz="18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						</a:t>
                </a:r>
              </a:p>
              <a:p>
                <a:pPr marL="0" indent="0"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нашем случае для энергии 270 МэВ радиус кривизны дефлектора</a:t>
                </a: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R=9.20706347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 суммарная длина всех дефлекторов составит </a:t>
                </a: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57.8496859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м</a:t>
                </a:r>
              </a:p>
              <a:p>
                <a:pPr marL="0" indent="0"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 общем числе дефлекторов 32 длина одного дефлектора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𝑑𝑒𝑓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𝛴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/(16*2)=</a:t>
                </a: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1.80 м</a:t>
                </a:r>
                <a:endParaRPr lang="ru-RU" b="1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306B992-5CEB-468A-BD47-320323D035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6713"/>
                <a:ext cx="8507288" cy="5184576"/>
              </a:xfrm>
              <a:blipFill>
                <a:blip r:embed="rId2"/>
                <a:stretch>
                  <a:fillRect l="-447" t="-244" r="-2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266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211929</TotalTime>
  <Words>1789</Words>
  <Application>Microsoft Macintosh PowerPoint</Application>
  <PresentationFormat>Экран (4:3)</PresentationFormat>
  <Paragraphs>307</Paragraphs>
  <Slides>33</Slides>
  <Notes>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0" baseType="lpstr">
      <vt:lpstr>Arial</vt:lpstr>
      <vt:lpstr>Calibri</vt:lpstr>
      <vt:lpstr>Cambria Math</vt:lpstr>
      <vt:lpstr>Times New Roman</vt:lpstr>
      <vt:lpstr>Wingdings</vt:lpstr>
      <vt:lpstr>Office Theme</vt:lpstr>
      <vt:lpstr>Equation</vt:lpstr>
      <vt:lpstr>Презентация PowerPoint</vt:lpstr>
      <vt:lpstr>EDM today</vt:lpstr>
      <vt:lpstr>First message to search for Electric Dipole Moments(EDM) of fundamental particles:  it came to understand the CP violation    Second message for Electric Dipole Moments of fundamental particles:  the baryon asymmetry of the Universe that represents the fact of the prevalence of matter over antimatter</vt:lpstr>
      <vt:lpstr>Как мы собираемся мерить  ЭДМ на установках НИКА</vt:lpstr>
      <vt:lpstr>Цель работы</vt:lpstr>
      <vt:lpstr>ОСНОВНОЙ ПРИНЦИП построения магнитооптической структуры накопительного кольца для исследования ЭДМ ЗАРЯЖЕННОЙ ЧАСТИЦЫ</vt:lpstr>
      <vt:lpstr>ПРИНЦИП построения магнитооптической структуры</vt:lpstr>
      <vt:lpstr>FDM основан на четырех фундаментальных особенностях:   - измерение полной частоты прецессии спина, обусловленной электрическим и магнитным дипольными моментами в несовершенном кольце в вертикальной плоскости, с абсолютной статистической погрешностью ~10⁻⁷ рад/с для одного заполнения кольца;   - положение элементов кольца остается неизменным при переходе от вращения по часовой стрелке (CW) к вращению против часовой стрелки (CCW);   - калибровка эффективного фактора Лоренца с использованием измерения частоты прецессии спина в горизонтальной плоскости проводится попеременно в каждом вращении по часовой и против часовой стрелки;   - устанавливается приблизительное соотношение между частотами спина в разных плоскостях таким образом, чтобы исключить их смешивание с вертикальной частотой ожидаемого сигнала ЭДМ на уровне статистической чувствительности, приближающемся к 10⁻²⁹ е см⁻¹.</vt:lpstr>
      <vt:lpstr>Frequency Domain Method: basic relationships</vt:lpstr>
      <vt:lpstr>Презентация PowerPoint</vt:lpstr>
      <vt:lpstr>Figure Of Merit vs Energy: choice of energy</vt:lpstr>
      <vt:lpstr>Презентация PowerPoint</vt:lpstr>
      <vt:lpstr>Two types lattices: frozen and quasi-frozen spin</vt:lpstr>
      <vt:lpstr>Установки ОИЯИ для измерения ЭДМ</vt:lpstr>
      <vt:lpstr>Sensitivity of experiment</vt:lpstr>
      <vt:lpstr>Мы рассмотрели три возможных варианта адаптации установок NICA для исследования электрического дипольного момента легких частиц</vt:lpstr>
      <vt:lpstr>Quasi-frozen spin option for NICA collider</vt:lpstr>
      <vt:lpstr>Quasi-Frozen Spin option in COSY and NICA accelerators</vt:lpstr>
      <vt:lpstr>NICA Bypass</vt:lpstr>
      <vt:lpstr>Nuclotron with “Quasi-Frozen” Spin option </vt:lpstr>
      <vt:lpstr>Общий вид  кольца для дейтронов “frozen spin” опция</vt:lpstr>
      <vt:lpstr>Презентация PowerPoint</vt:lpstr>
      <vt:lpstr>Storage Ring EDM Project</vt:lpstr>
      <vt:lpstr>Презентация PowerPoint</vt:lpstr>
      <vt:lpstr>Презентация PowerPoint</vt:lpstr>
      <vt:lpstr>Measurement of polarization asymmetry</vt:lpstr>
      <vt:lpstr>Векторная диаграмма полей и частот</vt:lpstr>
      <vt:lpstr>Презентация PowerPoint</vt:lpstr>
      <vt:lpstr>EDM measurement precision</vt:lpstr>
      <vt:lpstr>Презентация PowerPoint</vt:lpstr>
      <vt:lpstr>Deflector w/o Shields</vt:lpstr>
      <vt:lpstr>Quasi-frozen spin option for NICA collider</vt:lpstr>
      <vt:lpstr>Параметры «фрозен» структуры для дейтронов</vt:lpstr>
    </vt:vector>
  </TitlesOfParts>
  <Company>Tema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dott</dc:creator>
  <cp:lastModifiedBy>Microsoft Office User</cp:lastModifiedBy>
  <cp:revision>1072</cp:revision>
  <cp:lastPrinted>2015-03-11T14:48:56Z</cp:lastPrinted>
  <dcterms:created xsi:type="dcterms:W3CDTF">2006-01-19T12:56:44Z</dcterms:created>
  <dcterms:modified xsi:type="dcterms:W3CDTF">2026-03-12T18:33:52Z</dcterms:modified>
</cp:coreProperties>
</file>